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Bangers" panose="020B0604020202020204" charset="0"/>
      <p:regular r:id="rId11"/>
    </p:embeddedFont>
    <p:embeddedFont>
      <p:font typeface="Oswald" panose="00000500000000000000" pitchFamily="2" charset="0"/>
      <p:regular r:id="rId12"/>
      <p:bold r:id="rId13"/>
    </p:embeddedFont>
    <p:embeddedFont>
      <p:font typeface="Permanent Marker" panose="020B0604020202020204" charset="0"/>
      <p:regular r:id="rId14"/>
    </p:embeddedFont>
    <p:embeddedFont>
      <p:font typeface="Roboto Condensed" panose="020000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72" y="-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5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5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5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7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895350"/>
            <a:ext cx="19240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628650" y="4171950"/>
            <a:ext cx="765423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ANATOMY OF A SIMULATION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616248" y="4711750"/>
            <a:ext cx="54864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D32F2F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"We played god with pixels... here's what happened."</a:t>
            </a:r>
            <a:endParaRPr/>
          </a:p>
        </p:txBody>
      </p:sp>
      <p:pic>
        <p:nvPicPr>
          <p:cNvPr id="88" name="Google Shape;88;p13" title="Screenshot 2025-11-29 172229-Photoroo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52625" y="325850"/>
            <a:ext cx="4107800" cy="6206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title="image-Photoroom (1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5733" y="1548274"/>
            <a:ext cx="4107800" cy="2500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1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7650" y="1285875"/>
            <a:ext cx="2817018" cy="532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07543" y="1285875"/>
            <a:ext cx="2817018" cy="532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67437" y="1285875"/>
            <a:ext cx="2817018" cy="532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27331" y="1285875"/>
            <a:ext cx="2817018" cy="532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68613" y="1166114"/>
            <a:ext cx="634372" cy="344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328525" y="1164036"/>
            <a:ext cx="872461" cy="348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378993" y="2504189"/>
            <a:ext cx="2474118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288402" y="1165948"/>
            <a:ext cx="653419" cy="344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248343" y="1160545"/>
            <a:ext cx="1272450" cy="35543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/>
          <p:nvPr/>
        </p:nvSpPr>
        <p:spPr>
          <a:xfrm>
            <a:off x="247650" y="914400"/>
            <a:ext cx="11696700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247650" y="174683"/>
            <a:ext cx="43404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MISSION PARAMETERS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419100" y="1670174"/>
            <a:ext cx="24741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b="1" i="0" u="none" strike="noStrike" cap="none">
                <a:solidFill>
                  <a:srgbClr val="444444"/>
                </a:solidFill>
                <a:latin typeface="Oswald"/>
                <a:ea typeface="Oswald"/>
                <a:cs typeface="Oswald"/>
                <a:sym typeface="Oswald"/>
              </a:rPr>
              <a:t>CONDITION: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419100" y="1870199"/>
            <a:ext cx="2474100" cy="19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19100" y="1936874"/>
            <a:ext cx="2474100" cy="2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9" b="1" i="0" u="none" strike="noStrike" cap="none">
                <a:solidFill>
                  <a:srgbClr val="33333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Exactly 3 Neighbors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415199" y="3702731"/>
            <a:ext cx="2481900" cy="2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9" b="0" i="0" u="none" strike="noStrike" cap="none">
                <a:solidFill>
                  <a:srgbClr val="D32F2F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"From the void!"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3379000" y="1664859"/>
            <a:ext cx="24741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b="1" i="0" u="none" strike="noStrike" cap="none">
                <a:solidFill>
                  <a:srgbClr val="444444"/>
                </a:solidFill>
                <a:latin typeface="Oswald"/>
                <a:ea typeface="Oswald"/>
                <a:cs typeface="Oswald"/>
                <a:sym typeface="Oswald"/>
              </a:rPr>
              <a:t>CONDITION:</a:t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3378993" y="1864884"/>
            <a:ext cx="2474100" cy="19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378993" y="1931559"/>
            <a:ext cx="2474100" cy="2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9" b="1" i="0" u="none" strike="noStrike" cap="none">
                <a:solidFill>
                  <a:srgbClr val="33333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 or 3 Neighbors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338875" y="1668281"/>
            <a:ext cx="24741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b="1" i="0" u="none" strike="noStrike" cap="none">
                <a:solidFill>
                  <a:srgbClr val="444444"/>
                </a:solidFill>
                <a:latin typeface="Oswald"/>
                <a:ea typeface="Oswald"/>
                <a:cs typeface="Oswald"/>
                <a:sym typeface="Oswald"/>
              </a:rPr>
              <a:t>CAUSES: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6338887" y="1868306"/>
            <a:ext cx="2474100" cy="19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9298781" y="1691004"/>
            <a:ext cx="2474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AAAA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GRID SIZE:</a:t>
            </a:r>
            <a:r>
              <a:rPr lang="en-US" sz="1200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100 x 100</a:t>
            </a:r>
            <a:endParaRPr/>
          </a:p>
        </p:txBody>
      </p:sp>
      <p:sp>
        <p:nvSpPr>
          <p:cNvPr id="116" name="Google Shape;116;p14"/>
          <p:cNvSpPr/>
          <p:nvPr/>
        </p:nvSpPr>
        <p:spPr>
          <a:xfrm>
            <a:off x="9298781" y="1919604"/>
            <a:ext cx="2474100" cy="96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9298781" y="1976754"/>
            <a:ext cx="2474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AAAA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GENERATIONS:</a:t>
            </a:r>
            <a:r>
              <a:rPr lang="en-US" sz="1200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200 MAX</a:t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9298781" y="2205354"/>
            <a:ext cx="2474100" cy="96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9298781" y="2262504"/>
            <a:ext cx="2474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AAAA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MODES:</a:t>
            </a:r>
            <a:r>
              <a:rPr lang="en-US" sz="1200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FINITE / PERIODIC</a:t>
            </a:r>
            <a:endParaRPr/>
          </a:p>
        </p:txBody>
      </p:sp>
      <p:sp>
        <p:nvSpPr>
          <p:cNvPr id="120" name="Google Shape;120;p14"/>
          <p:cNvSpPr/>
          <p:nvPr/>
        </p:nvSpPr>
        <p:spPr>
          <a:xfrm>
            <a:off x="9298781" y="2491104"/>
            <a:ext cx="2474100" cy="96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/>
        </p:nvSpPr>
        <p:spPr>
          <a:xfrm>
            <a:off x="3474243" y="2647064"/>
            <a:ext cx="2283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Status: </a:t>
            </a:r>
            <a:r>
              <a:rPr lang="en-US" sz="1200" b="0" i="0" u="none" strike="noStrike" cap="none">
                <a:solidFill>
                  <a:srgbClr val="4CAF50"/>
                </a:solidFill>
                <a:latin typeface="Oswald"/>
                <a:ea typeface="Oswald"/>
                <a:cs typeface="Oswald"/>
                <a:sym typeface="Oswald"/>
              </a:rPr>
              <a:t>Stable</a:t>
            </a:r>
            <a:endParaRPr/>
          </a:p>
        </p:txBody>
      </p:sp>
      <p:sp>
        <p:nvSpPr>
          <p:cNvPr id="122" name="Google Shape;122;p14"/>
          <p:cNvSpPr/>
          <p:nvPr/>
        </p:nvSpPr>
        <p:spPr>
          <a:xfrm>
            <a:off x="3474243" y="2923289"/>
            <a:ext cx="2283600" cy="96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3474243" y="2980439"/>
            <a:ext cx="2283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Risk: Low</a:t>
            </a:r>
            <a:endParaRPr/>
          </a:p>
        </p:txBody>
      </p:sp>
      <p:sp>
        <p:nvSpPr>
          <p:cNvPr id="124" name="Google Shape;124;p14"/>
          <p:cNvSpPr/>
          <p:nvPr/>
        </p:nvSpPr>
        <p:spPr>
          <a:xfrm>
            <a:off x="3474243" y="3256664"/>
            <a:ext cx="2283600" cy="96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4"/>
          <p:cNvSpPr txBox="1"/>
          <p:nvPr/>
        </p:nvSpPr>
        <p:spPr>
          <a:xfrm>
            <a:off x="6481762" y="1989401"/>
            <a:ext cx="477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b="0" i="0" u="none" strike="noStrike" cap="none">
                <a:solidFill>
                  <a:srgbClr val="33333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•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6529387" y="1982606"/>
            <a:ext cx="22836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6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b="1" i="0" u="none" strike="noStrike" cap="none">
                <a:solidFill>
                  <a:srgbClr val="33333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Loneliness:</a:t>
            </a:r>
            <a:r>
              <a:rPr lang="en-US" sz="1080" b="0" i="0" u="none" strike="noStrike" cap="none">
                <a:solidFill>
                  <a:srgbClr val="33333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&lt; 2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6481762" y="2151326"/>
            <a:ext cx="477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b="0" i="0" u="none" strike="noStrike" cap="none">
                <a:solidFill>
                  <a:srgbClr val="33333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•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6529387" y="2144531"/>
            <a:ext cx="22836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6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b="1" i="0" u="none" strike="noStrike" cap="none">
                <a:solidFill>
                  <a:srgbClr val="33333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Overcrowding:</a:t>
            </a:r>
            <a:r>
              <a:rPr lang="en-US" sz="1080" b="0" i="0" u="none" strike="noStrike" cap="none">
                <a:solidFill>
                  <a:srgbClr val="33333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&gt; 3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9964347" y="6051558"/>
            <a:ext cx="11430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DENSITY ARRAY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9964340" y="6200775"/>
            <a:ext cx="11430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D7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0.2 | 0.5 | 0.8 | 1.0</a:t>
            </a:r>
            <a:endParaRPr/>
          </a:p>
        </p:txBody>
      </p:sp>
      <p:pic>
        <p:nvPicPr>
          <p:cNvPr id="131" name="Google Shape;131;p14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9294888" y="5839487"/>
            <a:ext cx="2481925" cy="53963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/>
          <p:nvPr/>
        </p:nvSpPr>
        <p:spPr>
          <a:xfrm rot="-171682">
            <a:off x="4551885" y="502150"/>
            <a:ext cx="2481994" cy="221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9">
                <a:solidFill>
                  <a:srgbClr val="D32F2F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The Mechanics of Existence</a:t>
            </a:r>
            <a:endParaRPr/>
          </a:p>
        </p:txBody>
      </p:sp>
      <p:pic>
        <p:nvPicPr>
          <p:cNvPr id="133" name="Google Shape;133;p14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127938" y="2474938"/>
            <a:ext cx="1056412" cy="1056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4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082852" y="2803298"/>
            <a:ext cx="986166" cy="105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7650" y="914400"/>
            <a:ext cx="5776912" cy="2776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67437" y="914400"/>
            <a:ext cx="5776912" cy="2776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47650" y="3833812"/>
            <a:ext cx="5776912" cy="2776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67437" y="3833812"/>
            <a:ext cx="5776912" cy="2776537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5"/>
          <p:cNvSpPr/>
          <p:nvPr/>
        </p:nvSpPr>
        <p:spPr>
          <a:xfrm>
            <a:off x="438150" y="247650"/>
            <a:ext cx="5475000" cy="57150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533400" y="247650"/>
            <a:ext cx="55914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EXPERIMENT: POPULATION DENSITY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5055967" y="1038225"/>
            <a:ext cx="8571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EFEFE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0.2</a:t>
            </a:r>
            <a:endParaRPr>
              <a:solidFill>
                <a:srgbClr val="EFEFEF"/>
              </a:solidFill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419100" y="1085850"/>
            <a:ext cx="5705713" cy="178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C3E50"/>
                </a:solidFill>
                <a:latin typeface="Bangers"/>
                <a:ea typeface="Bangers"/>
                <a:cs typeface="Bangers"/>
                <a:sym typeface="Bangers"/>
              </a:rPr>
              <a:t>SPARSE (0.2)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7100887" y="1449883"/>
            <a:ext cx="26289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b="1" i="0" u="none" strike="noStrike" cap="none">
                <a:solidFill>
                  <a:srgbClr val="444444"/>
                </a:solidFill>
                <a:latin typeface="Oswald"/>
                <a:ea typeface="Oswald"/>
                <a:cs typeface="Oswald"/>
                <a:sym typeface="Oswald"/>
              </a:rPr>
              <a:t>OUTCOME: FILTERING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7100887" y="1716583"/>
            <a:ext cx="26289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b="0" i="0" u="none" strike="noStrike" cap="none">
                <a:solidFill>
                  <a:srgbClr val="33333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Exponential decay. Only resilient pockets survive.</a:t>
            </a:r>
            <a:endParaRPr/>
          </a:p>
        </p:txBody>
      </p:sp>
      <p:sp>
        <p:nvSpPr>
          <p:cNvPr id="150" name="Google Shape;150;p15"/>
          <p:cNvSpPr/>
          <p:nvPr/>
        </p:nvSpPr>
        <p:spPr>
          <a:xfrm>
            <a:off x="7100887" y="1649908"/>
            <a:ext cx="2628900" cy="19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 txBox="1"/>
          <p:nvPr/>
        </p:nvSpPr>
        <p:spPr>
          <a:xfrm>
            <a:off x="10975769" y="1038225"/>
            <a:ext cx="8571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EFEFE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0.5</a:t>
            </a:r>
            <a:endParaRPr>
              <a:solidFill>
                <a:srgbClr val="EFEFEF"/>
              </a:solidFill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6338887" y="1085850"/>
            <a:ext cx="5705713" cy="178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BC02D"/>
                </a:solidFill>
                <a:latin typeface="Bangers"/>
                <a:ea typeface="Bangers"/>
                <a:cs typeface="Bangers"/>
                <a:sym typeface="Bangers"/>
              </a:rPr>
              <a:t>MEDIUM (0.5)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5055967" y="3957625"/>
            <a:ext cx="8571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EFEFE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0.8</a:t>
            </a:r>
            <a:endParaRPr>
              <a:solidFill>
                <a:srgbClr val="EFEFEF"/>
              </a:solidFill>
            </a:endParaRPr>
          </a:p>
        </p:txBody>
      </p:sp>
      <p:sp>
        <p:nvSpPr>
          <p:cNvPr id="154" name="Google Shape;154;p15"/>
          <p:cNvSpPr txBox="1"/>
          <p:nvPr/>
        </p:nvSpPr>
        <p:spPr>
          <a:xfrm>
            <a:off x="419100" y="4005262"/>
            <a:ext cx="5705713" cy="178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E64A19"/>
                </a:solidFill>
                <a:latin typeface="Bangers"/>
                <a:ea typeface="Bangers"/>
                <a:cs typeface="Bangers"/>
                <a:sym typeface="Bangers"/>
              </a:rPr>
              <a:t>HIGH (0.8)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10975769" y="3957625"/>
            <a:ext cx="8571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EFEFE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1.0</a:t>
            </a:r>
            <a:endParaRPr>
              <a:solidFill>
                <a:srgbClr val="EFEFEF"/>
              </a:solidFill>
            </a:endParaRPr>
          </a:p>
        </p:txBody>
      </p:sp>
      <p:sp>
        <p:nvSpPr>
          <p:cNvPr id="156" name="Google Shape;156;p15"/>
          <p:cNvSpPr txBox="1"/>
          <p:nvPr/>
        </p:nvSpPr>
        <p:spPr>
          <a:xfrm>
            <a:off x="6338887" y="4005262"/>
            <a:ext cx="5705713" cy="178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5252"/>
                </a:solidFill>
                <a:latin typeface="Bangers"/>
                <a:ea typeface="Bangers"/>
                <a:cs typeface="Bangers"/>
                <a:sym typeface="Bangers"/>
              </a:rPr>
              <a:t>EXTREME (1.0)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1181100" y="1437918"/>
            <a:ext cx="34767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b="1" i="0" u="none" strike="noStrike" cap="none">
                <a:solidFill>
                  <a:srgbClr val="444444"/>
                </a:solidFill>
                <a:latin typeface="Oswald"/>
                <a:ea typeface="Oswald"/>
                <a:cs typeface="Oswald"/>
                <a:sym typeface="Oswald"/>
              </a:rPr>
              <a:t>OUTCOME: STABILIZATION</a:t>
            </a:r>
            <a:endParaRPr/>
          </a:p>
        </p:txBody>
      </p:sp>
      <p:sp>
        <p:nvSpPr>
          <p:cNvPr id="158" name="Google Shape;158;p15"/>
          <p:cNvSpPr/>
          <p:nvPr/>
        </p:nvSpPr>
        <p:spPr>
          <a:xfrm>
            <a:off x="1181100" y="1637943"/>
            <a:ext cx="3476700" cy="19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 txBox="1"/>
          <p:nvPr/>
        </p:nvSpPr>
        <p:spPr>
          <a:xfrm>
            <a:off x="7100875" y="4362054"/>
            <a:ext cx="16479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b="1" i="0" u="none" strike="noStrike" cap="none">
                <a:solidFill>
                  <a:srgbClr val="AAAAAA"/>
                </a:solidFill>
                <a:latin typeface="Oswald"/>
                <a:ea typeface="Oswald"/>
                <a:cs typeface="Oswald"/>
                <a:sym typeface="Oswald"/>
              </a:rPr>
              <a:t>OUTCOME: EXTINCTION</a:t>
            </a:r>
            <a:endParaRPr/>
          </a:p>
        </p:txBody>
      </p:sp>
      <p:sp>
        <p:nvSpPr>
          <p:cNvPr id="160" name="Google Shape;160;p15"/>
          <p:cNvSpPr/>
          <p:nvPr/>
        </p:nvSpPr>
        <p:spPr>
          <a:xfrm>
            <a:off x="7100887" y="4562076"/>
            <a:ext cx="1647900" cy="19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5"/>
          <p:cNvSpPr txBox="1"/>
          <p:nvPr/>
        </p:nvSpPr>
        <p:spPr>
          <a:xfrm>
            <a:off x="7100887" y="4628751"/>
            <a:ext cx="16479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b="0" i="0" u="none" strike="noStrike" cap="none">
                <a:solidFill>
                  <a:srgbClr val="CCCCCC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Instant death by overcrowding.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1181100" y="1704618"/>
            <a:ext cx="34767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b="0" i="0" u="none" strike="noStrike" cap="none">
                <a:solidFill>
                  <a:srgbClr val="33333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Initial drop, then equilibrium. </a:t>
            </a:r>
            <a:r>
              <a:rPr lang="en-US" sz="1080" b="0" i="0" u="none" strike="noStrike" cap="none">
                <a:solidFill>
                  <a:srgbClr val="D32F2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Most complex structures form here.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1181100" y="4314530"/>
            <a:ext cx="32958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b="1" i="0" u="none" strike="noStrike" cap="none">
                <a:solidFill>
                  <a:srgbClr val="444444"/>
                </a:solidFill>
                <a:latin typeface="Oswald"/>
                <a:ea typeface="Oswald"/>
                <a:cs typeface="Oswald"/>
                <a:sym typeface="Oswald"/>
              </a:rPr>
              <a:t>OUTCOME: CATASTROPHE</a:t>
            </a:r>
            <a:endParaRPr/>
          </a:p>
        </p:txBody>
      </p:sp>
      <p:sp>
        <p:nvSpPr>
          <p:cNvPr id="164" name="Google Shape;164;p15"/>
          <p:cNvSpPr/>
          <p:nvPr/>
        </p:nvSpPr>
        <p:spPr>
          <a:xfrm>
            <a:off x="1181100" y="4514552"/>
            <a:ext cx="3295800" cy="19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/>
          <p:cNvSpPr txBox="1"/>
          <p:nvPr/>
        </p:nvSpPr>
        <p:spPr>
          <a:xfrm>
            <a:off x="1181100" y="4581227"/>
            <a:ext cx="32958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b="0" i="0" u="none" strike="noStrike" cap="none">
                <a:solidFill>
                  <a:srgbClr val="33333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Immediate collapse. "Island" formation (approx 12 cells left).</a:t>
            </a:r>
            <a:endParaRPr/>
          </a:p>
        </p:txBody>
      </p:sp>
      <p:pic>
        <p:nvPicPr>
          <p:cNvPr id="166" name="Google Shape;166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19274" y="1393714"/>
            <a:ext cx="684790" cy="69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09762" y="1388311"/>
            <a:ext cx="684801" cy="672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00424" y="4260263"/>
            <a:ext cx="684800" cy="68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319275" y="4321922"/>
            <a:ext cx="684800" cy="68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7650" y="914400"/>
            <a:ext cx="4752975" cy="569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91375" y="914400"/>
            <a:ext cx="4752975" cy="569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8613" y="794639"/>
            <a:ext cx="634372" cy="344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12357" y="792561"/>
            <a:ext cx="872460" cy="348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553989" y="1831213"/>
            <a:ext cx="854671" cy="414272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6"/>
          <p:cNvSpPr txBox="1"/>
          <p:nvPr/>
        </p:nvSpPr>
        <p:spPr>
          <a:xfrm>
            <a:off x="28575" y="247650"/>
            <a:ext cx="121348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BOUNDARY TOPOLOGY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2269093" y="3181350"/>
            <a:ext cx="710088" cy="178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THE "CLIFF"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1023937" y="3512046"/>
            <a:ext cx="32004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Gliders crash and vanish. Entropy decreases rapidly.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5776081" y="3357550"/>
            <a:ext cx="872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333333"/>
                </a:solidFill>
                <a:latin typeface="Bangers"/>
                <a:ea typeface="Bangers"/>
                <a:cs typeface="Bangers"/>
                <a:sym typeface="Bangers"/>
              </a:rPr>
              <a:t>VS</a:t>
            </a:r>
            <a:endParaRPr/>
          </a:p>
        </p:txBody>
      </p:sp>
      <p:pic>
        <p:nvPicPr>
          <p:cNvPr id="184" name="Google Shape;184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15362" y="108585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6"/>
          <p:cNvSpPr txBox="1"/>
          <p:nvPr/>
        </p:nvSpPr>
        <p:spPr>
          <a:xfrm>
            <a:off x="9157811" y="3181350"/>
            <a:ext cx="820102" cy="178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THE "TORUS"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7843837" y="3512046"/>
            <a:ext cx="34480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Wrap-around mechanics. Infinite loops. High complexity.</a:t>
            </a:r>
            <a:endParaRPr/>
          </a:p>
        </p:txBody>
      </p:sp>
      <p:pic>
        <p:nvPicPr>
          <p:cNvPr id="187" name="Google Shape;187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186862" y="165735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6" title="Screenshot 2025-11-29 174050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638229" y="1031996"/>
            <a:ext cx="1989038" cy="1992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557675" y="1071715"/>
            <a:ext cx="2012825" cy="199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7650" y="247650"/>
            <a:ext cx="3333750" cy="643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24275" y="182075"/>
            <a:ext cx="8292476" cy="6500674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7"/>
          <p:cNvSpPr/>
          <p:nvPr/>
        </p:nvSpPr>
        <p:spPr>
          <a:xfrm>
            <a:off x="243725" y="220175"/>
            <a:ext cx="3333900" cy="531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7"/>
          <p:cNvSpPr txBox="1"/>
          <p:nvPr/>
        </p:nvSpPr>
        <p:spPr>
          <a:xfrm>
            <a:off x="434715" y="267799"/>
            <a:ext cx="3018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CATEGORY I: STILL LIFES</a:t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419100" y="856253"/>
            <a:ext cx="31404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3F51B5"/>
                </a:solidFill>
                <a:latin typeface="Bangers"/>
                <a:ea typeface="Bangers"/>
                <a:cs typeface="Bangers"/>
                <a:sym typeface="Bangers"/>
              </a:rPr>
              <a:t>STATIC STABILITY</a:t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419100" y="1109979"/>
            <a:ext cx="2991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Patterns that do not change from one generation to the next. They are perfect equilibriums.</a:t>
            </a:r>
            <a:endParaRPr/>
          </a:p>
        </p:txBody>
      </p:sp>
      <p:pic>
        <p:nvPicPr>
          <p:cNvPr id="201" name="Google Shape;20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9100" y="1600663"/>
            <a:ext cx="2990850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7"/>
          <p:cNvSpPr txBox="1"/>
          <p:nvPr/>
        </p:nvSpPr>
        <p:spPr>
          <a:xfrm>
            <a:off x="514350" y="1743538"/>
            <a:ext cx="280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Period: 1</a:t>
            </a:r>
            <a:endParaRPr/>
          </a:p>
        </p:txBody>
      </p:sp>
      <p:sp>
        <p:nvSpPr>
          <p:cNvPr id="203" name="Google Shape;203;p17"/>
          <p:cNvSpPr/>
          <p:nvPr/>
        </p:nvSpPr>
        <p:spPr>
          <a:xfrm>
            <a:off x="514350" y="2019763"/>
            <a:ext cx="2800500" cy="96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 txBox="1"/>
          <p:nvPr/>
        </p:nvSpPr>
        <p:spPr>
          <a:xfrm>
            <a:off x="514350" y="2076913"/>
            <a:ext cx="280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Motion: None</a:t>
            </a:r>
            <a:endParaRPr/>
          </a:p>
        </p:txBody>
      </p:sp>
      <p:sp>
        <p:nvSpPr>
          <p:cNvPr id="205" name="Google Shape;205;p17"/>
          <p:cNvSpPr/>
          <p:nvPr/>
        </p:nvSpPr>
        <p:spPr>
          <a:xfrm>
            <a:off x="514350" y="2353138"/>
            <a:ext cx="2800500" cy="96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 txBox="1"/>
          <p:nvPr/>
        </p:nvSpPr>
        <p:spPr>
          <a:xfrm>
            <a:off x="514350" y="2410288"/>
            <a:ext cx="280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Rarity: Very Common</a:t>
            </a:r>
            <a:endParaRPr/>
          </a:p>
        </p:txBody>
      </p:sp>
      <p:sp>
        <p:nvSpPr>
          <p:cNvPr id="207" name="Google Shape;207;p17"/>
          <p:cNvSpPr/>
          <p:nvPr/>
        </p:nvSpPr>
        <p:spPr>
          <a:xfrm>
            <a:off x="514350" y="2686513"/>
            <a:ext cx="2800500" cy="96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7"/>
          <p:cNvSpPr txBox="1"/>
          <p:nvPr/>
        </p:nvSpPr>
        <p:spPr>
          <a:xfrm>
            <a:off x="490207" y="6288481"/>
            <a:ext cx="2998200" cy="2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9" b="0" i="0" u="none" strike="noStrike" cap="none">
                <a:solidFill>
                  <a:srgbClr val="D32F2F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"The fossils of the simulation"</a:t>
            </a:r>
            <a:endParaRPr/>
          </a:p>
        </p:txBody>
      </p:sp>
      <p:pic>
        <p:nvPicPr>
          <p:cNvPr id="209" name="Google Shape;209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34712" y="2275450"/>
            <a:ext cx="3671599" cy="231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7650" y="247650"/>
            <a:ext cx="3333750" cy="6362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24275" y="247650"/>
            <a:ext cx="8220075" cy="636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9100" y="1572161"/>
            <a:ext cx="29908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8"/>
          <p:cNvSpPr/>
          <p:nvPr/>
        </p:nvSpPr>
        <p:spPr>
          <a:xfrm>
            <a:off x="243775" y="216675"/>
            <a:ext cx="3480600" cy="538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 txBox="1"/>
          <p:nvPr/>
        </p:nvSpPr>
        <p:spPr>
          <a:xfrm>
            <a:off x="338625" y="264300"/>
            <a:ext cx="3333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CATEGORY II: OSCILLATORS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419100" y="852933"/>
            <a:ext cx="31404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9C27B0"/>
                </a:solidFill>
                <a:latin typeface="Bangers"/>
                <a:ea typeface="Bangers"/>
                <a:cs typeface="Bangers"/>
                <a:sym typeface="Bangers"/>
              </a:rPr>
              <a:t>PERIODIC CYCLES</a:t>
            </a:r>
            <a:endParaRPr/>
          </a:p>
        </p:txBody>
      </p:sp>
      <p:sp>
        <p:nvSpPr>
          <p:cNvPr id="221" name="Google Shape;221;p18"/>
          <p:cNvSpPr txBox="1"/>
          <p:nvPr/>
        </p:nvSpPr>
        <p:spPr>
          <a:xfrm>
            <a:off x="419100" y="1124098"/>
            <a:ext cx="2991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Patterns that repeat after a fixed number of generations.</a:t>
            </a:r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1217404" y="6246173"/>
            <a:ext cx="1394400" cy="2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9" b="0" i="0" u="none" strike="noStrike" cap="none">
                <a:solidFill>
                  <a:srgbClr val="D32F2F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"Infinite Loop"</a:t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514350" y="1715043"/>
            <a:ext cx="280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Motion: Stationary</a:t>
            </a:r>
            <a:endParaRPr/>
          </a:p>
        </p:txBody>
      </p:sp>
      <p:sp>
        <p:nvSpPr>
          <p:cNvPr id="224" name="Google Shape;224;p18"/>
          <p:cNvSpPr/>
          <p:nvPr/>
        </p:nvSpPr>
        <p:spPr>
          <a:xfrm>
            <a:off x="514350" y="1991261"/>
            <a:ext cx="2800500" cy="96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 txBox="1"/>
          <p:nvPr/>
        </p:nvSpPr>
        <p:spPr>
          <a:xfrm>
            <a:off x="514350" y="2048411"/>
            <a:ext cx="280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Type: Cyclical</a:t>
            </a:r>
            <a:endParaRPr/>
          </a:p>
        </p:txBody>
      </p:sp>
      <p:sp>
        <p:nvSpPr>
          <p:cNvPr id="226" name="Google Shape;226;p18"/>
          <p:cNvSpPr/>
          <p:nvPr/>
        </p:nvSpPr>
        <p:spPr>
          <a:xfrm>
            <a:off x="514350" y="2324636"/>
            <a:ext cx="2800500" cy="96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40725" y="2081212"/>
            <a:ext cx="3587163" cy="269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7650" y="247650"/>
            <a:ext cx="3333750" cy="636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24275" y="247650"/>
            <a:ext cx="8220075" cy="636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9100" y="1816832"/>
            <a:ext cx="29908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9"/>
          <p:cNvSpPr/>
          <p:nvPr/>
        </p:nvSpPr>
        <p:spPr>
          <a:xfrm>
            <a:off x="243750" y="217275"/>
            <a:ext cx="3414900" cy="53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 txBox="1"/>
          <p:nvPr/>
        </p:nvSpPr>
        <p:spPr>
          <a:xfrm>
            <a:off x="344600" y="264900"/>
            <a:ext cx="3236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CATEGORY III: SPACESHIPS</a:t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419100" y="901118"/>
            <a:ext cx="31404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9800"/>
                </a:solidFill>
                <a:latin typeface="Bangers"/>
                <a:ea typeface="Bangers"/>
                <a:cs typeface="Bangers"/>
                <a:sym typeface="Bangers"/>
              </a:rPr>
              <a:t>TRAVELERS</a:t>
            </a:r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419100" y="1175786"/>
            <a:ext cx="2991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Finite patterns that return to their initial state but at a different location. They "move" across the grid.</a:t>
            </a:r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894452" y="6210216"/>
            <a:ext cx="2113500" cy="2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9" b="0" i="0" u="none" strike="noStrike" cap="none">
                <a:solidFill>
                  <a:srgbClr val="D32F2F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"Information carriers"</a:t>
            </a:r>
            <a:endParaRPr/>
          </a:p>
        </p:txBody>
      </p:sp>
      <p:sp>
        <p:nvSpPr>
          <p:cNvPr id="241" name="Google Shape;241;p19"/>
          <p:cNvSpPr txBox="1"/>
          <p:nvPr/>
        </p:nvSpPr>
        <p:spPr>
          <a:xfrm>
            <a:off x="514350" y="1959707"/>
            <a:ext cx="280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Speed: c/4 (Glider)</a:t>
            </a:r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514350" y="2235932"/>
            <a:ext cx="2800500" cy="96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 txBox="1"/>
          <p:nvPr/>
        </p:nvSpPr>
        <p:spPr>
          <a:xfrm>
            <a:off x="514350" y="2293082"/>
            <a:ext cx="280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Direction: Diagonal / Orthogonal</a:t>
            </a:r>
            <a:endParaRPr/>
          </a:p>
        </p:txBody>
      </p:sp>
      <p:sp>
        <p:nvSpPr>
          <p:cNvPr id="244" name="Google Shape;244;p19"/>
          <p:cNvSpPr/>
          <p:nvPr/>
        </p:nvSpPr>
        <p:spPr>
          <a:xfrm>
            <a:off x="514350" y="2569307"/>
            <a:ext cx="2800500" cy="96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 txBox="1"/>
          <p:nvPr/>
        </p:nvSpPr>
        <p:spPr>
          <a:xfrm>
            <a:off x="3952875" y="476250"/>
            <a:ext cx="14573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THE GLIDER (Motion Trail)</a:t>
            </a:r>
            <a:endParaRPr/>
          </a:p>
        </p:txBody>
      </p:sp>
      <p:sp>
        <p:nvSpPr>
          <p:cNvPr id="246" name="Google Shape;246;p19"/>
          <p:cNvSpPr txBox="1"/>
          <p:nvPr/>
        </p:nvSpPr>
        <p:spPr>
          <a:xfrm>
            <a:off x="7117896" y="2823650"/>
            <a:ext cx="1514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D700"/>
                </a:solidFill>
                <a:latin typeface="Bangers"/>
                <a:ea typeface="Bangers"/>
                <a:cs typeface="Bangers"/>
                <a:sym typeface="Bangers"/>
              </a:rPr>
              <a:t>DIAGONAL MOVEMENT -&gt;</a:t>
            </a:r>
            <a:endParaRPr/>
          </a:p>
        </p:txBody>
      </p:sp>
      <p:sp>
        <p:nvSpPr>
          <p:cNvPr id="247" name="Google Shape;247;p19"/>
          <p:cNvSpPr txBox="1"/>
          <p:nvPr/>
        </p:nvSpPr>
        <p:spPr>
          <a:xfrm>
            <a:off x="3952875" y="3571875"/>
            <a:ext cx="17716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L.W.S.S (Lightweight Spaceship)</a:t>
            </a:r>
            <a:endParaRPr/>
          </a:p>
        </p:txBody>
      </p:sp>
      <p:sp>
        <p:nvSpPr>
          <p:cNvPr id="248" name="Google Shape;248;p19"/>
          <p:cNvSpPr txBox="1"/>
          <p:nvPr/>
        </p:nvSpPr>
        <p:spPr>
          <a:xfrm>
            <a:off x="3857625" y="5210175"/>
            <a:ext cx="79533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Moves Orthogonally (c/2)</a:t>
            </a:r>
            <a:endParaRPr/>
          </a:p>
        </p:txBody>
      </p:sp>
      <p:pic>
        <p:nvPicPr>
          <p:cNvPr id="249" name="Google Shape;249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87049" y="3943349"/>
            <a:ext cx="1294525" cy="105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87049" y="1239275"/>
            <a:ext cx="1294525" cy="1278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150" y="1295400"/>
            <a:ext cx="4411850" cy="2926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35760" y="1295400"/>
            <a:ext cx="6618089" cy="512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9126" y="1174226"/>
            <a:ext cx="796272" cy="347121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0"/>
          <p:cNvSpPr/>
          <p:nvPr/>
        </p:nvSpPr>
        <p:spPr>
          <a:xfrm>
            <a:off x="438150" y="247650"/>
            <a:ext cx="4057800" cy="57720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0"/>
          <p:cNvSpPr txBox="1"/>
          <p:nvPr/>
        </p:nvSpPr>
        <p:spPr>
          <a:xfrm>
            <a:off x="533400" y="247650"/>
            <a:ext cx="40605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POST-MORTEM ANALYSIS</a:t>
            </a:r>
            <a:endParaRPr/>
          </a:p>
        </p:txBody>
      </p:sp>
      <p:sp>
        <p:nvSpPr>
          <p:cNvPr id="261" name="Google Shape;261;p20"/>
          <p:cNvSpPr txBox="1"/>
          <p:nvPr/>
        </p:nvSpPr>
        <p:spPr>
          <a:xfrm>
            <a:off x="6964620" y="3227189"/>
            <a:ext cx="296037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SIMULATION SUMMARY</a:t>
            </a:r>
            <a:endParaRPr/>
          </a:p>
        </p:txBody>
      </p:sp>
      <p:sp>
        <p:nvSpPr>
          <p:cNvPr id="262" name="Google Shape;262;p20"/>
          <p:cNvSpPr txBox="1"/>
          <p:nvPr/>
        </p:nvSpPr>
        <p:spPr>
          <a:xfrm>
            <a:off x="5587305" y="3790950"/>
            <a:ext cx="571500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9" b="0" i="0" u="none" strike="noStrike" cap="none">
                <a:solidFill>
                  <a:srgbClr val="33333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"The Game of Life proves that complex behavior can emerge from simple rules. While high density leads to immediate extinction, sparse beginnings allow for beautiful, self-sustaining systems to evolve."</a:t>
            </a:r>
            <a:endParaRPr/>
          </a:p>
        </p:txBody>
      </p:sp>
      <p:sp>
        <p:nvSpPr>
          <p:cNvPr id="263" name="Google Shape;263;p20"/>
          <p:cNvSpPr txBox="1"/>
          <p:nvPr/>
        </p:nvSpPr>
        <p:spPr>
          <a:xfrm>
            <a:off x="720035" y="1585608"/>
            <a:ext cx="4068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D7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0.2 DENSITY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is the "Sweet Spot" for life.</a:t>
            </a:r>
            <a:endParaRPr dirty="0"/>
          </a:p>
        </p:txBody>
      </p:sp>
      <p:sp>
        <p:nvSpPr>
          <p:cNvPr id="264" name="Google Shape;264;p20"/>
          <p:cNvSpPr/>
          <p:nvPr/>
        </p:nvSpPr>
        <p:spPr>
          <a:xfrm>
            <a:off x="609600" y="2247900"/>
            <a:ext cx="4068960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0"/>
          <p:cNvSpPr txBox="1"/>
          <p:nvPr/>
        </p:nvSpPr>
        <p:spPr>
          <a:xfrm>
            <a:off x="706230" y="2347871"/>
            <a:ext cx="4068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2196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PERIODIC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grids allow infinite complexity.</a:t>
            </a:r>
            <a:endParaRPr dirty="0"/>
          </a:p>
        </p:txBody>
      </p:sp>
      <p:sp>
        <p:nvSpPr>
          <p:cNvPr id="266" name="Google Shape;266;p20"/>
          <p:cNvSpPr/>
          <p:nvPr/>
        </p:nvSpPr>
        <p:spPr>
          <a:xfrm>
            <a:off x="609600" y="3095625"/>
            <a:ext cx="4068960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0"/>
          <p:cNvSpPr txBox="1"/>
          <p:nvPr/>
        </p:nvSpPr>
        <p:spPr>
          <a:xfrm>
            <a:off x="720035" y="3191112"/>
            <a:ext cx="4068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4433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FINITE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grids kill entropy (Death </a:t>
            </a:r>
            <a:r>
              <a:rPr lang="en-US" sz="1800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occurs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).</a:t>
            </a:r>
            <a:endParaRPr dirty="0"/>
          </a:p>
        </p:txBody>
      </p:sp>
      <p:sp>
        <p:nvSpPr>
          <p:cNvPr id="268" name="Google Shape;268;p20"/>
          <p:cNvSpPr/>
          <p:nvPr/>
        </p:nvSpPr>
        <p:spPr>
          <a:xfrm>
            <a:off x="609600" y="2247900"/>
            <a:ext cx="4068960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600" y="180022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0"/>
          <p:cNvSpPr/>
          <p:nvPr/>
        </p:nvSpPr>
        <p:spPr>
          <a:xfrm>
            <a:off x="609600" y="3095625"/>
            <a:ext cx="4068960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1" name="Google Shape;271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9600" y="255270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09600" y="34004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964625" y="4652083"/>
            <a:ext cx="2960375" cy="895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878201" y="1884325"/>
            <a:ext cx="1133198" cy="1160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383</Words>
  <Application>Microsoft Office PowerPoint</Application>
  <PresentationFormat>Widescreen</PresentationFormat>
  <Paragraphs>73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Permanent Marker</vt:lpstr>
      <vt:lpstr>Oswald</vt:lpstr>
      <vt:lpstr>Bangers</vt:lpstr>
      <vt:lpstr>Calibri</vt:lpstr>
      <vt:lpstr>Roboto Condensed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hasan yahya</cp:lastModifiedBy>
  <cp:revision>1</cp:revision>
  <dcterms:modified xsi:type="dcterms:W3CDTF">2025-11-29T13:48:37Z</dcterms:modified>
</cp:coreProperties>
</file>