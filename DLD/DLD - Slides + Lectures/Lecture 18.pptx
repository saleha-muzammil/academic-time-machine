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7"/>
  </p:notesMasterIdLst>
  <p:sldIdLst>
    <p:sldId id="256" r:id="rId2"/>
    <p:sldId id="257" r:id="rId3"/>
    <p:sldId id="311" r:id="rId4"/>
    <p:sldId id="312" r:id="rId5"/>
    <p:sldId id="313" r:id="rId6"/>
    <p:sldId id="314" r:id="rId7"/>
    <p:sldId id="315" r:id="rId8"/>
    <p:sldId id="316" r:id="rId9"/>
    <p:sldId id="317" r:id="rId10"/>
    <p:sldId id="318" r:id="rId11"/>
    <p:sldId id="319" r:id="rId12"/>
    <p:sldId id="320" r:id="rId13"/>
    <p:sldId id="321" r:id="rId14"/>
    <p:sldId id="322" r:id="rId15"/>
    <p:sldId id="323" r:id="rId16"/>
    <p:sldId id="324" r:id="rId17"/>
    <p:sldId id="325" r:id="rId18"/>
    <p:sldId id="326" r:id="rId19"/>
    <p:sldId id="327" r:id="rId20"/>
    <p:sldId id="328" r:id="rId21"/>
    <p:sldId id="329" r:id="rId22"/>
    <p:sldId id="330" r:id="rId23"/>
    <p:sldId id="331" r:id="rId24"/>
    <p:sldId id="333" r:id="rId25"/>
    <p:sldId id="332"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566"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2F9F6B-19F2-4FAC-8436-835A36B723E4}" type="datetimeFigureOut">
              <a:rPr lang="en-US" smtClean="0"/>
              <a:t>5/22/26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6C4BE1-D084-4D2B-8BB5-E99F53429E0A}" type="slidenum">
              <a:rPr lang="en-US" smtClean="0"/>
              <a:t>‹#›</a:t>
            </a:fld>
            <a:endParaRPr lang="en-US"/>
          </a:p>
        </p:txBody>
      </p:sp>
    </p:spTree>
    <p:extLst>
      <p:ext uri="{BB962C8B-B14F-4D97-AF65-F5344CB8AC3E}">
        <p14:creationId xmlns:p14="http://schemas.microsoft.com/office/powerpoint/2010/main" val="1619976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3708365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40165245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2355813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EE227 - DLD</a:t>
            </a:r>
          </a:p>
        </p:txBody>
      </p:sp>
      <p:sp>
        <p:nvSpPr>
          <p:cNvPr id="6" name="Footer Placeholder 5"/>
          <p:cNvSpPr>
            <a:spLocks noGrp="1"/>
          </p:cNvSpPr>
          <p:nvPr>
            <p:ph type="ftr" sz="quarter" idx="11"/>
          </p:nvPr>
        </p:nvSpPr>
        <p:spPr/>
        <p:txBody>
          <a:bodyPr/>
          <a:lstStyle/>
          <a:p>
            <a:r>
              <a:rPr lang="en-US" dirty="0"/>
              <a:t>Course Instructor : Waqar Baig</a:t>
            </a:r>
          </a:p>
        </p:txBody>
      </p:sp>
      <p:sp>
        <p:nvSpPr>
          <p:cNvPr id="7" name="Slide Number Placeholder 6"/>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1169644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EE227 - DLD</a:t>
            </a:r>
          </a:p>
        </p:txBody>
      </p:sp>
      <p:sp>
        <p:nvSpPr>
          <p:cNvPr id="8" name="Footer Placeholder 7"/>
          <p:cNvSpPr>
            <a:spLocks noGrp="1"/>
          </p:cNvSpPr>
          <p:nvPr>
            <p:ph type="ftr" sz="quarter" idx="11"/>
          </p:nvPr>
        </p:nvSpPr>
        <p:spPr/>
        <p:txBody>
          <a:bodyPr/>
          <a:lstStyle/>
          <a:p>
            <a:r>
              <a:rPr lang="en-US" dirty="0"/>
              <a:t>Course Instructor : Waqar Baig</a:t>
            </a:r>
          </a:p>
        </p:txBody>
      </p:sp>
      <p:sp>
        <p:nvSpPr>
          <p:cNvPr id="9" name="Slide Number Placeholder 8"/>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2999521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EE227 - DLD</a:t>
            </a:r>
          </a:p>
        </p:txBody>
      </p:sp>
      <p:sp>
        <p:nvSpPr>
          <p:cNvPr id="4" name="Footer Placeholder 3"/>
          <p:cNvSpPr>
            <a:spLocks noGrp="1"/>
          </p:cNvSpPr>
          <p:nvPr>
            <p:ph type="ftr" sz="quarter" idx="11"/>
          </p:nvPr>
        </p:nvSpPr>
        <p:spPr/>
        <p:txBody>
          <a:bodyPr/>
          <a:lstStyle/>
          <a:p>
            <a:r>
              <a:rPr lang="en-US" dirty="0"/>
              <a:t>Course Instructor : Waqar Baig</a:t>
            </a:r>
          </a:p>
        </p:txBody>
      </p:sp>
      <p:sp>
        <p:nvSpPr>
          <p:cNvPr id="5" name="Slide Number Placeholder 4"/>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266510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EE227 - DLD</a:t>
            </a:r>
          </a:p>
        </p:txBody>
      </p:sp>
      <p:sp>
        <p:nvSpPr>
          <p:cNvPr id="3" name="Footer Placeholder 2"/>
          <p:cNvSpPr>
            <a:spLocks noGrp="1"/>
          </p:cNvSpPr>
          <p:nvPr>
            <p:ph type="ftr" sz="quarter" idx="11"/>
          </p:nvPr>
        </p:nvSpPr>
        <p:spPr/>
        <p:txBody>
          <a:bodyPr/>
          <a:lstStyle/>
          <a:p>
            <a:r>
              <a:rPr lang="en-US" dirty="0"/>
              <a:t>Course Instructor : Waqar Baig</a:t>
            </a:r>
          </a:p>
        </p:txBody>
      </p:sp>
      <p:sp>
        <p:nvSpPr>
          <p:cNvPr id="4" name="Slide Number Placeholder 3"/>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801980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EE227 - DLD</a:t>
            </a:r>
          </a:p>
        </p:txBody>
      </p:sp>
      <p:sp>
        <p:nvSpPr>
          <p:cNvPr id="6" name="Footer Placeholder 5"/>
          <p:cNvSpPr>
            <a:spLocks noGrp="1"/>
          </p:cNvSpPr>
          <p:nvPr>
            <p:ph type="ftr" sz="quarter" idx="11"/>
          </p:nvPr>
        </p:nvSpPr>
        <p:spPr/>
        <p:txBody>
          <a:bodyPr/>
          <a:lstStyle/>
          <a:p>
            <a:r>
              <a:rPr lang="en-US" dirty="0"/>
              <a:t>Course Instructor : Waqar Baig</a:t>
            </a:r>
          </a:p>
        </p:txBody>
      </p:sp>
      <p:sp>
        <p:nvSpPr>
          <p:cNvPr id="7" name="Slide Number Placeholder 6"/>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3995759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EE227 - DLD</a:t>
            </a:r>
          </a:p>
        </p:txBody>
      </p:sp>
      <p:sp>
        <p:nvSpPr>
          <p:cNvPr id="6" name="Footer Placeholder 5"/>
          <p:cNvSpPr>
            <a:spLocks noGrp="1"/>
          </p:cNvSpPr>
          <p:nvPr>
            <p:ph type="ftr" sz="quarter" idx="11"/>
          </p:nvPr>
        </p:nvSpPr>
        <p:spPr/>
        <p:txBody>
          <a:bodyPr/>
          <a:lstStyle/>
          <a:p>
            <a:r>
              <a:rPr lang="en-US" dirty="0"/>
              <a:t>Course Instructor : Waqar Baig</a:t>
            </a:r>
          </a:p>
        </p:txBody>
      </p:sp>
      <p:sp>
        <p:nvSpPr>
          <p:cNvPr id="7" name="Slide Number Placeholder 6"/>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915885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3224377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303528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EE227 - DLD</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Course Instructor : Waqar Baig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E6402E-3189-41C4-BB36-EE6F934C63A5}" type="slidenum">
              <a:rPr lang="en-US" smtClean="0"/>
              <a:t>‹#›</a:t>
            </a:fld>
            <a:endParaRPr lang="en-US"/>
          </a:p>
        </p:txBody>
      </p:sp>
    </p:spTree>
    <p:extLst>
      <p:ext uri="{BB962C8B-B14F-4D97-AF65-F5344CB8AC3E}">
        <p14:creationId xmlns:p14="http://schemas.microsoft.com/office/powerpoint/2010/main" val="5308020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EE227 – Digital Logic Design</a:t>
            </a:r>
          </a:p>
        </p:txBody>
      </p:sp>
      <p:sp>
        <p:nvSpPr>
          <p:cNvPr id="3" name="Subtitle 2"/>
          <p:cNvSpPr>
            <a:spLocks noGrp="1"/>
          </p:cNvSpPr>
          <p:nvPr>
            <p:ph type="subTitle" idx="1"/>
          </p:nvPr>
        </p:nvSpPr>
        <p:spPr/>
        <p:txBody>
          <a:bodyPr/>
          <a:lstStyle/>
          <a:p>
            <a:r>
              <a:rPr lang="en-US" dirty="0"/>
              <a:t>Lecture 18</a:t>
            </a:r>
          </a:p>
        </p:txBody>
      </p:sp>
    </p:spTree>
    <p:extLst>
      <p:ext uri="{BB962C8B-B14F-4D97-AF65-F5344CB8AC3E}">
        <p14:creationId xmlns:p14="http://schemas.microsoft.com/office/powerpoint/2010/main" val="3048268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fontScale="92500" lnSpcReduction="10000"/>
          </a:bodyPr>
          <a:lstStyle/>
          <a:p>
            <a:r>
              <a:rPr lang="en-US" dirty="0"/>
              <a:t>Sequential Circuits</a:t>
            </a:r>
          </a:p>
          <a:p>
            <a:r>
              <a:rPr lang="en-US" dirty="0"/>
              <a:t>Types of Sequential Circuits</a:t>
            </a:r>
          </a:p>
          <a:p>
            <a:pPr lvl="1"/>
            <a:r>
              <a:rPr lang="en-US" dirty="0"/>
              <a:t>Synchronous Sequential Circuits</a:t>
            </a:r>
          </a:p>
          <a:p>
            <a:pPr lvl="1"/>
            <a:r>
              <a:rPr lang="en-US" dirty="0"/>
              <a:t>Asynchronous Sequential Circuits</a:t>
            </a:r>
          </a:p>
          <a:p>
            <a:r>
              <a:rPr lang="en-US" dirty="0"/>
              <a:t>Storage Elements</a:t>
            </a:r>
          </a:p>
          <a:p>
            <a:pPr lvl="1"/>
            <a:r>
              <a:rPr lang="en-US" dirty="0"/>
              <a:t>Latches</a:t>
            </a:r>
          </a:p>
          <a:p>
            <a:pPr lvl="1"/>
            <a:r>
              <a:rPr lang="en-US" dirty="0"/>
              <a:t>Flip Flops</a:t>
            </a:r>
          </a:p>
          <a:p>
            <a:r>
              <a:rPr lang="en-US" dirty="0"/>
              <a:t>SR Latch</a:t>
            </a:r>
          </a:p>
          <a:p>
            <a:r>
              <a:rPr lang="en-US" dirty="0"/>
              <a:t>D Latch</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2</a:t>
            </a:fld>
            <a:endParaRPr lang="en-US"/>
          </a:p>
        </p:txBody>
      </p:sp>
    </p:spTree>
    <p:extLst>
      <p:ext uri="{BB962C8B-B14F-4D97-AF65-F5344CB8AC3E}">
        <p14:creationId xmlns:p14="http://schemas.microsoft.com/office/powerpoint/2010/main" val="1831321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Sequential Circuits (Background)</a:t>
            </a:r>
          </a:p>
        </p:txBody>
      </p:sp>
      <p:sp>
        <p:nvSpPr>
          <p:cNvPr id="3" name="Content Placeholder 2"/>
          <p:cNvSpPr>
            <a:spLocks noGrp="1"/>
          </p:cNvSpPr>
          <p:nvPr>
            <p:ph idx="1"/>
          </p:nvPr>
        </p:nvSpPr>
        <p:spPr/>
        <p:txBody>
          <a:bodyPr>
            <a:normAutofit fontScale="85000" lnSpcReduction="20000"/>
          </a:bodyPr>
          <a:lstStyle/>
          <a:p>
            <a:r>
              <a:rPr lang="en-US" dirty="0"/>
              <a:t>Today’s digital electronic devices have the ability to send, receive, store, retrieve, and process information represented in a binary format</a:t>
            </a:r>
          </a:p>
          <a:p>
            <a:r>
              <a:rPr lang="en-US" dirty="0"/>
              <a:t>The technology enabling and supporting these devices is critically dependent on electronic components that can store information</a:t>
            </a:r>
          </a:p>
          <a:p>
            <a:r>
              <a:rPr lang="en-US" dirty="0"/>
              <a:t>The digital circuits considered thus far have been combinational and don’t have any memory</a:t>
            </a:r>
          </a:p>
          <a:p>
            <a:r>
              <a:rPr lang="en-US" dirty="0"/>
              <a:t>Sequential circuits, however, act as storage elements and have memory</a:t>
            </a:r>
          </a:p>
          <a:p>
            <a:r>
              <a:rPr lang="en-US" dirty="0"/>
              <a:t>They can store, retain, and then retrieve information when needed at a later time</a:t>
            </a:r>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3</a:t>
            </a:fld>
            <a:endParaRPr lang="en-US"/>
          </a:p>
        </p:txBody>
      </p:sp>
    </p:spTree>
    <p:extLst>
      <p:ext uri="{BB962C8B-B14F-4D97-AF65-F5344CB8AC3E}">
        <p14:creationId xmlns:p14="http://schemas.microsoft.com/office/powerpoint/2010/main" val="629394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Sequential Circuits (1/2)</a:t>
            </a:r>
          </a:p>
        </p:txBody>
      </p:sp>
      <p:sp>
        <p:nvSpPr>
          <p:cNvPr id="3" name="Content Placeholder 2"/>
          <p:cNvSpPr>
            <a:spLocks noGrp="1"/>
          </p:cNvSpPr>
          <p:nvPr>
            <p:ph idx="1"/>
          </p:nvPr>
        </p:nvSpPr>
        <p:spPr/>
        <p:txBody>
          <a:bodyPr>
            <a:normAutofit fontScale="77500" lnSpcReduction="20000"/>
          </a:bodyPr>
          <a:lstStyle/>
          <a:p>
            <a:r>
              <a:rPr lang="en-US" dirty="0"/>
              <a:t>Sequential circuit consists of a combinational circuit to which storage elements are connected to form a feedback path</a:t>
            </a:r>
          </a:p>
          <a:p>
            <a:endParaRPr lang="en-US" dirty="0"/>
          </a:p>
          <a:p>
            <a:endParaRPr lang="en-US" dirty="0"/>
          </a:p>
          <a:p>
            <a:endParaRPr lang="en-US" dirty="0"/>
          </a:p>
          <a:p>
            <a:endParaRPr lang="en-US" dirty="0"/>
          </a:p>
          <a:p>
            <a:r>
              <a:rPr lang="en-US" dirty="0"/>
              <a:t>The storage elements are devices capable of storing binary information</a:t>
            </a:r>
          </a:p>
          <a:p>
            <a:r>
              <a:rPr lang="en-US" dirty="0"/>
              <a:t>The binary information stored in these elements at any given time defines the </a:t>
            </a:r>
            <a:r>
              <a:rPr lang="en-US" b="1" dirty="0"/>
              <a:t>state</a:t>
            </a:r>
            <a:r>
              <a:rPr lang="en-US" dirty="0"/>
              <a:t> of the sequential circuit at that time</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4</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9929" y="2590800"/>
            <a:ext cx="5509071"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47036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Sequential Circuits (2/2)</a:t>
            </a:r>
          </a:p>
        </p:txBody>
      </p:sp>
      <p:sp>
        <p:nvSpPr>
          <p:cNvPr id="3" name="Content Placeholder 2"/>
          <p:cNvSpPr>
            <a:spLocks noGrp="1"/>
          </p:cNvSpPr>
          <p:nvPr>
            <p:ph idx="1"/>
          </p:nvPr>
        </p:nvSpPr>
        <p:spPr/>
        <p:txBody>
          <a:bodyPr>
            <a:normAutofit lnSpcReduction="10000"/>
          </a:bodyPr>
          <a:lstStyle/>
          <a:p>
            <a:r>
              <a:rPr lang="en-US" dirty="0"/>
              <a:t>The outputs in a sequential circuit are a function not only of the inputs, but also of the present state of the storage elements</a:t>
            </a:r>
          </a:p>
          <a:p>
            <a:r>
              <a:rPr lang="en-US" dirty="0"/>
              <a:t>The next state of the storage elements is also a function of external inputs and the present state</a:t>
            </a:r>
          </a:p>
          <a:p>
            <a:r>
              <a:rPr lang="en-US" dirty="0"/>
              <a:t>Thus, </a:t>
            </a:r>
            <a:r>
              <a:rPr lang="en-US" b="1" i="1" dirty="0"/>
              <a:t>a sequential circuit is specified by a time sequence of inputs, outputs, and internal states</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5</a:t>
            </a:fld>
            <a:endParaRPr lang="en-US"/>
          </a:p>
        </p:txBody>
      </p:sp>
    </p:spTree>
    <p:extLst>
      <p:ext uri="{BB962C8B-B14F-4D97-AF65-F5344CB8AC3E}">
        <p14:creationId xmlns:p14="http://schemas.microsoft.com/office/powerpoint/2010/main" val="665677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Sequential Circuits</a:t>
            </a:r>
          </a:p>
        </p:txBody>
      </p:sp>
      <p:sp>
        <p:nvSpPr>
          <p:cNvPr id="3" name="Content Placeholder 2"/>
          <p:cNvSpPr>
            <a:spLocks noGrp="1"/>
          </p:cNvSpPr>
          <p:nvPr>
            <p:ph idx="1"/>
          </p:nvPr>
        </p:nvSpPr>
        <p:spPr/>
        <p:txBody>
          <a:bodyPr>
            <a:normAutofit fontScale="92500" lnSpcReduction="20000"/>
          </a:bodyPr>
          <a:lstStyle/>
          <a:p>
            <a:r>
              <a:rPr lang="en-US" dirty="0"/>
              <a:t>There are two main types of sequential circuits, and their classification is a function of the timing of their signals</a:t>
            </a:r>
          </a:p>
          <a:p>
            <a:pPr lvl="1"/>
            <a:r>
              <a:rPr lang="en-US" dirty="0"/>
              <a:t>Synchronous Sequential Circuits</a:t>
            </a:r>
          </a:p>
          <a:p>
            <a:pPr lvl="2"/>
            <a:r>
              <a:rPr lang="en-US" dirty="0"/>
              <a:t>It is a system whose behavior can be defined from the knowledge of its signals at discrete instants of time</a:t>
            </a:r>
          </a:p>
          <a:p>
            <a:pPr lvl="1"/>
            <a:r>
              <a:rPr lang="en-US" dirty="0"/>
              <a:t>Asynchronous Sequential Circuits</a:t>
            </a:r>
          </a:p>
          <a:p>
            <a:pPr lvl="2"/>
            <a:r>
              <a:rPr lang="en-US" dirty="0"/>
              <a:t>The behavior of an asynchronous sequential circuit depends upon the input signals at any instant of time and the order in which the inputs change</a:t>
            </a:r>
          </a:p>
          <a:p>
            <a:pPr lvl="1"/>
            <a:r>
              <a:rPr lang="en-US" dirty="0"/>
              <a:t>Here we will discuss only the synchronous sequential circuits</a:t>
            </a:r>
          </a:p>
          <a:p>
            <a:endParaRPr lang="en-US" dirty="0"/>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6</a:t>
            </a:fld>
            <a:endParaRPr lang="en-US"/>
          </a:p>
        </p:txBody>
      </p:sp>
    </p:spTree>
    <p:extLst>
      <p:ext uri="{BB962C8B-B14F-4D97-AF65-F5344CB8AC3E}">
        <p14:creationId xmlns:p14="http://schemas.microsoft.com/office/powerpoint/2010/main" val="2278822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Synchronous Sequential Circuits (1/3)</a:t>
            </a:r>
          </a:p>
        </p:txBody>
      </p:sp>
      <p:sp>
        <p:nvSpPr>
          <p:cNvPr id="3" name="Content Placeholder 2"/>
          <p:cNvSpPr>
            <a:spLocks noGrp="1"/>
          </p:cNvSpPr>
          <p:nvPr>
            <p:ph idx="1"/>
          </p:nvPr>
        </p:nvSpPr>
        <p:spPr/>
        <p:txBody>
          <a:bodyPr>
            <a:normAutofit fontScale="77500" lnSpcReduction="20000"/>
          </a:bodyPr>
          <a:lstStyle/>
          <a:p>
            <a:r>
              <a:rPr lang="en-US" dirty="0"/>
              <a:t>A synchronous sequential circuit employs signals that affect the storage elements at only discrete instants of time</a:t>
            </a:r>
          </a:p>
          <a:p>
            <a:r>
              <a:rPr lang="en-US" dirty="0"/>
              <a:t>Synchronization is achieved by a timing device called a </a:t>
            </a:r>
            <a:r>
              <a:rPr lang="en-US" b="1" dirty="0"/>
              <a:t>clock generator</a:t>
            </a:r>
            <a:r>
              <a:rPr lang="en-US" dirty="0"/>
              <a:t>, which provides a clock signal having the form of a periodic train of clock pulses</a:t>
            </a:r>
          </a:p>
          <a:p>
            <a:endParaRPr lang="en-US" dirty="0"/>
          </a:p>
          <a:p>
            <a:endParaRPr lang="en-US" dirty="0"/>
          </a:p>
          <a:p>
            <a:endParaRPr lang="en-US" dirty="0"/>
          </a:p>
          <a:p>
            <a:r>
              <a:rPr lang="en-US" dirty="0"/>
              <a:t>The clock signal is commonly denoted by the identifiers </a:t>
            </a:r>
            <a:r>
              <a:rPr lang="en-US" b="1" dirty="0"/>
              <a:t>clock</a:t>
            </a:r>
            <a:r>
              <a:rPr lang="en-US" dirty="0"/>
              <a:t> and </a:t>
            </a:r>
            <a:r>
              <a:rPr lang="en-US" b="1" dirty="0" err="1"/>
              <a:t>clk</a:t>
            </a:r>
            <a:endParaRPr lang="en-US" b="1" dirty="0"/>
          </a:p>
          <a:p>
            <a:r>
              <a:rPr lang="en-US" dirty="0"/>
              <a:t>The clock pulses are distributed throughout the system in such a way that storage elements are affected only with the arrival of each pulse</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7</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6025" y="3338945"/>
            <a:ext cx="417195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39082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Synchronous Sequential Circuits (2/3)</a:t>
            </a:r>
          </a:p>
        </p:txBody>
      </p:sp>
      <p:sp>
        <p:nvSpPr>
          <p:cNvPr id="3" name="Content Placeholder 2"/>
          <p:cNvSpPr>
            <a:spLocks noGrp="1"/>
          </p:cNvSpPr>
          <p:nvPr>
            <p:ph idx="1"/>
          </p:nvPr>
        </p:nvSpPr>
        <p:spPr/>
        <p:txBody>
          <a:bodyPr>
            <a:normAutofit fontScale="92500" lnSpcReduction="20000"/>
          </a:bodyPr>
          <a:lstStyle/>
          <a:p>
            <a:r>
              <a:rPr lang="en-US" dirty="0"/>
              <a:t>In practice:</a:t>
            </a:r>
          </a:p>
          <a:p>
            <a:pPr lvl="1"/>
            <a:r>
              <a:rPr lang="en-US" dirty="0"/>
              <a:t>The clock pulses determine when computational activity will occur within the circuit</a:t>
            </a:r>
          </a:p>
          <a:p>
            <a:pPr lvl="1"/>
            <a:r>
              <a:rPr lang="en-US" dirty="0"/>
              <a:t>And other signals (external inputs and otherwise) determine what changes will take place affecting the storage elements and the outputs</a:t>
            </a:r>
          </a:p>
          <a:p>
            <a:r>
              <a:rPr lang="en-US" dirty="0"/>
              <a:t>For example, a circuit that is to add and store two binary numbers:</a:t>
            </a:r>
          </a:p>
          <a:p>
            <a:pPr lvl="1"/>
            <a:r>
              <a:rPr lang="en-US" dirty="0"/>
              <a:t>Would compute their sum from the values of the numbers </a:t>
            </a:r>
          </a:p>
          <a:p>
            <a:pPr lvl="1"/>
            <a:r>
              <a:rPr lang="en-US" dirty="0"/>
              <a:t>And store the sum at the occurrence of a clock pulse</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8</a:t>
            </a:fld>
            <a:endParaRPr lang="en-US"/>
          </a:p>
        </p:txBody>
      </p:sp>
    </p:spTree>
    <p:extLst>
      <p:ext uri="{BB962C8B-B14F-4D97-AF65-F5344CB8AC3E}">
        <p14:creationId xmlns:p14="http://schemas.microsoft.com/office/powerpoint/2010/main" val="3630191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Synchronous Sequential Circuits (3/3)</a:t>
            </a:r>
          </a:p>
        </p:txBody>
      </p:sp>
      <p:sp>
        <p:nvSpPr>
          <p:cNvPr id="3" name="Content Placeholder 2"/>
          <p:cNvSpPr>
            <a:spLocks noGrp="1"/>
          </p:cNvSpPr>
          <p:nvPr>
            <p:ph idx="1"/>
          </p:nvPr>
        </p:nvSpPr>
        <p:spPr>
          <a:xfrm>
            <a:off x="457200" y="1600200"/>
            <a:ext cx="8229600" cy="3047999"/>
          </a:xfrm>
        </p:spPr>
        <p:txBody>
          <a:bodyPr>
            <a:normAutofit fontScale="77500" lnSpcReduction="20000"/>
          </a:bodyPr>
          <a:lstStyle/>
          <a:p>
            <a:r>
              <a:rPr lang="en-US" dirty="0"/>
              <a:t>Synchronous sequential circuits that use clock pulses to control storage elements are called </a:t>
            </a:r>
            <a:r>
              <a:rPr lang="en-US" b="1" dirty="0"/>
              <a:t>clocked sequential circuits</a:t>
            </a:r>
          </a:p>
          <a:p>
            <a:r>
              <a:rPr lang="en-US" dirty="0"/>
              <a:t>They are called synchronous circuits because the activity within the circuit and the resulting updating of stored values is synchronized to the occurrence of clock pulses</a:t>
            </a:r>
          </a:p>
          <a:p>
            <a:r>
              <a:rPr lang="en-US" dirty="0"/>
              <a:t>The storage elements (memory) used in clocked sequential circuits are called </a:t>
            </a:r>
            <a:r>
              <a:rPr lang="en-US" b="1" dirty="0"/>
              <a:t>flip flops</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9</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413" y="4495800"/>
            <a:ext cx="8639175" cy="179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86213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Storage Elements</a:t>
            </a:r>
          </a:p>
        </p:txBody>
      </p:sp>
      <p:sp>
        <p:nvSpPr>
          <p:cNvPr id="3" name="Content Placeholder 2"/>
          <p:cNvSpPr>
            <a:spLocks noGrp="1"/>
          </p:cNvSpPr>
          <p:nvPr>
            <p:ph idx="1"/>
          </p:nvPr>
        </p:nvSpPr>
        <p:spPr/>
        <p:txBody>
          <a:bodyPr>
            <a:normAutofit fontScale="92500" lnSpcReduction="10000"/>
          </a:bodyPr>
          <a:lstStyle/>
          <a:p>
            <a:r>
              <a:rPr lang="en-US" dirty="0"/>
              <a:t>A storage element in a digital circuit can maintain a binary state indefinitely (as long as power is delivered to the circuit), until directed by an input signal to switch states</a:t>
            </a:r>
          </a:p>
          <a:p>
            <a:r>
              <a:rPr lang="en-US" dirty="0"/>
              <a:t>There are two types of storage elements</a:t>
            </a:r>
          </a:p>
          <a:p>
            <a:pPr lvl="1"/>
            <a:r>
              <a:rPr lang="en-US" dirty="0"/>
              <a:t>Latches</a:t>
            </a:r>
          </a:p>
          <a:p>
            <a:pPr lvl="2"/>
            <a:r>
              <a:rPr lang="en-US" dirty="0"/>
              <a:t>Storage elements that operate with signal levels are referred to as latches</a:t>
            </a:r>
          </a:p>
          <a:p>
            <a:pPr lvl="1"/>
            <a:r>
              <a:rPr lang="en-US" dirty="0"/>
              <a:t>Flip Flops</a:t>
            </a:r>
          </a:p>
          <a:p>
            <a:pPr lvl="2"/>
            <a:r>
              <a:rPr lang="en-US" dirty="0"/>
              <a:t>Storage elements that are controlled by a clock transition are flip-flops</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10</a:t>
            </a:fld>
            <a:endParaRPr lang="en-US"/>
          </a:p>
        </p:txBody>
      </p:sp>
    </p:spTree>
    <p:extLst>
      <p:ext uri="{BB962C8B-B14F-4D97-AF65-F5344CB8AC3E}">
        <p14:creationId xmlns:p14="http://schemas.microsoft.com/office/powerpoint/2010/main" val="1909603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Latches</a:t>
            </a:r>
          </a:p>
        </p:txBody>
      </p:sp>
      <p:sp>
        <p:nvSpPr>
          <p:cNvPr id="3" name="Content Placeholder 2"/>
          <p:cNvSpPr>
            <a:spLocks noGrp="1"/>
          </p:cNvSpPr>
          <p:nvPr>
            <p:ph idx="1"/>
          </p:nvPr>
        </p:nvSpPr>
        <p:spPr/>
        <p:txBody>
          <a:bodyPr>
            <a:normAutofit fontScale="85000" lnSpcReduction="10000"/>
          </a:bodyPr>
          <a:lstStyle/>
          <a:p>
            <a:r>
              <a:rPr lang="en-US" dirty="0"/>
              <a:t>Storage elements that operate with signal levels are referred to as latches</a:t>
            </a:r>
          </a:p>
          <a:p>
            <a:r>
              <a:rPr lang="en-US" dirty="0"/>
              <a:t>Latches are said to be level sensitive devices</a:t>
            </a:r>
          </a:p>
          <a:p>
            <a:r>
              <a:rPr lang="en-US" dirty="0"/>
              <a:t>Latches are used for the design of asynchronous sequential circuits</a:t>
            </a:r>
          </a:p>
          <a:p>
            <a:r>
              <a:rPr lang="en-US" dirty="0"/>
              <a:t>The knowledge of latches is important as they are the basic circuits from which all flip-flops are constructed</a:t>
            </a:r>
          </a:p>
          <a:p>
            <a:r>
              <a:rPr lang="en-US" dirty="0"/>
              <a:t>Here we will discuss two types of latches</a:t>
            </a:r>
          </a:p>
          <a:p>
            <a:pPr lvl="1"/>
            <a:r>
              <a:rPr lang="en-US" dirty="0"/>
              <a:t>SR Latch</a:t>
            </a:r>
          </a:p>
          <a:p>
            <a:pPr lvl="1"/>
            <a:r>
              <a:rPr lang="en-US" dirty="0"/>
              <a:t>D Latch</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11</a:t>
            </a:fld>
            <a:endParaRPr lang="en-US"/>
          </a:p>
        </p:txBody>
      </p:sp>
    </p:spTree>
    <p:extLst>
      <p:ext uri="{BB962C8B-B14F-4D97-AF65-F5344CB8AC3E}">
        <p14:creationId xmlns:p14="http://schemas.microsoft.com/office/powerpoint/2010/main" val="782595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SR Latch</a:t>
            </a:r>
          </a:p>
        </p:txBody>
      </p:sp>
      <p:sp>
        <p:nvSpPr>
          <p:cNvPr id="3" name="Content Placeholder 2"/>
          <p:cNvSpPr>
            <a:spLocks noGrp="1"/>
          </p:cNvSpPr>
          <p:nvPr>
            <p:ph idx="1"/>
          </p:nvPr>
        </p:nvSpPr>
        <p:spPr/>
        <p:txBody>
          <a:bodyPr>
            <a:normAutofit lnSpcReduction="10000"/>
          </a:bodyPr>
          <a:lstStyle/>
          <a:p>
            <a:r>
              <a:rPr lang="en-US" dirty="0"/>
              <a:t>The SR latch is a circuit with two cross-coupled NOR gates or two cross-coupled NAND gates</a:t>
            </a:r>
          </a:p>
          <a:p>
            <a:r>
              <a:rPr lang="en-US" dirty="0"/>
              <a:t>Two inputs</a:t>
            </a:r>
          </a:p>
          <a:p>
            <a:pPr lvl="1"/>
            <a:r>
              <a:rPr lang="en-US" dirty="0"/>
              <a:t>S (stands for set)</a:t>
            </a:r>
          </a:p>
          <a:p>
            <a:pPr lvl="1"/>
            <a:r>
              <a:rPr lang="en-US" dirty="0"/>
              <a:t>R (stands for reset)</a:t>
            </a:r>
          </a:p>
          <a:p>
            <a:r>
              <a:rPr lang="en-US" dirty="0"/>
              <a:t>Two outputs Q and Q’ determine two possible states</a:t>
            </a:r>
          </a:p>
          <a:p>
            <a:pPr lvl="1"/>
            <a:r>
              <a:rPr lang="en-US" dirty="0"/>
              <a:t>If Q = 1 latch is in set state</a:t>
            </a:r>
          </a:p>
          <a:p>
            <a:pPr lvl="1"/>
            <a:r>
              <a:rPr lang="en-US" dirty="0"/>
              <a:t>If Q = 0 latch is in reset state</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12</a:t>
            </a:fld>
            <a:endParaRPr lang="en-US"/>
          </a:p>
        </p:txBody>
      </p:sp>
    </p:spTree>
    <p:extLst>
      <p:ext uri="{BB962C8B-B14F-4D97-AF65-F5344CB8AC3E}">
        <p14:creationId xmlns:p14="http://schemas.microsoft.com/office/powerpoint/2010/main" val="3728197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SR Latch with NOR Gate (1/2)</a:t>
            </a:r>
          </a:p>
        </p:txBody>
      </p:sp>
      <p:sp>
        <p:nvSpPr>
          <p:cNvPr id="3" name="Content Placeholder 2"/>
          <p:cNvSpPr>
            <a:spLocks noGrp="1"/>
          </p:cNvSpPr>
          <p:nvPr>
            <p:ph idx="1"/>
          </p:nvPr>
        </p:nvSpPr>
        <p:spPr>
          <a:xfrm>
            <a:off x="457200" y="1219200"/>
            <a:ext cx="8229600" cy="5334000"/>
          </a:xfrm>
        </p:spPr>
        <p:txBody>
          <a:bodyPr>
            <a:normAutofit fontScale="77500" lnSpcReduction="20000"/>
          </a:bodyPr>
          <a:lstStyle/>
          <a:p>
            <a:r>
              <a:rPr lang="en-US" dirty="0"/>
              <a:t>Works on active high state</a:t>
            </a:r>
          </a:p>
          <a:p>
            <a:r>
              <a:rPr lang="en-US" dirty="0"/>
              <a:t>It is mandatory to connect R with the gate producing Q and S with the gate producing Q’</a:t>
            </a:r>
          </a:p>
          <a:p>
            <a:r>
              <a:rPr lang="en-US" dirty="0"/>
              <a:t>Case 1 (S = 0 R = 0)</a:t>
            </a:r>
          </a:p>
          <a:p>
            <a:pPr lvl="1"/>
            <a:r>
              <a:rPr lang="en-US" dirty="0"/>
              <a:t>No change in state</a:t>
            </a:r>
          </a:p>
          <a:p>
            <a:r>
              <a:rPr lang="en-US" dirty="0"/>
              <a:t>Case 2 (S = 0 R = 1)</a:t>
            </a:r>
          </a:p>
          <a:p>
            <a:pPr lvl="1"/>
            <a:r>
              <a:rPr lang="en-US" dirty="0"/>
              <a:t>Q = 0  Q’ = 1</a:t>
            </a:r>
          </a:p>
          <a:p>
            <a:pPr lvl="1"/>
            <a:r>
              <a:rPr lang="en-US" dirty="0"/>
              <a:t>Reset State</a:t>
            </a:r>
          </a:p>
          <a:p>
            <a:r>
              <a:rPr lang="en-US" dirty="0"/>
              <a:t>Case 3 (S = 1 R = 0)</a:t>
            </a:r>
          </a:p>
          <a:p>
            <a:pPr lvl="1"/>
            <a:r>
              <a:rPr lang="en-US" dirty="0"/>
              <a:t>Q = 1  Q’ = 0</a:t>
            </a:r>
          </a:p>
          <a:p>
            <a:pPr lvl="1"/>
            <a:r>
              <a:rPr lang="en-US" dirty="0"/>
              <a:t>Set State</a:t>
            </a:r>
          </a:p>
          <a:p>
            <a:r>
              <a:rPr lang="en-US" dirty="0"/>
              <a:t>Case 4 (S = 1 R = 1)</a:t>
            </a:r>
          </a:p>
          <a:p>
            <a:pPr lvl="1"/>
            <a:r>
              <a:rPr lang="en-US" dirty="0"/>
              <a:t>Q = 0  Q’ = 0</a:t>
            </a:r>
          </a:p>
          <a:p>
            <a:pPr lvl="1"/>
            <a:r>
              <a:rPr lang="en-US" dirty="0"/>
              <a:t>Practically Impossible</a:t>
            </a:r>
          </a:p>
          <a:p>
            <a:pPr lvl="1"/>
            <a:r>
              <a:rPr lang="en-US" dirty="0"/>
              <a:t>Indeterminate state</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13</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7473" y="2057399"/>
            <a:ext cx="4238625" cy="221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4648200"/>
            <a:ext cx="3219450" cy="145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14092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09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SR Latch with NOR Gate (2/2)</a:t>
            </a:r>
          </a:p>
        </p:txBody>
      </p:sp>
      <p:sp>
        <p:nvSpPr>
          <p:cNvPr id="3" name="Content Placeholder 2"/>
          <p:cNvSpPr>
            <a:spLocks noGrp="1"/>
          </p:cNvSpPr>
          <p:nvPr>
            <p:ph idx="1"/>
          </p:nvPr>
        </p:nvSpPr>
        <p:spPr/>
        <p:txBody>
          <a:bodyPr>
            <a:normAutofit fontScale="92500"/>
          </a:bodyPr>
          <a:lstStyle/>
          <a:p>
            <a:r>
              <a:rPr lang="en-US" dirty="0"/>
              <a:t>Under normal conditions, both inputs of the latch remain at 0 unless the state has to be changed</a:t>
            </a:r>
          </a:p>
          <a:p>
            <a:r>
              <a:rPr lang="en-US" dirty="0"/>
              <a:t>The application of a momentary 1 to the </a:t>
            </a:r>
            <a:r>
              <a:rPr lang="en-US" i="1" dirty="0"/>
              <a:t>S </a:t>
            </a:r>
            <a:r>
              <a:rPr lang="en-US" dirty="0"/>
              <a:t>input causes the latch to go to the set state</a:t>
            </a:r>
          </a:p>
          <a:p>
            <a:r>
              <a:rPr lang="en-US" dirty="0"/>
              <a:t>The </a:t>
            </a:r>
            <a:r>
              <a:rPr lang="en-US" i="1" dirty="0"/>
              <a:t>S </a:t>
            </a:r>
            <a:r>
              <a:rPr lang="en-US" dirty="0"/>
              <a:t>input must go back to 0 before any other changes take place, in order to avoid the occurrence of an undefined next state</a:t>
            </a:r>
          </a:p>
          <a:p>
            <a:r>
              <a:rPr lang="en-US" dirty="0"/>
              <a:t>The application of a momentary 1 to the </a:t>
            </a:r>
            <a:r>
              <a:rPr lang="en-US" i="1" dirty="0"/>
              <a:t>R </a:t>
            </a:r>
            <a:r>
              <a:rPr lang="en-US" dirty="0"/>
              <a:t>input causes the latch to go to the Reset state</a:t>
            </a:r>
          </a:p>
          <a:p>
            <a:endParaRPr lang="en-US" dirty="0"/>
          </a:p>
          <a:p>
            <a:endParaRPr lang="en-US" dirty="0"/>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14</a:t>
            </a:fld>
            <a:endParaRPr lang="en-US"/>
          </a:p>
        </p:txBody>
      </p:sp>
    </p:spTree>
    <p:extLst>
      <p:ext uri="{BB962C8B-B14F-4D97-AF65-F5344CB8AC3E}">
        <p14:creationId xmlns:p14="http://schemas.microsoft.com/office/powerpoint/2010/main" val="16733531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SR Latch with NAND Gate (1/2)</a:t>
            </a:r>
          </a:p>
        </p:txBody>
      </p:sp>
      <p:sp>
        <p:nvSpPr>
          <p:cNvPr id="3" name="Content Placeholder 2"/>
          <p:cNvSpPr>
            <a:spLocks noGrp="1"/>
          </p:cNvSpPr>
          <p:nvPr>
            <p:ph idx="1"/>
          </p:nvPr>
        </p:nvSpPr>
        <p:spPr>
          <a:xfrm>
            <a:off x="457200" y="1219200"/>
            <a:ext cx="8229600" cy="5334000"/>
          </a:xfrm>
        </p:spPr>
        <p:txBody>
          <a:bodyPr>
            <a:normAutofit fontScale="77500" lnSpcReduction="20000"/>
          </a:bodyPr>
          <a:lstStyle/>
          <a:p>
            <a:r>
              <a:rPr lang="en-US" dirty="0"/>
              <a:t>Works on active low state</a:t>
            </a:r>
          </a:p>
          <a:p>
            <a:r>
              <a:rPr lang="en-US" dirty="0"/>
              <a:t>It is mandatory to connect S with the gate producing Q and R with the gate producing Q’</a:t>
            </a:r>
          </a:p>
          <a:p>
            <a:r>
              <a:rPr lang="en-US" dirty="0"/>
              <a:t>Case 1 (S = 0 R = 0)</a:t>
            </a:r>
          </a:p>
          <a:p>
            <a:pPr lvl="1"/>
            <a:r>
              <a:rPr lang="en-US" dirty="0"/>
              <a:t>Q = 1  Q’ = 1</a:t>
            </a:r>
          </a:p>
          <a:p>
            <a:pPr lvl="1"/>
            <a:r>
              <a:rPr lang="en-US" dirty="0"/>
              <a:t>Practically Impossible</a:t>
            </a:r>
          </a:p>
          <a:p>
            <a:pPr lvl="1"/>
            <a:r>
              <a:rPr lang="en-US" dirty="0"/>
              <a:t>Indeterminate state</a:t>
            </a:r>
          </a:p>
          <a:p>
            <a:r>
              <a:rPr lang="en-US" dirty="0"/>
              <a:t>Case 2 (S = 0 R = 1)</a:t>
            </a:r>
          </a:p>
          <a:p>
            <a:pPr lvl="1"/>
            <a:r>
              <a:rPr lang="en-US" dirty="0"/>
              <a:t>Q = 1  Q’ = 0</a:t>
            </a:r>
          </a:p>
          <a:p>
            <a:pPr lvl="1"/>
            <a:r>
              <a:rPr lang="en-US" dirty="0"/>
              <a:t>Set State</a:t>
            </a:r>
          </a:p>
          <a:p>
            <a:r>
              <a:rPr lang="en-US" dirty="0"/>
              <a:t>Case 3 (S = 1 R = 0)</a:t>
            </a:r>
          </a:p>
          <a:p>
            <a:pPr lvl="1"/>
            <a:r>
              <a:rPr lang="en-US" dirty="0"/>
              <a:t>Q = 0  Q’ = 1</a:t>
            </a:r>
          </a:p>
          <a:p>
            <a:pPr lvl="1"/>
            <a:r>
              <a:rPr lang="en-US" dirty="0"/>
              <a:t>Reset State</a:t>
            </a:r>
          </a:p>
          <a:p>
            <a:r>
              <a:rPr lang="en-US" dirty="0"/>
              <a:t>Case 4 (S = 1 R = 1)</a:t>
            </a:r>
          </a:p>
          <a:p>
            <a:pPr lvl="1"/>
            <a:r>
              <a:rPr lang="en-US" dirty="0"/>
              <a:t>No change in state</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15</a:t>
            </a:fld>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4399" y="2171700"/>
            <a:ext cx="4219575" cy="186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3987" y="4543425"/>
            <a:ext cx="3200400" cy="147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38617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SR Latch with NAND Gate (2/2)</a:t>
            </a:r>
          </a:p>
        </p:txBody>
      </p:sp>
      <p:sp>
        <p:nvSpPr>
          <p:cNvPr id="3" name="Content Placeholder 2"/>
          <p:cNvSpPr>
            <a:spLocks noGrp="1"/>
          </p:cNvSpPr>
          <p:nvPr>
            <p:ph idx="1"/>
          </p:nvPr>
        </p:nvSpPr>
        <p:spPr/>
        <p:txBody>
          <a:bodyPr>
            <a:normAutofit fontScale="92500" lnSpcReduction="20000"/>
          </a:bodyPr>
          <a:lstStyle/>
          <a:p>
            <a:r>
              <a:rPr lang="en-US" dirty="0"/>
              <a:t>Also called S’R’ Latch</a:t>
            </a:r>
          </a:p>
          <a:p>
            <a:r>
              <a:rPr lang="en-US" dirty="0"/>
              <a:t>Under normal conditions, both inputs of the latch remain at 1 unless the state has to be changed</a:t>
            </a:r>
          </a:p>
          <a:p>
            <a:r>
              <a:rPr lang="en-US" dirty="0"/>
              <a:t>The application of a momentary 0 to the </a:t>
            </a:r>
            <a:r>
              <a:rPr lang="en-US" i="1" dirty="0"/>
              <a:t>S </a:t>
            </a:r>
            <a:r>
              <a:rPr lang="en-US" dirty="0"/>
              <a:t>input causes the latch to go to the set state</a:t>
            </a:r>
          </a:p>
          <a:p>
            <a:r>
              <a:rPr lang="en-US" dirty="0"/>
              <a:t>The </a:t>
            </a:r>
            <a:r>
              <a:rPr lang="en-US" i="1" dirty="0"/>
              <a:t>S </a:t>
            </a:r>
            <a:r>
              <a:rPr lang="en-US" dirty="0"/>
              <a:t>input must go back to 1 before any other changes take place, in order to avoid the occurrence of an undefined next state</a:t>
            </a:r>
          </a:p>
          <a:p>
            <a:r>
              <a:rPr lang="en-US" dirty="0"/>
              <a:t>The application of a momentary 0 to the </a:t>
            </a:r>
            <a:r>
              <a:rPr lang="en-US" i="1" dirty="0"/>
              <a:t>R </a:t>
            </a:r>
            <a:r>
              <a:rPr lang="en-US" dirty="0"/>
              <a:t>input causes the latch to go to the Reset state</a:t>
            </a:r>
          </a:p>
          <a:p>
            <a:endParaRPr lang="en-US" dirty="0"/>
          </a:p>
          <a:p>
            <a:endParaRPr lang="en-US" dirty="0"/>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16</a:t>
            </a:fld>
            <a:endParaRPr lang="en-US"/>
          </a:p>
        </p:txBody>
      </p:sp>
    </p:spTree>
    <p:extLst>
      <p:ext uri="{BB962C8B-B14F-4D97-AF65-F5344CB8AC3E}">
        <p14:creationId xmlns:p14="http://schemas.microsoft.com/office/powerpoint/2010/main" val="27374246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lstStyle/>
          <a:p>
            <a:r>
              <a:rPr lang="en-US" dirty="0"/>
              <a:t>SR Latch with Enable Input (1/2)</a:t>
            </a:r>
          </a:p>
        </p:txBody>
      </p:sp>
      <p:sp>
        <p:nvSpPr>
          <p:cNvPr id="3" name="Content Placeholder 2"/>
          <p:cNvSpPr>
            <a:spLocks noGrp="1"/>
          </p:cNvSpPr>
          <p:nvPr>
            <p:ph idx="1"/>
          </p:nvPr>
        </p:nvSpPr>
        <p:spPr>
          <a:xfrm>
            <a:off x="457200" y="1371600"/>
            <a:ext cx="8229600" cy="4754563"/>
          </a:xfrm>
        </p:spPr>
        <p:txBody>
          <a:bodyPr>
            <a:normAutofit fontScale="85000" lnSpcReduction="10000"/>
          </a:bodyPr>
          <a:lstStyle/>
          <a:p>
            <a:r>
              <a:rPr lang="en-US" dirty="0"/>
              <a:t>The operation of the basic SR latch can be modified by providing an additional input signal that determines (controls) when the state of the latch can be changed by determining whether S and R can affect the circuit</a:t>
            </a:r>
          </a:p>
          <a:p>
            <a:endParaRPr lang="en-US" dirty="0"/>
          </a:p>
          <a:p>
            <a:endParaRPr lang="en-US" dirty="0"/>
          </a:p>
          <a:p>
            <a:endParaRPr lang="en-US" dirty="0"/>
          </a:p>
          <a:p>
            <a:endParaRPr lang="en-US" dirty="0"/>
          </a:p>
          <a:p>
            <a:endParaRPr lang="en-US" dirty="0"/>
          </a:p>
          <a:p>
            <a:r>
              <a:rPr lang="en-US" dirty="0"/>
              <a:t>The outputs of the NAND gates stay at the logic-1 level as long as the enable signal remains at 0</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17</a:t>
            </a:fld>
            <a:endParaRPr 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2971800"/>
            <a:ext cx="5210175" cy="216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00362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lstStyle/>
          <a:p>
            <a:r>
              <a:rPr lang="en-US" dirty="0"/>
              <a:t>SR Latch with Enable Input (2/2)</a:t>
            </a:r>
          </a:p>
        </p:txBody>
      </p:sp>
      <p:sp>
        <p:nvSpPr>
          <p:cNvPr id="3" name="Content Placeholder 2"/>
          <p:cNvSpPr>
            <a:spLocks noGrp="1"/>
          </p:cNvSpPr>
          <p:nvPr>
            <p:ph idx="1"/>
          </p:nvPr>
        </p:nvSpPr>
        <p:spPr>
          <a:xfrm>
            <a:off x="457200" y="1371600"/>
            <a:ext cx="8229600" cy="4953000"/>
          </a:xfrm>
        </p:spPr>
        <p:txBody>
          <a:bodyPr>
            <a:normAutofit fontScale="77500" lnSpcReduction="20000"/>
          </a:bodyPr>
          <a:lstStyle/>
          <a:p>
            <a:r>
              <a:rPr lang="en-US" dirty="0"/>
              <a:t>En = 0; S = R = X</a:t>
            </a:r>
          </a:p>
          <a:p>
            <a:pPr lvl="1"/>
            <a:r>
              <a:rPr lang="en-US" dirty="0"/>
              <a:t>No change in state</a:t>
            </a:r>
          </a:p>
          <a:p>
            <a:r>
              <a:rPr lang="en-US" dirty="0"/>
              <a:t>En = 1; S = 0; R = 0</a:t>
            </a:r>
          </a:p>
          <a:p>
            <a:pPr lvl="1"/>
            <a:r>
              <a:rPr lang="en-US" dirty="0"/>
              <a:t>No change in state</a:t>
            </a:r>
          </a:p>
          <a:p>
            <a:r>
              <a:rPr lang="en-US" dirty="0"/>
              <a:t>En = 1; S = 0; R = 1</a:t>
            </a:r>
          </a:p>
          <a:p>
            <a:pPr lvl="1"/>
            <a:r>
              <a:rPr lang="en-US" dirty="0"/>
              <a:t>Q = 0  Q’ = 1</a:t>
            </a:r>
          </a:p>
          <a:p>
            <a:pPr lvl="1"/>
            <a:r>
              <a:rPr lang="en-US" dirty="0"/>
              <a:t>Reset State</a:t>
            </a:r>
          </a:p>
          <a:p>
            <a:r>
              <a:rPr lang="en-US" dirty="0"/>
              <a:t>En = 1; S = 1; R = 0</a:t>
            </a:r>
          </a:p>
          <a:p>
            <a:pPr lvl="1"/>
            <a:r>
              <a:rPr lang="en-US" dirty="0"/>
              <a:t>Q = 1  Q’ = 0</a:t>
            </a:r>
          </a:p>
          <a:p>
            <a:pPr lvl="1"/>
            <a:r>
              <a:rPr lang="en-US" dirty="0"/>
              <a:t>Set State</a:t>
            </a:r>
          </a:p>
          <a:p>
            <a:r>
              <a:rPr lang="en-US" dirty="0"/>
              <a:t>En = 1; S = 1; R = 1</a:t>
            </a:r>
          </a:p>
          <a:p>
            <a:pPr lvl="1"/>
            <a:r>
              <a:rPr lang="en-US" dirty="0"/>
              <a:t>Q = 1  Q’ = 1</a:t>
            </a:r>
          </a:p>
          <a:p>
            <a:pPr lvl="1"/>
            <a:r>
              <a:rPr lang="en-US" dirty="0"/>
              <a:t>Practically Impossible </a:t>
            </a:r>
          </a:p>
          <a:p>
            <a:pPr lvl="1"/>
            <a:r>
              <a:rPr lang="en-US" dirty="0"/>
              <a:t>Indeterminate state</a:t>
            </a:r>
          </a:p>
          <a:p>
            <a:pPr lvl="1"/>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18</a:t>
            </a:fld>
            <a:endParaRPr 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6200" y="1436794"/>
            <a:ext cx="5029200" cy="2087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4114800"/>
            <a:ext cx="3181350" cy="157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58580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1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 Latch (1/2)</a:t>
            </a:r>
          </a:p>
        </p:txBody>
      </p:sp>
      <p:sp>
        <p:nvSpPr>
          <p:cNvPr id="3" name="Content Placeholder 2"/>
          <p:cNvSpPr>
            <a:spLocks noGrp="1"/>
          </p:cNvSpPr>
          <p:nvPr>
            <p:ph idx="1"/>
          </p:nvPr>
        </p:nvSpPr>
        <p:spPr>
          <a:xfrm>
            <a:off x="457200" y="1447800"/>
            <a:ext cx="8229600" cy="2819400"/>
          </a:xfrm>
        </p:spPr>
        <p:txBody>
          <a:bodyPr>
            <a:normAutofit fontScale="92500" lnSpcReduction="10000"/>
          </a:bodyPr>
          <a:lstStyle/>
          <a:p>
            <a:r>
              <a:rPr lang="en-US" dirty="0"/>
              <a:t>One way to eliminate the undesirable condition of the indeterminate state in the SR latch is to ensure that inputs S and R are never equal to 1 at the same time</a:t>
            </a:r>
          </a:p>
          <a:p>
            <a:r>
              <a:rPr lang="en-US" dirty="0"/>
              <a:t>This is done in the D latch (which is also called transparent latch)</a:t>
            </a:r>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19</a:t>
            </a:fld>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4114800"/>
            <a:ext cx="6324600" cy="225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22695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 Latch (2/2)</a:t>
            </a:r>
          </a:p>
        </p:txBody>
      </p:sp>
      <p:sp>
        <p:nvSpPr>
          <p:cNvPr id="3" name="Content Placeholder 2"/>
          <p:cNvSpPr>
            <a:spLocks noGrp="1"/>
          </p:cNvSpPr>
          <p:nvPr>
            <p:ph idx="1"/>
          </p:nvPr>
        </p:nvSpPr>
        <p:spPr>
          <a:xfrm>
            <a:off x="228600" y="1600200"/>
            <a:ext cx="3886200" cy="4525963"/>
          </a:xfrm>
        </p:spPr>
        <p:txBody>
          <a:bodyPr>
            <a:normAutofit fontScale="92500"/>
          </a:bodyPr>
          <a:lstStyle/>
          <a:p>
            <a:r>
              <a:rPr lang="en-US" dirty="0"/>
              <a:t>Case 1 (En = 0; D = X)</a:t>
            </a:r>
          </a:p>
          <a:p>
            <a:pPr lvl="1"/>
            <a:r>
              <a:rPr lang="en-US" dirty="0"/>
              <a:t>No change in state</a:t>
            </a:r>
          </a:p>
          <a:p>
            <a:r>
              <a:rPr lang="en-US" dirty="0"/>
              <a:t>Case 2 (En = 1; D = 0)</a:t>
            </a:r>
          </a:p>
          <a:p>
            <a:pPr lvl="1"/>
            <a:r>
              <a:rPr lang="en-US" dirty="0"/>
              <a:t>Q = 0</a:t>
            </a:r>
          </a:p>
          <a:p>
            <a:pPr lvl="1"/>
            <a:r>
              <a:rPr lang="en-US" dirty="0"/>
              <a:t>Reset State</a:t>
            </a:r>
          </a:p>
          <a:p>
            <a:r>
              <a:rPr lang="en-US" dirty="0"/>
              <a:t>Case 3 (En = 1; D = 1)</a:t>
            </a:r>
          </a:p>
          <a:p>
            <a:pPr lvl="1"/>
            <a:r>
              <a:rPr lang="en-US" dirty="0"/>
              <a:t>Q = 1</a:t>
            </a:r>
          </a:p>
          <a:p>
            <a:pPr lvl="1"/>
            <a:r>
              <a:rPr lang="en-US" dirty="0"/>
              <a:t>Set State</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20</a:t>
            </a:fld>
            <a:endParaRPr lang="en-US"/>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1715533"/>
            <a:ext cx="4800600" cy="17134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1087" y="4267200"/>
            <a:ext cx="3248025" cy="130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50914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2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Graphical Symbols of Latches</a:t>
            </a:r>
          </a:p>
        </p:txBody>
      </p:sp>
      <p:sp>
        <p:nvSpPr>
          <p:cNvPr id="3" name="Content Placeholder 2"/>
          <p:cNvSpPr>
            <a:spLocks noGrp="1"/>
          </p:cNvSpPr>
          <p:nvPr>
            <p:ph idx="1"/>
          </p:nvPr>
        </p:nvSpPr>
        <p:spPr>
          <a:xfrm>
            <a:off x="457200" y="1600201"/>
            <a:ext cx="8229600" cy="2362200"/>
          </a:xfrm>
        </p:spPr>
        <p:txBody>
          <a:bodyPr>
            <a:normAutofit/>
          </a:bodyPr>
          <a:lstStyle/>
          <a:p>
            <a:r>
              <a:rPr lang="en-US" dirty="0"/>
              <a:t>Inputs to the left</a:t>
            </a:r>
          </a:p>
          <a:p>
            <a:r>
              <a:rPr lang="en-US" dirty="0"/>
              <a:t>Outputs to the right</a:t>
            </a:r>
          </a:p>
          <a:p>
            <a:r>
              <a:rPr lang="en-US" dirty="0"/>
              <a:t>SR latch is constructed with NOR gates</a:t>
            </a:r>
          </a:p>
          <a:p>
            <a:r>
              <a:rPr lang="en-US" dirty="0"/>
              <a:t>S’R’ latch is constructed with NAND gate</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21</a:t>
            </a:fld>
            <a:endParaRPr lang="en-US"/>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4267200"/>
            <a:ext cx="7667625" cy="186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777568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01B14F-C37B-D44A-3945-95C5EA951065}"/>
              </a:ext>
            </a:extLst>
          </p:cNvPr>
          <p:cNvSpPr>
            <a:spLocks noGrp="1"/>
          </p:cNvSpPr>
          <p:nvPr>
            <p:ph type="dt" sz="half" idx="10"/>
          </p:nvPr>
        </p:nvSpPr>
        <p:spPr/>
        <p:txBody>
          <a:bodyPr/>
          <a:lstStyle/>
          <a:p>
            <a:r>
              <a:rPr lang="en-US"/>
              <a:t>EE227 - DLD</a:t>
            </a:r>
          </a:p>
        </p:txBody>
      </p:sp>
      <p:sp>
        <p:nvSpPr>
          <p:cNvPr id="5" name="Footer Placeholder 4">
            <a:extLst>
              <a:ext uri="{FF2B5EF4-FFF2-40B4-BE49-F238E27FC236}">
                <a16:creationId xmlns:a16="http://schemas.microsoft.com/office/drawing/2014/main" id="{C267A939-9BC7-C182-B059-3116A4197169}"/>
              </a:ext>
            </a:extLst>
          </p:cNvPr>
          <p:cNvSpPr>
            <a:spLocks noGrp="1"/>
          </p:cNvSpPr>
          <p:nvPr>
            <p:ph type="ftr" sz="quarter" idx="11"/>
          </p:nvPr>
        </p:nvSpPr>
        <p:spPr/>
        <p:txBody>
          <a:bodyPr/>
          <a:lstStyle/>
          <a:p>
            <a:r>
              <a:rPr lang="en-US"/>
              <a:t>Course Instructor : Waqar Baig</a:t>
            </a:r>
            <a:endParaRPr lang="en-US" dirty="0"/>
          </a:p>
        </p:txBody>
      </p:sp>
      <p:sp>
        <p:nvSpPr>
          <p:cNvPr id="6" name="Slide Number Placeholder 5">
            <a:extLst>
              <a:ext uri="{FF2B5EF4-FFF2-40B4-BE49-F238E27FC236}">
                <a16:creationId xmlns:a16="http://schemas.microsoft.com/office/drawing/2014/main" id="{7FCAA6EC-2CFA-C308-5127-E565A6F5BA70}"/>
              </a:ext>
            </a:extLst>
          </p:cNvPr>
          <p:cNvSpPr>
            <a:spLocks noGrp="1"/>
          </p:cNvSpPr>
          <p:nvPr>
            <p:ph type="sldNum" sz="quarter" idx="12"/>
          </p:nvPr>
        </p:nvSpPr>
        <p:spPr/>
        <p:txBody>
          <a:bodyPr/>
          <a:lstStyle/>
          <a:p>
            <a:fld id="{CBE6402E-3189-41C4-BB36-EE6F934C63A5}" type="slidenum">
              <a:rPr lang="en-US" smtClean="0"/>
              <a:t>22</a:t>
            </a:fld>
            <a:endParaRPr lang="en-US"/>
          </a:p>
        </p:txBody>
      </p:sp>
      <p:pic>
        <p:nvPicPr>
          <p:cNvPr id="7" name="Picture 6">
            <a:extLst>
              <a:ext uri="{FF2B5EF4-FFF2-40B4-BE49-F238E27FC236}">
                <a16:creationId xmlns:a16="http://schemas.microsoft.com/office/drawing/2014/main" id="{C2D31344-12E9-1159-2A14-3DD5F410C6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19" y="973433"/>
            <a:ext cx="9006961" cy="4911134"/>
          </a:xfrm>
          <a:prstGeom prst="rect">
            <a:avLst/>
          </a:prstGeom>
        </p:spPr>
      </p:pic>
      <p:pic>
        <p:nvPicPr>
          <p:cNvPr id="3" name="Picture 3">
            <a:extLst>
              <a:ext uri="{FF2B5EF4-FFF2-40B4-BE49-F238E27FC236}">
                <a16:creationId xmlns:a16="http://schemas.microsoft.com/office/drawing/2014/main" id="{9EA14E1E-FA9F-E10D-A16A-B86AE8FCAE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4902" y="1835275"/>
            <a:ext cx="4039098" cy="2821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08763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01B14F-C37B-D44A-3945-95C5EA951065}"/>
              </a:ext>
            </a:extLst>
          </p:cNvPr>
          <p:cNvSpPr>
            <a:spLocks noGrp="1"/>
          </p:cNvSpPr>
          <p:nvPr>
            <p:ph type="dt" sz="half" idx="10"/>
          </p:nvPr>
        </p:nvSpPr>
        <p:spPr/>
        <p:txBody>
          <a:bodyPr/>
          <a:lstStyle/>
          <a:p>
            <a:r>
              <a:rPr lang="en-US"/>
              <a:t>EE227 - DLD</a:t>
            </a:r>
          </a:p>
        </p:txBody>
      </p:sp>
      <p:sp>
        <p:nvSpPr>
          <p:cNvPr id="5" name="Footer Placeholder 4">
            <a:extLst>
              <a:ext uri="{FF2B5EF4-FFF2-40B4-BE49-F238E27FC236}">
                <a16:creationId xmlns:a16="http://schemas.microsoft.com/office/drawing/2014/main" id="{C267A939-9BC7-C182-B059-3116A4197169}"/>
              </a:ext>
            </a:extLst>
          </p:cNvPr>
          <p:cNvSpPr>
            <a:spLocks noGrp="1"/>
          </p:cNvSpPr>
          <p:nvPr>
            <p:ph type="ftr" sz="quarter" idx="11"/>
          </p:nvPr>
        </p:nvSpPr>
        <p:spPr/>
        <p:txBody>
          <a:bodyPr/>
          <a:lstStyle/>
          <a:p>
            <a:r>
              <a:rPr lang="en-US"/>
              <a:t>Course Instructor : Waqar Baig</a:t>
            </a:r>
            <a:endParaRPr lang="en-US" dirty="0"/>
          </a:p>
        </p:txBody>
      </p:sp>
      <p:sp>
        <p:nvSpPr>
          <p:cNvPr id="6" name="Slide Number Placeholder 5">
            <a:extLst>
              <a:ext uri="{FF2B5EF4-FFF2-40B4-BE49-F238E27FC236}">
                <a16:creationId xmlns:a16="http://schemas.microsoft.com/office/drawing/2014/main" id="{7FCAA6EC-2CFA-C308-5127-E565A6F5BA70}"/>
              </a:ext>
            </a:extLst>
          </p:cNvPr>
          <p:cNvSpPr>
            <a:spLocks noGrp="1"/>
          </p:cNvSpPr>
          <p:nvPr>
            <p:ph type="sldNum" sz="quarter" idx="12"/>
          </p:nvPr>
        </p:nvSpPr>
        <p:spPr/>
        <p:txBody>
          <a:bodyPr/>
          <a:lstStyle/>
          <a:p>
            <a:fld id="{CBE6402E-3189-41C4-BB36-EE6F934C63A5}" type="slidenum">
              <a:rPr lang="en-US" smtClean="0"/>
              <a:t>23</a:t>
            </a:fld>
            <a:endParaRPr lang="en-US"/>
          </a:p>
        </p:txBody>
      </p:sp>
      <p:pic>
        <p:nvPicPr>
          <p:cNvPr id="2" name="Picture 1">
            <a:extLst>
              <a:ext uri="{FF2B5EF4-FFF2-40B4-BE49-F238E27FC236}">
                <a16:creationId xmlns:a16="http://schemas.microsoft.com/office/drawing/2014/main" id="{96D75EF7-A281-5B9D-61FD-181F845564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151" y="1065019"/>
            <a:ext cx="8687698" cy="4727961"/>
          </a:xfrm>
          <a:prstGeom prst="rect">
            <a:avLst/>
          </a:prstGeom>
        </p:spPr>
      </p:pic>
      <p:pic>
        <p:nvPicPr>
          <p:cNvPr id="7" name="Picture 3">
            <a:extLst>
              <a:ext uri="{FF2B5EF4-FFF2-40B4-BE49-F238E27FC236}">
                <a16:creationId xmlns:a16="http://schemas.microsoft.com/office/drawing/2014/main" id="{9560F934-246D-5BD2-0258-885B9E272F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9281" y="2152836"/>
            <a:ext cx="3808228" cy="2528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71652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01B14F-C37B-D44A-3945-95C5EA951065}"/>
              </a:ext>
            </a:extLst>
          </p:cNvPr>
          <p:cNvSpPr>
            <a:spLocks noGrp="1"/>
          </p:cNvSpPr>
          <p:nvPr>
            <p:ph type="dt" sz="half" idx="10"/>
          </p:nvPr>
        </p:nvSpPr>
        <p:spPr/>
        <p:txBody>
          <a:bodyPr/>
          <a:lstStyle/>
          <a:p>
            <a:r>
              <a:rPr lang="en-US"/>
              <a:t>EE227 - DLD</a:t>
            </a:r>
          </a:p>
        </p:txBody>
      </p:sp>
      <p:sp>
        <p:nvSpPr>
          <p:cNvPr id="5" name="Footer Placeholder 4">
            <a:extLst>
              <a:ext uri="{FF2B5EF4-FFF2-40B4-BE49-F238E27FC236}">
                <a16:creationId xmlns:a16="http://schemas.microsoft.com/office/drawing/2014/main" id="{C267A939-9BC7-C182-B059-3116A4197169}"/>
              </a:ext>
            </a:extLst>
          </p:cNvPr>
          <p:cNvSpPr>
            <a:spLocks noGrp="1"/>
          </p:cNvSpPr>
          <p:nvPr>
            <p:ph type="ftr" sz="quarter" idx="11"/>
          </p:nvPr>
        </p:nvSpPr>
        <p:spPr/>
        <p:txBody>
          <a:bodyPr/>
          <a:lstStyle/>
          <a:p>
            <a:r>
              <a:rPr lang="en-US"/>
              <a:t>Course Instructor : Waqar Baig</a:t>
            </a:r>
            <a:endParaRPr lang="en-US" dirty="0"/>
          </a:p>
        </p:txBody>
      </p:sp>
      <p:sp>
        <p:nvSpPr>
          <p:cNvPr id="6" name="Slide Number Placeholder 5">
            <a:extLst>
              <a:ext uri="{FF2B5EF4-FFF2-40B4-BE49-F238E27FC236}">
                <a16:creationId xmlns:a16="http://schemas.microsoft.com/office/drawing/2014/main" id="{7FCAA6EC-2CFA-C308-5127-E565A6F5BA70}"/>
              </a:ext>
            </a:extLst>
          </p:cNvPr>
          <p:cNvSpPr>
            <a:spLocks noGrp="1"/>
          </p:cNvSpPr>
          <p:nvPr>
            <p:ph type="sldNum" sz="quarter" idx="12"/>
          </p:nvPr>
        </p:nvSpPr>
        <p:spPr/>
        <p:txBody>
          <a:bodyPr/>
          <a:lstStyle/>
          <a:p>
            <a:fld id="{CBE6402E-3189-41C4-BB36-EE6F934C63A5}" type="slidenum">
              <a:rPr lang="en-US" smtClean="0"/>
              <a:t>24</a:t>
            </a:fld>
            <a:endParaRPr lang="en-US"/>
          </a:p>
        </p:txBody>
      </p:sp>
      <p:pic>
        <p:nvPicPr>
          <p:cNvPr id="2" name="Picture 1">
            <a:extLst>
              <a:ext uri="{FF2B5EF4-FFF2-40B4-BE49-F238E27FC236}">
                <a16:creationId xmlns:a16="http://schemas.microsoft.com/office/drawing/2014/main" id="{62D04672-8A76-75D5-80F3-19A7147471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30" y="966995"/>
            <a:ext cx="9047940" cy="4924009"/>
          </a:xfrm>
          <a:prstGeom prst="rect">
            <a:avLst/>
          </a:prstGeom>
        </p:spPr>
      </p:pic>
      <p:pic>
        <p:nvPicPr>
          <p:cNvPr id="7" name="Picture 2">
            <a:extLst>
              <a:ext uri="{FF2B5EF4-FFF2-40B4-BE49-F238E27FC236}">
                <a16:creationId xmlns:a16="http://schemas.microsoft.com/office/drawing/2014/main" id="{2E4C6681-8147-B21F-FF35-55DAFFDC9B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5098" y="2266078"/>
            <a:ext cx="4040872" cy="2988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514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01B14F-C37B-D44A-3945-95C5EA951065}"/>
              </a:ext>
            </a:extLst>
          </p:cNvPr>
          <p:cNvSpPr>
            <a:spLocks noGrp="1"/>
          </p:cNvSpPr>
          <p:nvPr>
            <p:ph type="dt" sz="half" idx="10"/>
          </p:nvPr>
        </p:nvSpPr>
        <p:spPr/>
        <p:txBody>
          <a:bodyPr/>
          <a:lstStyle/>
          <a:p>
            <a:r>
              <a:rPr lang="en-US"/>
              <a:t>EE227 - DLD</a:t>
            </a:r>
          </a:p>
        </p:txBody>
      </p:sp>
      <p:sp>
        <p:nvSpPr>
          <p:cNvPr id="5" name="Footer Placeholder 4">
            <a:extLst>
              <a:ext uri="{FF2B5EF4-FFF2-40B4-BE49-F238E27FC236}">
                <a16:creationId xmlns:a16="http://schemas.microsoft.com/office/drawing/2014/main" id="{C267A939-9BC7-C182-B059-3116A4197169}"/>
              </a:ext>
            </a:extLst>
          </p:cNvPr>
          <p:cNvSpPr>
            <a:spLocks noGrp="1"/>
          </p:cNvSpPr>
          <p:nvPr>
            <p:ph type="ftr" sz="quarter" idx="11"/>
          </p:nvPr>
        </p:nvSpPr>
        <p:spPr/>
        <p:txBody>
          <a:bodyPr/>
          <a:lstStyle/>
          <a:p>
            <a:r>
              <a:rPr lang="en-US"/>
              <a:t>Course Instructor : Waqar Baig</a:t>
            </a:r>
            <a:endParaRPr lang="en-US" dirty="0"/>
          </a:p>
        </p:txBody>
      </p:sp>
      <p:sp>
        <p:nvSpPr>
          <p:cNvPr id="6" name="Slide Number Placeholder 5">
            <a:extLst>
              <a:ext uri="{FF2B5EF4-FFF2-40B4-BE49-F238E27FC236}">
                <a16:creationId xmlns:a16="http://schemas.microsoft.com/office/drawing/2014/main" id="{7FCAA6EC-2CFA-C308-5127-E565A6F5BA70}"/>
              </a:ext>
            </a:extLst>
          </p:cNvPr>
          <p:cNvSpPr>
            <a:spLocks noGrp="1"/>
          </p:cNvSpPr>
          <p:nvPr>
            <p:ph type="sldNum" sz="quarter" idx="12"/>
          </p:nvPr>
        </p:nvSpPr>
        <p:spPr/>
        <p:txBody>
          <a:bodyPr/>
          <a:lstStyle/>
          <a:p>
            <a:fld id="{CBE6402E-3189-41C4-BB36-EE6F934C63A5}" type="slidenum">
              <a:rPr lang="en-US" smtClean="0"/>
              <a:t>25</a:t>
            </a:fld>
            <a:endParaRPr lang="en-US"/>
          </a:p>
        </p:txBody>
      </p:sp>
      <p:pic>
        <p:nvPicPr>
          <p:cNvPr id="2" name="Picture 1">
            <a:extLst>
              <a:ext uri="{FF2B5EF4-FFF2-40B4-BE49-F238E27FC236}">
                <a16:creationId xmlns:a16="http://schemas.microsoft.com/office/drawing/2014/main" id="{911BF9F7-680B-D9D3-21C9-C93042AF01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37" y="1378464"/>
            <a:ext cx="9017925" cy="4101071"/>
          </a:xfrm>
          <a:prstGeom prst="rect">
            <a:avLst/>
          </a:prstGeom>
        </p:spPr>
      </p:pic>
      <p:pic>
        <p:nvPicPr>
          <p:cNvPr id="8" name="Picture 7">
            <a:extLst>
              <a:ext uri="{FF2B5EF4-FFF2-40B4-BE49-F238E27FC236}">
                <a16:creationId xmlns:a16="http://schemas.microsoft.com/office/drawing/2014/main" id="{1DA8127A-4068-9B16-1914-E3B0071AD7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3207" y="2253596"/>
            <a:ext cx="4617755" cy="2203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2">
            <a:extLst>
              <a:ext uri="{FF2B5EF4-FFF2-40B4-BE49-F238E27FC236}">
                <a16:creationId xmlns:a16="http://schemas.microsoft.com/office/drawing/2014/main" id="{15069F8A-DB1B-61FE-AA66-6DE35F2839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038" y="2327071"/>
            <a:ext cx="4400170" cy="2203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506693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7150</TotalTime>
  <Words>1614</Words>
  <Application>Microsoft Office PowerPoint</Application>
  <PresentationFormat>On-screen Show (4:3)</PresentationFormat>
  <Paragraphs>222</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EE227 – Digital Logic Design</vt:lpstr>
      <vt:lpstr>Outline</vt:lpstr>
      <vt:lpstr>Sequential Circuits (Background)</vt:lpstr>
      <vt:lpstr>Sequential Circuits (1/2)</vt:lpstr>
      <vt:lpstr>Sequential Circuits (2/2)</vt:lpstr>
      <vt:lpstr>Types of Sequential Circuits</vt:lpstr>
      <vt:lpstr>Synchronous Sequential Circuits (1/3)</vt:lpstr>
      <vt:lpstr>Synchronous Sequential Circuits (2/3)</vt:lpstr>
      <vt:lpstr>Synchronous Sequential Circuits (3/3)</vt:lpstr>
      <vt:lpstr>Storage Elements</vt:lpstr>
      <vt:lpstr>Latches</vt:lpstr>
      <vt:lpstr>SR Latch</vt:lpstr>
      <vt:lpstr>SR Latch with NOR Gate (1/2)</vt:lpstr>
      <vt:lpstr>SR Latch with NOR Gate (2/2)</vt:lpstr>
      <vt:lpstr>SR Latch with NAND Gate (1/2)</vt:lpstr>
      <vt:lpstr>SR Latch with NAND Gate (2/2)</vt:lpstr>
      <vt:lpstr>SR Latch with Enable Input (1/2)</vt:lpstr>
      <vt:lpstr>SR Latch with Enable Input (2/2)</vt:lpstr>
      <vt:lpstr>D Latch (1/2)</vt:lpstr>
      <vt:lpstr>D Latch (2/2)</vt:lpstr>
      <vt:lpstr>Graphical Symbols of Latches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EE227 – Digital Logic Design</dc:title>
  <dc:creator>sAjid</dc:creator>
  <cp:lastModifiedBy>l250681 Muhammad Zaid Mehmood</cp:lastModifiedBy>
  <cp:revision>283</cp:revision>
  <dcterms:created xsi:type="dcterms:W3CDTF">2018-01-21T13:37:44Z</dcterms:created>
  <dcterms:modified xsi:type="dcterms:W3CDTF">2026-05-22T11:22:13Z</dcterms:modified>
</cp:coreProperties>
</file>