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00" r:id="rId1"/>
  </p:sldMasterIdLst>
  <p:notesMasterIdLst>
    <p:notesMasterId r:id="rId29"/>
  </p:notesMasterIdLst>
  <p:sldIdLst>
    <p:sldId id="256" r:id="rId2"/>
    <p:sldId id="284" r:id="rId3"/>
    <p:sldId id="293" r:id="rId4"/>
    <p:sldId id="258" r:id="rId5"/>
    <p:sldId id="261" r:id="rId6"/>
    <p:sldId id="281" r:id="rId7"/>
    <p:sldId id="296" r:id="rId8"/>
    <p:sldId id="277" r:id="rId9"/>
    <p:sldId id="298" r:id="rId10"/>
    <p:sldId id="299" r:id="rId11"/>
    <p:sldId id="300" r:id="rId12"/>
    <p:sldId id="271" r:id="rId13"/>
    <p:sldId id="301" r:id="rId14"/>
    <p:sldId id="283" r:id="rId15"/>
    <p:sldId id="275" r:id="rId16"/>
    <p:sldId id="302" r:id="rId17"/>
    <p:sldId id="273" r:id="rId18"/>
    <p:sldId id="262" r:id="rId19"/>
    <p:sldId id="269" r:id="rId20"/>
    <p:sldId id="267" r:id="rId21"/>
    <p:sldId id="303" r:id="rId22"/>
    <p:sldId id="264" r:id="rId23"/>
    <p:sldId id="265" r:id="rId24"/>
    <p:sldId id="266" r:id="rId25"/>
    <p:sldId id="288" r:id="rId26"/>
    <p:sldId id="286" r:id="rId27"/>
    <p:sldId id="282"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155" autoAdjust="0"/>
    <p:restoredTop sz="77738" autoAdjust="0"/>
  </p:normalViewPr>
  <p:slideViewPr>
    <p:cSldViewPr snapToGrid="0">
      <p:cViewPr varScale="1">
        <p:scale>
          <a:sx n="54" d="100"/>
          <a:sy n="54" d="100"/>
        </p:scale>
        <p:origin x="108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0FF5B3-98ED-4096-9BA3-434F16458ACF}" type="datetimeFigureOut">
              <a:rPr lang="en-US" smtClean="0"/>
              <a:t>1/17/2025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A373AA-2798-4A49-A479-6486304A37F4}" type="slidenum">
              <a:rPr lang="en-US" smtClean="0"/>
              <a:t>‹#›</a:t>
            </a:fld>
            <a:endParaRPr lang="en-US"/>
          </a:p>
        </p:txBody>
      </p:sp>
    </p:spTree>
    <p:extLst>
      <p:ext uri="{BB962C8B-B14F-4D97-AF65-F5344CB8AC3E}">
        <p14:creationId xmlns:p14="http://schemas.microsoft.com/office/powerpoint/2010/main" val="27145918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A373AA-2798-4A49-A479-6486304A37F4}" type="slidenum">
              <a:rPr lang="en-US" smtClean="0"/>
              <a:t>3</a:t>
            </a:fld>
            <a:endParaRPr lang="en-US"/>
          </a:p>
        </p:txBody>
      </p:sp>
    </p:spTree>
    <p:extLst>
      <p:ext uri="{BB962C8B-B14F-4D97-AF65-F5344CB8AC3E}">
        <p14:creationId xmlns:p14="http://schemas.microsoft.com/office/powerpoint/2010/main" val="7178890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A373AA-2798-4A49-A479-6486304A37F4}" type="slidenum">
              <a:rPr lang="en-US" smtClean="0"/>
              <a:t>6</a:t>
            </a:fld>
            <a:endParaRPr lang="en-US"/>
          </a:p>
        </p:txBody>
      </p:sp>
    </p:spTree>
    <p:extLst>
      <p:ext uri="{BB962C8B-B14F-4D97-AF65-F5344CB8AC3E}">
        <p14:creationId xmlns:p14="http://schemas.microsoft.com/office/powerpoint/2010/main" val="14577196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solidFill>
                  <a:schemeClr val="tx1"/>
                </a:solidFill>
                <a:latin typeface="Times New Roman" panose="02020603050405020304" pitchFamily="18" charset="0"/>
                <a:cs typeface="Times New Roman" panose="02020603050405020304" pitchFamily="18" charset="0"/>
              </a:rPr>
              <a:t>Pre-writing is an informal process that allows you to explore ideas as they occur to you.</a:t>
            </a:r>
          </a:p>
          <a:p>
            <a:r>
              <a:rPr lang="en-US" sz="1200" dirty="0">
                <a:solidFill>
                  <a:schemeClr val="tx1"/>
                </a:solidFill>
                <a:latin typeface="Times New Roman" panose="02020603050405020304" pitchFamily="18" charset="0"/>
                <a:cs typeface="Times New Roman" panose="02020603050405020304" pitchFamily="18" charset="0"/>
              </a:rPr>
              <a:t>There are five main strategies for getting started on any writing assignment: </a:t>
            </a:r>
          </a:p>
          <a:p>
            <a:r>
              <a:rPr lang="en-US" sz="1200" dirty="0">
                <a:solidFill>
                  <a:schemeClr val="tx1"/>
                </a:solidFill>
                <a:latin typeface="Times New Roman" panose="02020603050405020304" pitchFamily="18" charset="0"/>
                <a:cs typeface="Times New Roman" panose="02020603050405020304" pitchFamily="18" charset="0"/>
              </a:rPr>
              <a:t>1. Free-writing </a:t>
            </a:r>
          </a:p>
          <a:p>
            <a:r>
              <a:rPr lang="en-US" sz="1200" dirty="0">
                <a:solidFill>
                  <a:schemeClr val="tx1"/>
                </a:solidFill>
                <a:latin typeface="Times New Roman" panose="02020603050405020304" pitchFamily="18" charset="0"/>
                <a:cs typeface="Times New Roman" panose="02020603050405020304" pitchFamily="18" charset="0"/>
              </a:rPr>
              <a:t>2. Brainstorming</a:t>
            </a:r>
          </a:p>
          <a:p>
            <a:r>
              <a:rPr lang="en-US" sz="1200" dirty="0">
                <a:solidFill>
                  <a:schemeClr val="tx1"/>
                </a:solidFill>
                <a:latin typeface="Times New Roman" panose="02020603050405020304" pitchFamily="18" charset="0"/>
                <a:cs typeface="Times New Roman" panose="02020603050405020304" pitchFamily="18" charset="0"/>
              </a:rPr>
              <a:t>3. Listing</a:t>
            </a:r>
          </a:p>
          <a:p>
            <a:r>
              <a:rPr lang="en-US" sz="1200" dirty="0">
                <a:solidFill>
                  <a:schemeClr val="tx1"/>
                </a:solidFill>
                <a:latin typeface="Times New Roman" panose="02020603050405020304" pitchFamily="18" charset="0"/>
                <a:cs typeface="Times New Roman" panose="02020603050405020304" pitchFamily="18" charset="0"/>
              </a:rPr>
              <a:t>4. Clustering</a:t>
            </a:r>
          </a:p>
          <a:p>
            <a:r>
              <a:rPr lang="en-US" sz="1200" dirty="0">
                <a:solidFill>
                  <a:schemeClr val="tx1"/>
                </a:solidFill>
                <a:latin typeface="Times New Roman" panose="02020603050405020304" pitchFamily="18" charset="0"/>
                <a:cs typeface="Times New Roman" panose="02020603050405020304" pitchFamily="18" charset="0"/>
              </a:rPr>
              <a:t>5. Outlining</a:t>
            </a:r>
          </a:p>
          <a:p>
            <a:endParaRPr lang="en-US" dirty="0"/>
          </a:p>
        </p:txBody>
      </p:sp>
      <p:sp>
        <p:nvSpPr>
          <p:cNvPr id="4" name="Slide Number Placeholder 3"/>
          <p:cNvSpPr>
            <a:spLocks noGrp="1"/>
          </p:cNvSpPr>
          <p:nvPr>
            <p:ph type="sldNum" sz="quarter" idx="10"/>
          </p:nvPr>
        </p:nvSpPr>
        <p:spPr/>
        <p:txBody>
          <a:bodyPr/>
          <a:lstStyle/>
          <a:p>
            <a:fld id="{4CA373AA-2798-4A49-A479-6486304A37F4}" type="slidenum">
              <a:rPr lang="en-US" smtClean="0"/>
              <a:t>7</a:t>
            </a:fld>
            <a:endParaRPr lang="en-US"/>
          </a:p>
        </p:txBody>
      </p:sp>
    </p:spTree>
    <p:extLst>
      <p:ext uri="{BB962C8B-B14F-4D97-AF65-F5344CB8AC3E}">
        <p14:creationId xmlns:p14="http://schemas.microsoft.com/office/powerpoint/2010/main" val="40125158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8EAA20D7-3F09-42BB-A5FB-9DF10866D489}" type="slidenum">
              <a:rPr lang="en-US" smtClean="0"/>
              <a:pPr/>
              <a:t>22</a:t>
            </a:fld>
            <a:endParaRPr lang="en-US"/>
          </a:p>
        </p:txBody>
      </p:sp>
    </p:spTree>
    <p:extLst>
      <p:ext uri="{BB962C8B-B14F-4D97-AF65-F5344CB8AC3E}">
        <p14:creationId xmlns:p14="http://schemas.microsoft.com/office/powerpoint/2010/main" val="4318401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A373AA-2798-4A49-A479-6486304A37F4}" type="slidenum">
              <a:rPr lang="en-US" smtClean="0"/>
              <a:t>23</a:t>
            </a:fld>
            <a:endParaRPr lang="en-US"/>
          </a:p>
        </p:txBody>
      </p:sp>
    </p:spTree>
    <p:extLst>
      <p:ext uri="{BB962C8B-B14F-4D97-AF65-F5344CB8AC3E}">
        <p14:creationId xmlns:p14="http://schemas.microsoft.com/office/powerpoint/2010/main" val="25672729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A373AA-2798-4A49-A479-6486304A37F4}" type="slidenum">
              <a:rPr lang="en-US" smtClean="0"/>
              <a:t>26</a:t>
            </a:fld>
            <a:endParaRPr lang="en-US"/>
          </a:p>
        </p:txBody>
      </p:sp>
    </p:spTree>
    <p:extLst>
      <p:ext uri="{BB962C8B-B14F-4D97-AF65-F5344CB8AC3E}">
        <p14:creationId xmlns:p14="http://schemas.microsoft.com/office/powerpoint/2010/main" val="26086371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69848" y="1298448"/>
            <a:ext cx="7315200" cy="3255264"/>
          </a:xfrm>
        </p:spPr>
        <p:txBody>
          <a:bodyPr anchor="b">
            <a:normAutofit/>
          </a:bodyPr>
          <a:lstStyle>
            <a:lvl1pPr algn="l">
              <a:defRPr sz="5900" spc="-10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100015" y="4670246"/>
            <a:ext cx="7315200" cy="914400"/>
          </a:xfrm>
        </p:spPr>
        <p:txBody>
          <a:bodyPr anchor="t">
            <a:normAutofit/>
          </a:bodyPr>
          <a:lstStyle>
            <a:lvl1pPr marL="0" indent="0" algn="l">
              <a:buNone/>
              <a:defRPr sz="2200" cap="none" spc="0" baseline="0">
                <a:solidFill>
                  <a:schemeClr val="accent1">
                    <a:lumMod val="20000"/>
                    <a:lumOff val="80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02C335B2-36D2-4D38-B1AE-9A7F23D5050F}" type="slidenum">
              <a:rPr lang="en-US" smtClean="0">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19081535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460C9435-F572-4AF5-BD53-92184017D5FB}" type="slidenum">
              <a:rPr lang="en-US" smtClean="0">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6465789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67912" y="1298448"/>
            <a:ext cx="7315200" cy="3255264"/>
          </a:xfrm>
        </p:spPr>
        <p:txBody>
          <a:bodyPr anchor="b">
            <a:normAutofit/>
          </a:bodyPr>
          <a:lstStyle>
            <a:lvl1pPr>
              <a:defRPr sz="5900" b="0" spc="-100" baseline="0">
                <a:solidFill>
                  <a:schemeClr val="tx1">
                    <a:lumMod val="65000"/>
                    <a:lumOff val="3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886200" y="4672584"/>
            <a:ext cx="7315200" cy="914400"/>
          </a:xfrm>
        </p:spPr>
        <p:txBody>
          <a:bodyPr anchor="t">
            <a:normAutofit/>
          </a:bodyPr>
          <a:lstStyle>
            <a:lvl1pPr marL="0" indent="0">
              <a:buNone/>
              <a:defRPr sz="2200" cap="none" spc="0" baseline="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028BC34C-3A51-466D-8D23-875AAB1793CA}" type="slidenum">
              <a:rPr lang="en-US" smtClean="0">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21769433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67912"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818120"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pPr>
              <a:defRPr/>
            </a:pPr>
            <a:endParaRPr lang="en-US">
              <a:solidFill>
                <a:prstClr val="black">
                  <a:tint val="75000"/>
                </a:prstClr>
              </a:solidFill>
            </a:endParaRPr>
          </a:p>
        </p:txBody>
      </p:sp>
      <p:sp>
        <p:nvSpPr>
          <p:cNvPr id="9" name="Footer Placeholder 8"/>
          <p:cNvSpPr>
            <a:spLocks noGrp="1"/>
          </p:cNvSpPr>
          <p:nvPr>
            <p:ph type="ftr" sz="quarter" idx="11"/>
          </p:nvPr>
        </p:nvSpPr>
        <p:spPr/>
        <p:txBody>
          <a:bodyPr/>
          <a:lstStyle/>
          <a:p>
            <a:pPr>
              <a:defRPr/>
            </a:pPr>
            <a:endParaRPr lang="en-US">
              <a:solidFill>
                <a:prstClr val="black">
                  <a:tint val="75000"/>
                </a:prstClr>
              </a:solidFill>
            </a:endParaRPr>
          </a:p>
        </p:txBody>
      </p:sp>
      <p:sp>
        <p:nvSpPr>
          <p:cNvPr id="10" name="Slide Number Placeholder 9"/>
          <p:cNvSpPr>
            <a:spLocks noGrp="1"/>
          </p:cNvSpPr>
          <p:nvPr>
            <p:ph type="sldNum" sz="quarter" idx="12"/>
          </p:nvPr>
        </p:nvSpPr>
        <p:spPr/>
        <p:txBody>
          <a:bodyPr/>
          <a:lstStyle/>
          <a:p>
            <a:pPr>
              <a:defRPr/>
            </a:pPr>
            <a:fld id="{1082F91C-3775-4637-BC61-14C3C7B2A5BE}" type="slidenum">
              <a:rPr lang="en-US" smtClean="0">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29219929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3867912" y="1023586"/>
            <a:ext cx="3474720" cy="807720"/>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867912"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818463" y="1023586"/>
            <a:ext cx="3474720" cy="813171"/>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818463"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p:cNvSpPr>
            <a:spLocks noGrp="1"/>
          </p:cNvSpPr>
          <p:nvPr>
            <p:ph type="dt" sz="half" idx="10"/>
          </p:nvPr>
        </p:nvSpPr>
        <p:spPr/>
        <p:txBody>
          <a:bodyPr/>
          <a:lstStyle/>
          <a:p>
            <a:pPr>
              <a:defRPr/>
            </a:pPr>
            <a:endParaRPr lang="en-US">
              <a:solidFill>
                <a:prstClr val="black">
                  <a:tint val="75000"/>
                </a:prstClr>
              </a:solidFill>
            </a:endParaRPr>
          </a:p>
        </p:txBody>
      </p:sp>
      <p:sp>
        <p:nvSpPr>
          <p:cNvPr id="11" name="Footer Placeholder 10"/>
          <p:cNvSpPr>
            <a:spLocks noGrp="1"/>
          </p:cNvSpPr>
          <p:nvPr>
            <p:ph type="ftr" sz="quarter" idx="11"/>
          </p:nvPr>
        </p:nvSpPr>
        <p:spPr/>
        <p:txBody>
          <a:bodyPr/>
          <a:lstStyle/>
          <a:p>
            <a:pPr>
              <a:defRPr/>
            </a:pPr>
            <a:endParaRPr lang="en-US">
              <a:solidFill>
                <a:prstClr val="black">
                  <a:tint val="75000"/>
                </a:prstClr>
              </a:solidFill>
            </a:endParaRPr>
          </a:p>
        </p:txBody>
      </p:sp>
      <p:sp>
        <p:nvSpPr>
          <p:cNvPr id="12" name="Slide Number Placeholder 11"/>
          <p:cNvSpPr>
            <a:spLocks noGrp="1"/>
          </p:cNvSpPr>
          <p:nvPr>
            <p:ph type="sldNum" sz="quarter" idx="12"/>
          </p:nvPr>
        </p:nvSpPr>
        <p:spPr/>
        <p:txBody>
          <a:bodyPr/>
          <a:lstStyle/>
          <a:p>
            <a:pPr>
              <a:defRPr/>
            </a:pPr>
            <a:fld id="{87C49FB5-1160-4F11-9212-CAE6F6B2BADE}" type="slidenum">
              <a:rPr lang="en-US" smtClean="0">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15434024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2" name="Date Placeholder 1"/>
          <p:cNvSpPr>
            <a:spLocks noGrp="1"/>
          </p:cNvSpPr>
          <p:nvPr>
            <p:ph type="dt" sz="half" idx="10"/>
          </p:nvPr>
        </p:nvSpPr>
        <p:spPr/>
        <p:txBody>
          <a:bodyPr/>
          <a:lstStyle/>
          <a:p>
            <a:pPr>
              <a:defRPr/>
            </a:pPr>
            <a:endParaRPr lang="en-US">
              <a:solidFill>
                <a:prstClr val="black">
                  <a:tint val="75000"/>
                </a:prstClr>
              </a:solidFill>
            </a:endParaRPr>
          </a:p>
        </p:txBody>
      </p:sp>
      <p:sp>
        <p:nvSpPr>
          <p:cNvPr id="7" name="Footer Placeholder 6"/>
          <p:cNvSpPr>
            <a:spLocks noGrp="1"/>
          </p:cNvSpPr>
          <p:nvPr>
            <p:ph type="ftr" sz="quarter" idx="11"/>
          </p:nvPr>
        </p:nvSpPr>
        <p:spPr/>
        <p:txBody>
          <a:bodyPr/>
          <a:lstStyle/>
          <a:p>
            <a:pPr>
              <a:defRPr/>
            </a:pPr>
            <a:endParaRPr lang="en-US">
              <a:solidFill>
                <a:prstClr val="black">
                  <a:tint val="75000"/>
                </a:prstClr>
              </a:solidFill>
            </a:endParaRPr>
          </a:p>
        </p:txBody>
      </p:sp>
      <p:sp>
        <p:nvSpPr>
          <p:cNvPr id="8" name="Slide Number Placeholder 7"/>
          <p:cNvSpPr>
            <a:spLocks noGrp="1"/>
          </p:cNvSpPr>
          <p:nvPr>
            <p:ph type="sldNum" sz="quarter" idx="12"/>
          </p:nvPr>
        </p:nvSpPr>
        <p:spPr/>
        <p:txBody>
          <a:bodyPr/>
          <a:lstStyle/>
          <a:p>
            <a:pPr>
              <a:defRPr/>
            </a:pPr>
            <a:fld id="{D0A1F480-9C59-4E54-AC5E-4F09E8A7CF78}" type="slidenum">
              <a:rPr lang="en-US" smtClean="0">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13373376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pPr>
              <a:defRPr/>
            </a:pPr>
            <a:endParaRPr lang="en-US">
              <a:solidFill>
                <a:prstClr val="black">
                  <a:tint val="75000"/>
                </a:prstClr>
              </a:solidFill>
            </a:endParaRPr>
          </a:p>
        </p:txBody>
      </p:sp>
      <p:sp>
        <p:nvSpPr>
          <p:cNvPr id="6" name="Footer Placeholder 5"/>
          <p:cNvSpPr>
            <a:spLocks noGrp="1"/>
          </p:cNvSpPr>
          <p:nvPr>
            <p:ph type="ftr" sz="quarter" idx="11"/>
          </p:nvPr>
        </p:nvSpPr>
        <p:spPr/>
        <p:txBody>
          <a:bodyPr/>
          <a:lstStyle/>
          <a:p>
            <a:pPr>
              <a:defRPr/>
            </a:pPr>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pPr>
              <a:defRPr/>
            </a:pPr>
            <a:fld id="{31A9E6D6-8180-4BD1-96F7-890C3768B5B0}" type="slidenum">
              <a:rPr lang="en-US" smtClean="0">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2439882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3867912" y="868680"/>
            <a:ext cx="731520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6032" y="3494176"/>
            <a:ext cx="2834640" cy="2321990"/>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pPr>
              <a:defRPr/>
            </a:pPr>
            <a:endParaRPr lang="en-US">
              <a:solidFill>
                <a:prstClr val="black">
                  <a:tint val="75000"/>
                </a:prstClr>
              </a:solidFill>
            </a:endParaRPr>
          </a:p>
        </p:txBody>
      </p:sp>
      <p:sp>
        <p:nvSpPr>
          <p:cNvPr id="9" name="Footer Placeholder 8"/>
          <p:cNvSpPr>
            <a:spLocks noGrp="1"/>
          </p:cNvSpPr>
          <p:nvPr>
            <p:ph type="ftr" sz="quarter" idx="11"/>
          </p:nvPr>
        </p:nvSpPr>
        <p:spPr/>
        <p:txBody>
          <a:bodyPr/>
          <a:lstStyle/>
          <a:p>
            <a:pPr>
              <a:defRPr/>
            </a:pPr>
            <a:endParaRPr lang="en-US">
              <a:solidFill>
                <a:prstClr val="black">
                  <a:tint val="75000"/>
                </a:prstClr>
              </a:solidFill>
            </a:endParaRPr>
          </a:p>
        </p:txBody>
      </p:sp>
      <p:sp>
        <p:nvSpPr>
          <p:cNvPr id="10" name="Slide Number Placeholder 9"/>
          <p:cNvSpPr>
            <a:spLocks noGrp="1"/>
          </p:cNvSpPr>
          <p:nvPr>
            <p:ph type="sldNum" sz="quarter" idx="12"/>
          </p:nvPr>
        </p:nvSpPr>
        <p:spPr/>
        <p:txBody>
          <a:bodyPr/>
          <a:lstStyle/>
          <a:p>
            <a:pPr>
              <a:defRPr/>
            </a:pPr>
            <a:fld id="{87F8212C-1E14-46E6-BC5A-91399A63536A}" type="slidenum">
              <a:rPr lang="en-US" smtClean="0">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24347379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3570644" y="767419"/>
            <a:ext cx="8115230" cy="5330952"/>
          </a:xfrm>
          <a:solidFill>
            <a:schemeClr val="bg1">
              <a:lumMod val="75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256032" y="3493008"/>
            <a:ext cx="2834640" cy="2322576"/>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pPr>
              <a:defRPr/>
            </a:pPr>
            <a:endParaRPr lang="en-US">
              <a:solidFill>
                <a:prstClr val="black">
                  <a:tint val="75000"/>
                </a:prstClr>
              </a:solidFill>
            </a:endParaRPr>
          </a:p>
        </p:txBody>
      </p:sp>
      <p:sp>
        <p:nvSpPr>
          <p:cNvPr id="9" name="Footer Placeholder 8"/>
          <p:cNvSpPr>
            <a:spLocks noGrp="1"/>
          </p:cNvSpPr>
          <p:nvPr>
            <p:ph type="ftr" sz="quarter" idx="11"/>
          </p:nvPr>
        </p:nvSpPr>
        <p:spPr>
          <a:xfrm>
            <a:off x="3499101" y="6356350"/>
            <a:ext cx="5911517" cy="365125"/>
          </a:xfrm>
        </p:spPr>
        <p:txBody>
          <a:bodyPr/>
          <a:lstStyle/>
          <a:p>
            <a:pPr>
              <a:defRPr/>
            </a:pPr>
            <a:endParaRPr lang="en-US">
              <a:solidFill>
                <a:prstClr val="black">
                  <a:tint val="75000"/>
                </a:prstClr>
              </a:solidFill>
            </a:endParaRPr>
          </a:p>
        </p:txBody>
      </p:sp>
      <p:sp>
        <p:nvSpPr>
          <p:cNvPr id="10" name="Slide Number Placeholder 9"/>
          <p:cNvSpPr>
            <a:spLocks noGrp="1"/>
          </p:cNvSpPr>
          <p:nvPr>
            <p:ph type="sldNum" sz="quarter" idx="12"/>
          </p:nvPr>
        </p:nvSpPr>
        <p:spPr/>
        <p:txBody>
          <a:bodyPr/>
          <a:lstStyle/>
          <a:p>
            <a:pPr>
              <a:defRPr/>
            </a:pPr>
            <a:fld id="{C5AA359A-206C-4A5E-A22D-7E57FF063F5F}" type="slidenum">
              <a:rPr lang="en-US" smtClean="0">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11224010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endParaRPr lang="en-US">
              <a:solidFill>
                <a:prstClr val="black">
                  <a:tint val="75000"/>
                </a:prstClr>
              </a:solidFill>
            </a:endParaRPr>
          </a:p>
        </p:txBody>
      </p:sp>
      <p:sp>
        <p:nvSpPr>
          <p:cNvPr id="8" name="Footer Placeholder 7"/>
          <p:cNvSpPr>
            <a:spLocks noGrp="1"/>
          </p:cNvSpPr>
          <p:nvPr>
            <p:ph type="ftr" sz="quarter" idx="11"/>
          </p:nvPr>
        </p:nvSpPr>
        <p:spPr/>
        <p:txBody>
          <a:bodyPr/>
          <a:lstStyle/>
          <a:p>
            <a:pPr>
              <a:defRPr/>
            </a:pPr>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pPr>
              <a:defRPr/>
            </a:pPr>
            <a:fld id="{E2B14305-ACC5-4FD6-9E60-39D8706BF73E}" type="slidenum">
              <a:rPr lang="en-US" smtClean="0">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11020663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81000" y="990600"/>
            <a:ext cx="2819400" cy="4953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867912" y="868680"/>
            <a:ext cx="7315200" cy="512064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endParaRPr lang="en-US">
              <a:solidFill>
                <a:prstClr val="black">
                  <a:tint val="75000"/>
                </a:prstClr>
              </a:solidFill>
            </a:endParaRPr>
          </a:p>
        </p:txBody>
      </p:sp>
      <p:sp>
        <p:nvSpPr>
          <p:cNvPr id="8" name="Footer Placeholder 7"/>
          <p:cNvSpPr>
            <a:spLocks noGrp="1"/>
          </p:cNvSpPr>
          <p:nvPr>
            <p:ph type="ftr" sz="quarter" idx="11"/>
          </p:nvPr>
        </p:nvSpPr>
        <p:spPr/>
        <p:txBody>
          <a:bodyPr/>
          <a:lstStyle/>
          <a:p>
            <a:pPr>
              <a:defRPr/>
            </a:pPr>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pPr>
              <a:defRPr/>
            </a:pPr>
            <a:fld id="{45370C3B-77C3-4EAD-AD80-AF839A06052C}" type="slidenum">
              <a:rPr lang="en-US" smtClean="0">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3141771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758952"/>
            <a:ext cx="3443590"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52919" y="1123837"/>
            <a:ext cx="2947482" cy="460118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8" name="Rectangle 37"/>
          <p:cNvSpPr/>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Text Placeholder 2"/>
          <p:cNvSpPr>
            <a:spLocks noGrp="1"/>
          </p:cNvSpPr>
          <p:nvPr>
            <p:ph type="body" idx="1"/>
          </p:nvPr>
        </p:nvSpPr>
        <p:spPr>
          <a:xfrm>
            <a:off x="3869268" y="864108"/>
            <a:ext cx="7315200" cy="5120640"/>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62465" y="6356350"/>
            <a:ext cx="2743200"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fld id="{B61BEF0D-F0BB-DE4B-95CE-6DB70DBA9567}" type="datetimeFigureOut">
              <a:rPr lang="en-US" smtClean="0"/>
              <a:pPr/>
              <a:t>1/17/2025</a:t>
            </a:fld>
            <a:endParaRPr lang="en-US" dirty="0"/>
          </a:p>
        </p:txBody>
      </p:sp>
      <p:sp>
        <p:nvSpPr>
          <p:cNvPr id="5" name="Footer Placeholder 4"/>
          <p:cNvSpPr>
            <a:spLocks noGrp="1"/>
          </p:cNvSpPr>
          <p:nvPr>
            <p:ph type="ftr" sz="quarter" idx="3"/>
          </p:nvPr>
        </p:nvSpPr>
        <p:spPr>
          <a:xfrm>
            <a:off x="3869268" y="6356350"/>
            <a:ext cx="5911517"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endParaRPr lang="en-US" dirty="0"/>
          </a:p>
        </p:txBody>
      </p:sp>
      <p:sp>
        <p:nvSpPr>
          <p:cNvPr id="6" name="Slide Number Placeholder 5"/>
          <p:cNvSpPr>
            <a:spLocks noGrp="1"/>
          </p:cNvSpPr>
          <p:nvPr>
            <p:ph type="sldNum" sz="quarter" idx="4"/>
          </p:nvPr>
        </p:nvSpPr>
        <p:spPr>
          <a:xfrm>
            <a:off x="10634135" y="6356350"/>
            <a:ext cx="1530927" cy="365125"/>
          </a:xfrm>
          <a:prstGeom prst="rect">
            <a:avLst/>
          </a:prstGeom>
        </p:spPr>
        <p:txBody>
          <a:bodyPr vert="horz" lIns="91440" tIns="45720" rIns="91440" bIns="45720" rtlCol="0" anchor="ctr"/>
          <a:lstStyle>
            <a:lvl1pPr algn="r">
              <a:defRPr sz="1200" b="1">
                <a:solidFill>
                  <a:schemeClr val="accent1"/>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11133302"/>
      </p:ext>
    </p:extLst>
  </p:cSld>
  <p:clrMap bg1="lt1" tx1="dk1" bg2="lt2" tx2="dk2" accent1="accent1" accent2="accent2" accent3="accent3" accent4="accent4" accent5="accent5" accent6="accent6" hlink="hlink" folHlink="folHlink"/>
  <p:sldLayoutIdLst>
    <p:sldLayoutId id="2147483801" r:id="rId1"/>
    <p:sldLayoutId id="2147483802" r:id="rId2"/>
    <p:sldLayoutId id="2147483803" r:id="rId3"/>
    <p:sldLayoutId id="2147483804" r:id="rId4"/>
    <p:sldLayoutId id="2147483805" r:id="rId5"/>
    <p:sldLayoutId id="2147483806" r:id="rId6"/>
    <p:sldLayoutId id="2147483807" r:id="rId7"/>
    <p:sldLayoutId id="2147483808" r:id="rId8"/>
    <p:sldLayoutId id="2147483809" r:id="rId9"/>
    <p:sldLayoutId id="2147483810" r:id="rId10"/>
    <p:sldLayoutId id="2147483811" r:id="rId11"/>
  </p:sldLayoutIdLst>
  <p:txStyles>
    <p:title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kern="1200">
          <a:solidFill>
            <a:schemeClr val="tx1">
              <a:lumMod val="65000"/>
              <a:lumOff val="3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65000"/>
              <a:lumOff val="3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97280" y="758952"/>
            <a:ext cx="10384806" cy="3566160"/>
          </a:xfrm>
          <a:solidFill>
            <a:schemeClr val="accent1">
              <a:lumMod val="40000"/>
              <a:lumOff val="60000"/>
            </a:schemeClr>
          </a:solidFill>
        </p:spPr>
        <p:txBody>
          <a:bodyPr/>
          <a:lstStyle/>
          <a:p>
            <a:pPr rtl="1"/>
            <a:r>
              <a:rPr lang="en-US" b="1" i="1" dirty="0">
                <a:solidFill>
                  <a:schemeClr val="tx1"/>
                </a:solidFill>
                <a:latin typeface="Times New Roman" panose="02020603050405020304" pitchFamily="18" charset="0"/>
                <a:cs typeface="Times New Roman" panose="02020603050405020304" pitchFamily="18" charset="0"/>
              </a:rPr>
              <a:t>The Writing Process</a:t>
            </a:r>
            <a:br>
              <a:rPr lang="en-US" b="1" i="1" dirty="0">
                <a:solidFill>
                  <a:schemeClr val="tx1"/>
                </a:solidFill>
                <a:latin typeface="Times New Roman" panose="02020603050405020304" pitchFamily="18" charset="0"/>
                <a:cs typeface="Times New Roman" panose="02020603050405020304" pitchFamily="18" charset="0"/>
              </a:rPr>
            </a:br>
            <a:endParaRPr lang="en-US" b="1" i="1" dirty="0">
              <a:solidFill>
                <a:schemeClr val="tx1"/>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3D3308B2-B559-1688-CFDC-7F75DD344676}"/>
              </a:ext>
            </a:extLst>
          </p:cNvPr>
          <p:cNvSpPr txBox="1"/>
          <p:nvPr/>
        </p:nvSpPr>
        <p:spPr>
          <a:xfrm>
            <a:off x="9701983" y="5020235"/>
            <a:ext cx="1781706" cy="707886"/>
          </a:xfrm>
          <a:prstGeom prst="rect">
            <a:avLst/>
          </a:prstGeom>
          <a:noFill/>
        </p:spPr>
        <p:txBody>
          <a:bodyPr wrap="none" rtlCol="0">
            <a:spAutoFit/>
          </a:bodyPr>
          <a:lstStyle/>
          <a:p>
            <a:r>
              <a:rPr lang="en-US" sz="4000" b="1" dirty="0"/>
              <a:t>Week 1</a:t>
            </a:r>
          </a:p>
        </p:txBody>
      </p:sp>
    </p:spTree>
    <p:extLst>
      <p:ext uri="{BB962C8B-B14F-4D97-AF65-F5344CB8AC3E}">
        <p14:creationId xmlns:p14="http://schemas.microsoft.com/office/powerpoint/2010/main" val="15083411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515B115-1B14-6D53-0C00-3425BCD2E2BA}"/>
              </a:ext>
            </a:extLst>
          </p:cNvPr>
          <p:cNvSpPr>
            <a:spLocks noGrp="1"/>
          </p:cNvSpPr>
          <p:nvPr>
            <p:ph type="title"/>
          </p:nvPr>
        </p:nvSpPr>
        <p:spPr>
          <a:xfrm>
            <a:off x="0" y="1009650"/>
            <a:ext cx="3486150" cy="4601183"/>
          </a:xfrm>
        </p:spPr>
        <p:txBody>
          <a:bodyPr>
            <a:normAutofit/>
          </a:bodyPr>
          <a:lstStyle/>
          <a:p>
            <a:pPr algn="ctr"/>
            <a:r>
              <a:rPr lang="en-US" sz="4000" b="1" dirty="0">
                <a:latin typeface="Times New Roman" panose="02020603050405020304" pitchFamily="18" charset="0"/>
                <a:cs typeface="Times New Roman" panose="02020603050405020304" pitchFamily="18" charset="0"/>
              </a:rPr>
              <a:t>Writing</a:t>
            </a:r>
            <a:br>
              <a:rPr lang="en-US" sz="4000" b="1" dirty="0">
                <a:latin typeface="Times New Roman" panose="02020603050405020304" pitchFamily="18" charset="0"/>
                <a:cs typeface="Times New Roman" panose="02020603050405020304" pitchFamily="18" charset="0"/>
              </a:rPr>
            </a:br>
            <a:r>
              <a:rPr lang="en-US" sz="4000" b="1" dirty="0">
                <a:latin typeface="Times New Roman" panose="02020603050405020304" pitchFamily="18" charset="0"/>
                <a:cs typeface="Times New Roman" panose="02020603050405020304" pitchFamily="18" charset="0"/>
              </a:rPr>
              <a:t>Process</a:t>
            </a:r>
          </a:p>
        </p:txBody>
      </p:sp>
      <p:sp>
        <p:nvSpPr>
          <p:cNvPr id="3" name="Content Placeholder 2"/>
          <p:cNvSpPr>
            <a:spLocks noGrp="1"/>
          </p:cNvSpPr>
          <p:nvPr>
            <p:ph idx="4294967295"/>
          </p:nvPr>
        </p:nvSpPr>
        <p:spPr>
          <a:xfrm>
            <a:off x="4076700" y="1095375"/>
            <a:ext cx="8115300" cy="4643438"/>
          </a:xfrm>
        </p:spPr>
        <p:txBody>
          <a:bodyPr>
            <a:normAutofit/>
          </a:bodyPr>
          <a:lstStyle/>
          <a:p>
            <a:pPr>
              <a:buNone/>
            </a:pPr>
            <a:r>
              <a:rPr lang="en-US" sz="3200" b="1" dirty="0">
                <a:solidFill>
                  <a:schemeClr val="tx1"/>
                </a:solidFill>
                <a:latin typeface="Times New Roman" panose="02020603050405020304" pitchFamily="18" charset="0"/>
                <a:cs typeface="Times New Roman" panose="02020603050405020304" pitchFamily="18" charset="0"/>
              </a:rPr>
              <a:t>Writing is a process that is done through a series of stages</a:t>
            </a:r>
            <a:r>
              <a:rPr lang="en-US" sz="3200" dirty="0">
                <a:solidFill>
                  <a:schemeClr val="tx1"/>
                </a:solidFill>
                <a:latin typeface="Times New Roman" panose="02020603050405020304" pitchFamily="18" charset="0"/>
                <a:cs typeface="Times New Roman" panose="02020603050405020304" pitchFamily="18" charset="0"/>
              </a:rPr>
              <a:t>:</a:t>
            </a:r>
          </a:p>
          <a:p>
            <a:pPr>
              <a:buClrTx/>
              <a:buFont typeface="Courier New" pitchFamily="49" charset="0"/>
              <a:buChar char="o"/>
            </a:pPr>
            <a:r>
              <a:rPr lang="en-US" sz="3600" b="1" i="1" dirty="0">
                <a:solidFill>
                  <a:schemeClr val="tx1"/>
                </a:solidFill>
                <a:latin typeface="Times New Roman" panose="02020603050405020304" pitchFamily="18" charset="0"/>
                <a:cs typeface="Times New Roman" panose="02020603050405020304" pitchFamily="18" charset="0"/>
              </a:rPr>
              <a:t>Each stage is essential.</a:t>
            </a:r>
          </a:p>
          <a:p>
            <a:pPr marL="2000250" lvl="3" indent="-857250">
              <a:buClrTx/>
              <a:buFont typeface="+mj-lt"/>
              <a:buAutoNum type="romanUcPeriod"/>
            </a:pPr>
            <a:r>
              <a:rPr lang="en-US" sz="3600" dirty="0">
                <a:solidFill>
                  <a:schemeClr val="tx1"/>
                </a:solidFill>
                <a:latin typeface="Times New Roman" panose="02020603050405020304" pitchFamily="18" charset="0"/>
                <a:cs typeface="Times New Roman" panose="02020603050405020304" pitchFamily="18" charset="0"/>
              </a:rPr>
              <a:t>Prewriting</a:t>
            </a:r>
          </a:p>
          <a:p>
            <a:pPr marL="2000250" lvl="3" indent="-857250">
              <a:buClrTx/>
              <a:buFont typeface="+mj-lt"/>
              <a:buAutoNum type="romanUcPeriod"/>
            </a:pPr>
            <a:r>
              <a:rPr lang="en-US" sz="3600" dirty="0">
                <a:solidFill>
                  <a:schemeClr val="tx1"/>
                </a:solidFill>
                <a:latin typeface="Times New Roman" panose="02020603050405020304" pitchFamily="18" charset="0"/>
                <a:cs typeface="Times New Roman" panose="02020603050405020304" pitchFamily="18" charset="0"/>
              </a:rPr>
              <a:t>Writing (Drafting)</a:t>
            </a:r>
          </a:p>
          <a:p>
            <a:pPr marL="2000250" lvl="3" indent="-857250">
              <a:buClrTx/>
              <a:buFont typeface="+mj-lt"/>
              <a:buAutoNum type="romanUcPeriod"/>
            </a:pPr>
            <a:r>
              <a:rPr lang="en-US" sz="3600" dirty="0">
                <a:solidFill>
                  <a:schemeClr val="tx1"/>
                </a:solidFill>
                <a:latin typeface="Times New Roman" panose="02020603050405020304" pitchFamily="18" charset="0"/>
                <a:cs typeface="Times New Roman" panose="02020603050405020304" pitchFamily="18" charset="0"/>
              </a:rPr>
              <a:t>Revising</a:t>
            </a:r>
          </a:p>
          <a:p>
            <a:pPr marL="2000250" lvl="3" indent="-857250">
              <a:buClrTx/>
              <a:buFont typeface="+mj-lt"/>
              <a:buAutoNum type="romanUcPeriod"/>
            </a:pPr>
            <a:r>
              <a:rPr lang="en-US" sz="3600" dirty="0">
                <a:solidFill>
                  <a:schemeClr val="tx1"/>
                </a:solidFill>
                <a:latin typeface="Times New Roman" panose="02020603050405020304" pitchFamily="18" charset="0"/>
                <a:cs typeface="Times New Roman" panose="02020603050405020304" pitchFamily="18" charset="0"/>
              </a:rPr>
              <a:t>Editing  &amp; Proofreading</a:t>
            </a:r>
          </a:p>
          <a:p>
            <a:pPr>
              <a:buNone/>
            </a:pPr>
            <a:endParaRPr lang="en-US" sz="32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470209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4" name="Rectangle 6"/>
          <p:cNvSpPr>
            <a:spLocks noGrp="1" noChangeArrowheads="1"/>
          </p:cNvSpPr>
          <p:nvPr>
            <p:ph type="title"/>
          </p:nvPr>
        </p:nvSpPr>
        <p:spPr/>
        <p:txBody>
          <a:bodyPr/>
          <a:lstStyle/>
          <a:p>
            <a:pPr algn="ctr">
              <a:defRPr/>
            </a:pPr>
            <a:r>
              <a:rPr lang="en-US" b="1" dirty="0">
                <a:latin typeface="Times New Roman" panose="02020603050405020304" pitchFamily="18" charset="0"/>
                <a:cs typeface="Times New Roman" panose="02020603050405020304" pitchFamily="18" charset="0"/>
              </a:rPr>
              <a:t>I. Prewriting</a:t>
            </a:r>
          </a:p>
        </p:txBody>
      </p:sp>
      <p:sp>
        <p:nvSpPr>
          <p:cNvPr id="7175" name="Rectangle 7"/>
          <p:cNvSpPr>
            <a:spLocks noGrp="1" noChangeArrowheads="1"/>
          </p:cNvSpPr>
          <p:nvPr>
            <p:ph idx="1"/>
          </p:nvPr>
        </p:nvSpPr>
        <p:spPr>
          <a:xfrm>
            <a:off x="3517751" y="376517"/>
            <a:ext cx="10058400" cy="5748325"/>
          </a:xfrm>
        </p:spPr>
        <p:txBody>
          <a:bodyPr>
            <a:normAutofit/>
          </a:bodyPr>
          <a:lstStyle/>
          <a:p>
            <a:pPr indent="-457200">
              <a:spcAft>
                <a:spcPts val="0"/>
              </a:spcAft>
              <a:buClrTx/>
              <a:buFont typeface="Wingdings" pitchFamily="2" charset="2"/>
              <a:buChar char="§"/>
              <a:defRPr/>
            </a:pPr>
            <a:r>
              <a:rPr lang="en-US" sz="2800" dirty="0">
                <a:solidFill>
                  <a:schemeClr val="tx1"/>
                </a:solidFill>
                <a:latin typeface="Times New Roman" panose="02020603050405020304" pitchFamily="18" charset="0"/>
                <a:cs typeface="Times New Roman" panose="02020603050405020304" pitchFamily="18" charset="0"/>
              </a:rPr>
              <a:t>Choose a topic to write on</a:t>
            </a:r>
          </a:p>
          <a:p>
            <a:pPr indent="-457200">
              <a:spcAft>
                <a:spcPts val="0"/>
              </a:spcAft>
              <a:buClrTx/>
              <a:buFont typeface="Wingdings" pitchFamily="2" charset="2"/>
              <a:buChar char="§"/>
              <a:defRPr/>
            </a:pPr>
            <a:r>
              <a:rPr lang="en-US" sz="2800" b="1" i="1" dirty="0">
                <a:solidFill>
                  <a:srgbClr val="FF0000"/>
                </a:solidFill>
                <a:latin typeface="Times New Roman" panose="02020603050405020304" pitchFamily="18" charset="0"/>
                <a:cs typeface="Times New Roman" panose="02020603050405020304" pitchFamily="18" charset="0"/>
              </a:rPr>
              <a:t>narrow</a:t>
            </a:r>
            <a:r>
              <a:rPr lang="en-US" sz="2800" dirty="0">
                <a:solidFill>
                  <a:schemeClr val="tx1"/>
                </a:solidFill>
                <a:latin typeface="Times New Roman" panose="02020603050405020304" pitchFamily="18" charset="0"/>
                <a:cs typeface="Times New Roman" panose="02020603050405020304" pitchFamily="18" charset="0"/>
              </a:rPr>
              <a:t> your topic</a:t>
            </a:r>
          </a:p>
          <a:p>
            <a:pPr indent="-457200">
              <a:spcAft>
                <a:spcPts val="0"/>
              </a:spcAft>
              <a:buClrTx/>
              <a:buFont typeface="Wingdings" pitchFamily="2" charset="2"/>
              <a:buChar char="§"/>
              <a:defRPr/>
            </a:pPr>
            <a:r>
              <a:rPr lang="en-US" sz="2800" dirty="0">
                <a:solidFill>
                  <a:schemeClr val="tx1"/>
                </a:solidFill>
                <a:latin typeface="Times New Roman" panose="02020603050405020304" pitchFamily="18" charset="0"/>
                <a:cs typeface="Times New Roman" panose="02020603050405020304" pitchFamily="18" charset="0"/>
              </a:rPr>
              <a:t>Determine your</a:t>
            </a:r>
          </a:p>
          <a:p>
            <a:pPr lvl="3" indent="-457200">
              <a:spcAft>
                <a:spcPts val="0"/>
              </a:spcAft>
              <a:buClrTx/>
              <a:buFont typeface="Wingdings" pitchFamily="2" charset="2"/>
              <a:buChar char="§"/>
              <a:defRPr/>
            </a:pPr>
            <a:r>
              <a:rPr lang="en-US" sz="2800" dirty="0">
                <a:solidFill>
                  <a:schemeClr val="tx1"/>
                </a:solidFill>
                <a:latin typeface="Times New Roman" panose="02020603050405020304" pitchFamily="18" charset="0"/>
                <a:cs typeface="Times New Roman" panose="02020603050405020304" pitchFamily="18" charset="0"/>
              </a:rPr>
              <a:t>Purpose</a:t>
            </a:r>
          </a:p>
          <a:p>
            <a:pPr lvl="3" indent="-457200">
              <a:spcAft>
                <a:spcPts val="0"/>
              </a:spcAft>
              <a:buClrTx/>
              <a:buFont typeface="Wingdings" pitchFamily="2" charset="2"/>
              <a:buChar char="§"/>
              <a:defRPr/>
            </a:pPr>
            <a:r>
              <a:rPr lang="en-US" sz="2800" dirty="0">
                <a:solidFill>
                  <a:schemeClr val="tx1"/>
                </a:solidFill>
                <a:latin typeface="Times New Roman" panose="02020603050405020304" pitchFamily="18" charset="0"/>
                <a:cs typeface="Times New Roman" panose="02020603050405020304" pitchFamily="18" charset="0"/>
              </a:rPr>
              <a:t>Tone</a:t>
            </a:r>
          </a:p>
          <a:p>
            <a:pPr lvl="3" indent="-457200">
              <a:spcAft>
                <a:spcPts val="0"/>
              </a:spcAft>
              <a:buClrTx/>
              <a:buFont typeface="Wingdings" pitchFamily="2" charset="2"/>
              <a:buChar char="§"/>
              <a:defRPr/>
            </a:pPr>
            <a:r>
              <a:rPr lang="en-US" sz="2800" dirty="0">
                <a:solidFill>
                  <a:schemeClr val="tx1"/>
                </a:solidFill>
                <a:latin typeface="Times New Roman" panose="02020603050405020304" pitchFamily="18" charset="0"/>
                <a:cs typeface="Times New Roman" panose="02020603050405020304" pitchFamily="18" charset="0"/>
              </a:rPr>
              <a:t>Tense</a:t>
            </a:r>
          </a:p>
          <a:p>
            <a:pPr indent="-457200">
              <a:spcAft>
                <a:spcPts val="0"/>
              </a:spcAft>
              <a:buClrTx/>
              <a:buFont typeface="Wingdings" pitchFamily="2" charset="2"/>
              <a:buChar char="§"/>
              <a:defRPr/>
            </a:pPr>
            <a:r>
              <a:rPr lang="en-US" sz="2800" dirty="0">
                <a:solidFill>
                  <a:schemeClr val="tx1"/>
                </a:solidFill>
                <a:latin typeface="Times New Roman" panose="02020603050405020304" pitchFamily="18" charset="0"/>
                <a:cs typeface="Times New Roman" panose="02020603050405020304" pitchFamily="18" charset="0"/>
              </a:rPr>
              <a:t>Focus in on central ideas</a:t>
            </a:r>
          </a:p>
          <a:p>
            <a:pPr indent="-457200">
              <a:spcAft>
                <a:spcPts val="0"/>
              </a:spcAft>
              <a:buClrTx/>
              <a:buFont typeface="Wingdings" pitchFamily="2" charset="2"/>
              <a:buChar char="§"/>
              <a:defRPr/>
            </a:pPr>
            <a:r>
              <a:rPr lang="en-US" sz="2800" dirty="0">
                <a:solidFill>
                  <a:schemeClr val="tx1"/>
                </a:solidFill>
                <a:latin typeface="Times New Roman" panose="02020603050405020304" pitchFamily="18" charset="0"/>
                <a:cs typeface="Times New Roman" panose="02020603050405020304" pitchFamily="18" charset="0"/>
              </a:rPr>
              <a:t>Explore your topic</a:t>
            </a:r>
          </a:p>
          <a:p>
            <a:pPr indent="-457200">
              <a:spcAft>
                <a:spcPts val="0"/>
              </a:spcAft>
              <a:buClrTx/>
              <a:buFont typeface="Wingdings" pitchFamily="2" charset="2"/>
              <a:buChar char="§"/>
              <a:defRPr/>
            </a:pPr>
            <a:r>
              <a:rPr lang="en-US" sz="2800" dirty="0">
                <a:solidFill>
                  <a:schemeClr val="tx1"/>
                </a:solidFill>
                <a:latin typeface="Times New Roman" panose="02020603050405020304" pitchFamily="18" charset="0"/>
                <a:cs typeface="Times New Roman" panose="02020603050405020304" pitchFamily="18" charset="0"/>
              </a:rPr>
              <a:t>Brainstorm or generate ideas for your topic</a:t>
            </a:r>
          </a:p>
          <a:p>
            <a:pPr indent="-457200">
              <a:spcAft>
                <a:spcPts val="0"/>
              </a:spcAft>
              <a:buClrTx/>
              <a:buFont typeface="Wingdings" pitchFamily="2" charset="2"/>
              <a:buChar char="§"/>
              <a:defRPr/>
            </a:pPr>
            <a:r>
              <a:rPr lang="en-US" sz="2800" dirty="0">
                <a:solidFill>
                  <a:schemeClr val="tx1"/>
                </a:solidFill>
                <a:latin typeface="Times New Roman" panose="02020603050405020304" pitchFamily="18" charset="0"/>
                <a:cs typeface="Times New Roman" panose="02020603050405020304" pitchFamily="18" charset="0"/>
              </a:rPr>
              <a:t>Make a plan</a:t>
            </a:r>
          </a:p>
        </p:txBody>
      </p:sp>
    </p:spTree>
    <p:extLst>
      <p:ext uri="{BB962C8B-B14F-4D97-AF65-F5344CB8AC3E}">
        <p14:creationId xmlns:p14="http://schemas.microsoft.com/office/powerpoint/2010/main" val="2831642458"/>
      </p:ext>
    </p:extLst>
  </p:cSld>
  <p:clrMapOvr>
    <a:masterClrMapping/>
  </p:clrMapOvr>
  <p:transition>
    <p:cu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p:cNvGraphicFramePr>
            <a:graphicFrameLocks noGrp="1"/>
          </p:cNvGraphicFramePr>
          <p:nvPr>
            <p:extLst>
              <p:ext uri="{D42A27DB-BD31-4B8C-83A1-F6EECF244321}">
                <p14:modId xmlns:p14="http://schemas.microsoft.com/office/powerpoint/2010/main" val="29541929"/>
              </p:ext>
            </p:extLst>
          </p:nvPr>
        </p:nvGraphicFramePr>
        <p:xfrm>
          <a:off x="0" y="-2"/>
          <a:ext cx="12191999" cy="6858001"/>
        </p:xfrm>
        <a:graphic>
          <a:graphicData uri="http://schemas.openxmlformats.org/drawingml/2006/table">
            <a:tbl>
              <a:tblPr firstRow="1" bandRow="1">
                <a:tableStyleId>{5C22544A-7EE6-4342-B048-85BDC9FD1C3A}</a:tableStyleId>
              </a:tblPr>
              <a:tblGrid>
                <a:gridCol w="1990165">
                  <a:extLst>
                    <a:ext uri="{9D8B030D-6E8A-4147-A177-3AD203B41FA5}">
                      <a16:colId xmlns:a16="http://schemas.microsoft.com/office/drawing/2014/main" val="20000"/>
                    </a:ext>
                  </a:extLst>
                </a:gridCol>
                <a:gridCol w="10201834">
                  <a:extLst>
                    <a:ext uri="{9D8B030D-6E8A-4147-A177-3AD203B41FA5}">
                      <a16:colId xmlns:a16="http://schemas.microsoft.com/office/drawing/2014/main" val="20001"/>
                    </a:ext>
                  </a:extLst>
                </a:gridCol>
              </a:tblGrid>
              <a:tr h="537725">
                <a:tc>
                  <a:txBody>
                    <a:bodyPr/>
                    <a:lstStyle/>
                    <a:p>
                      <a:endParaRPr lang="en-US" sz="2800" dirty="0">
                        <a:latin typeface="Times New Roman" panose="02020603050405020304" pitchFamily="18" charset="0"/>
                        <a:cs typeface="Times New Roman" panose="02020603050405020304" pitchFamily="18" charset="0"/>
                      </a:endParaRPr>
                    </a:p>
                  </a:txBody>
                  <a:tcPr/>
                </a:tc>
                <a:tc>
                  <a:txBody>
                    <a:bodyPr/>
                    <a:lstStyle/>
                    <a:p>
                      <a:r>
                        <a:rPr lang="en-US" sz="2800" dirty="0">
                          <a:solidFill>
                            <a:schemeClr val="tx1"/>
                          </a:solidFill>
                          <a:latin typeface="Times New Roman" panose="02020603050405020304" pitchFamily="18" charset="0"/>
                          <a:cs typeface="Times New Roman" panose="02020603050405020304" pitchFamily="18" charset="0"/>
                        </a:rPr>
                        <a:t>How to narrow down a topic</a:t>
                      </a:r>
                    </a:p>
                  </a:txBody>
                  <a:tcPr/>
                </a:tc>
                <a:extLst>
                  <a:ext uri="{0D108BD9-81ED-4DB2-BD59-A6C34878D82A}">
                    <a16:rowId xmlns:a16="http://schemas.microsoft.com/office/drawing/2014/main" val="10000"/>
                  </a:ext>
                </a:extLst>
              </a:tr>
              <a:tr h="149161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b="1" dirty="0">
                          <a:latin typeface="Times New Roman" panose="02020603050405020304" pitchFamily="18" charset="0"/>
                          <a:cs typeface="Times New Roman" panose="02020603050405020304" pitchFamily="18" charset="0"/>
                        </a:rPr>
                        <a:t>Aspect</a:t>
                      </a:r>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500" dirty="0">
                          <a:latin typeface="Times New Roman" panose="02020603050405020304" pitchFamily="18" charset="0"/>
                          <a:cs typeface="Times New Roman" panose="02020603050405020304" pitchFamily="18" charset="0"/>
                        </a:rPr>
                        <a:t>Select one perspective/aspect and use it for viewing a problem. For example, instead of studying the different factors that cause cancer, study how smoking can cause lung cancer.</a:t>
                      </a:r>
                    </a:p>
                  </a:txBody>
                  <a:tcPr/>
                </a:tc>
                <a:extLst>
                  <a:ext uri="{0D108BD9-81ED-4DB2-BD59-A6C34878D82A}">
                    <a16:rowId xmlns:a16="http://schemas.microsoft.com/office/drawing/2014/main" val="10001"/>
                  </a:ext>
                </a:extLst>
              </a:tr>
              <a:tr h="167643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b="1" i="0" kern="1200" dirty="0">
                          <a:solidFill>
                            <a:schemeClr val="dk1"/>
                          </a:solidFill>
                          <a:effectLst/>
                          <a:latin typeface="Times New Roman" panose="02020603050405020304" pitchFamily="18" charset="0"/>
                          <a:ea typeface="+mn-ea"/>
                          <a:cs typeface="Times New Roman" panose="02020603050405020304" pitchFamily="18" charset="0"/>
                        </a:rPr>
                        <a:t>Components/</a:t>
                      </a:r>
                    </a:p>
                    <a:p>
                      <a:pPr marL="0" marR="0" indent="0" algn="l" defTabSz="914400" rtl="0" eaLnBrk="1" fontAlgn="auto" latinLnBrk="0" hangingPunct="1">
                        <a:lnSpc>
                          <a:spcPct val="100000"/>
                        </a:lnSpc>
                        <a:spcBef>
                          <a:spcPts val="0"/>
                        </a:spcBef>
                        <a:spcAft>
                          <a:spcPts val="0"/>
                        </a:spcAft>
                        <a:buClrTx/>
                        <a:buSzTx/>
                        <a:buFontTx/>
                        <a:buNone/>
                        <a:tabLst/>
                        <a:defRPr/>
                      </a:pPr>
                      <a:r>
                        <a:rPr lang="en-US" sz="2400" b="1" i="0" kern="1200" dirty="0">
                          <a:solidFill>
                            <a:schemeClr val="dk1"/>
                          </a:solidFill>
                          <a:effectLst/>
                          <a:latin typeface="Times New Roman" panose="02020603050405020304" pitchFamily="18" charset="0"/>
                          <a:ea typeface="+mn-ea"/>
                          <a:cs typeface="Times New Roman" panose="02020603050405020304" pitchFamily="18" charset="0"/>
                        </a:rPr>
                        <a:t>Elements</a:t>
                      </a:r>
                      <a:endParaRPr lang="en-US" sz="2400" b="0" i="0" kern="1200" dirty="0">
                        <a:solidFill>
                          <a:schemeClr val="dk1"/>
                        </a:solidFill>
                        <a:effectLst/>
                        <a:latin typeface="Times New Roman" panose="02020603050405020304" pitchFamily="18" charset="0"/>
                        <a:ea typeface="+mn-ea"/>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txBody>
                  <a:tcPr/>
                </a:tc>
                <a:tc>
                  <a:txBody>
                    <a:bodyPr/>
                    <a:lstStyle/>
                    <a:p>
                      <a:r>
                        <a:rPr lang="en-US" sz="2400" b="0" i="0" kern="1200" dirty="0">
                          <a:solidFill>
                            <a:schemeClr val="dk1"/>
                          </a:solidFill>
                          <a:effectLst/>
                          <a:latin typeface="Times New Roman" panose="02020603050405020304" pitchFamily="18" charset="0"/>
                          <a:ea typeface="+mn-ea"/>
                          <a:cs typeface="Times New Roman" panose="02020603050405020304" pitchFamily="18" charset="0"/>
                        </a:rPr>
                        <a:t>F</a:t>
                      </a:r>
                      <a:r>
                        <a:rPr lang="en-US" sz="2500" b="0" i="0" kern="1200" dirty="0">
                          <a:solidFill>
                            <a:schemeClr val="dk1"/>
                          </a:solidFill>
                          <a:effectLst/>
                          <a:latin typeface="Times New Roman" panose="02020603050405020304" pitchFamily="18" charset="0"/>
                          <a:ea typeface="+mn-ea"/>
                          <a:cs typeface="Times New Roman" panose="02020603050405020304" pitchFamily="18" charset="0"/>
                        </a:rPr>
                        <a:t>igure out the type or</a:t>
                      </a:r>
                      <a:r>
                        <a:rPr lang="en-US" sz="2500" b="0" i="0" kern="1200" baseline="0" dirty="0">
                          <a:solidFill>
                            <a:schemeClr val="dk1"/>
                          </a:solidFill>
                          <a:effectLst/>
                          <a:latin typeface="Times New Roman" panose="02020603050405020304" pitchFamily="18" charset="0"/>
                          <a:ea typeface="+mn-ea"/>
                          <a:cs typeface="Times New Roman" panose="02020603050405020304" pitchFamily="18" charset="0"/>
                        </a:rPr>
                        <a:t> category</a:t>
                      </a:r>
                      <a:r>
                        <a:rPr lang="en-US" sz="2500" b="0" i="0" kern="1200" dirty="0">
                          <a:solidFill>
                            <a:schemeClr val="dk1"/>
                          </a:solidFill>
                          <a:effectLst/>
                          <a:latin typeface="Times New Roman" panose="02020603050405020304" pitchFamily="18" charset="0"/>
                          <a:ea typeface="+mn-ea"/>
                          <a:cs typeface="Times New Roman" panose="02020603050405020304" pitchFamily="18" charset="0"/>
                        </a:rPr>
                        <a:t>. For example, a topic on tobacco use  among teenagers can be narrowed down to </a:t>
                      </a:r>
                      <a:r>
                        <a:rPr lang="en-US" sz="2500" b="1" i="0" kern="1200" dirty="0">
                          <a:solidFill>
                            <a:schemeClr val="dk1"/>
                          </a:solidFill>
                          <a:effectLst/>
                          <a:latin typeface="Times New Roman" panose="02020603050405020304" pitchFamily="18" charset="0"/>
                          <a:ea typeface="+mn-ea"/>
                          <a:cs typeface="Times New Roman" panose="02020603050405020304" pitchFamily="18" charset="0"/>
                        </a:rPr>
                        <a:t>chewing tobacco </a:t>
                      </a:r>
                      <a:r>
                        <a:rPr lang="en-US" sz="2500" b="0" i="0" kern="1200" dirty="0">
                          <a:solidFill>
                            <a:schemeClr val="dk1"/>
                          </a:solidFill>
                          <a:effectLst/>
                          <a:latin typeface="Times New Roman" panose="02020603050405020304" pitchFamily="18" charset="0"/>
                          <a:ea typeface="+mn-ea"/>
                          <a:cs typeface="Times New Roman" panose="02020603050405020304" pitchFamily="18" charset="0"/>
                        </a:rPr>
                        <a:t>instead of all forms of tobacco use or teenagers in general.</a:t>
                      </a:r>
                    </a:p>
                    <a:p>
                      <a:endParaRPr lang="en-US" sz="25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2"/>
                  </a:ext>
                </a:extLst>
              </a:tr>
              <a:tr h="166062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b="1" i="0" kern="1200" dirty="0">
                          <a:solidFill>
                            <a:schemeClr val="dk1"/>
                          </a:solidFill>
                          <a:effectLst/>
                          <a:latin typeface="Times New Roman" panose="02020603050405020304" pitchFamily="18" charset="0"/>
                          <a:ea typeface="+mn-ea"/>
                          <a:cs typeface="Times New Roman" panose="02020603050405020304" pitchFamily="18" charset="0"/>
                        </a:rPr>
                        <a:t>Place</a:t>
                      </a:r>
                      <a:endParaRPr lang="en-US" sz="2400" b="0" i="0" kern="1200" dirty="0">
                        <a:solidFill>
                          <a:schemeClr val="dk1"/>
                        </a:solidFill>
                        <a:effectLst/>
                        <a:latin typeface="Times New Roman" panose="02020603050405020304" pitchFamily="18" charset="0"/>
                        <a:ea typeface="+mn-ea"/>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txBody>
                  <a:tcPr/>
                </a:tc>
                <a:tc>
                  <a:txBody>
                    <a:bodyPr/>
                    <a:lstStyle/>
                    <a:p>
                      <a:r>
                        <a:rPr lang="en-US" sz="2500" b="0" i="0" kern="1200" dirty="0">
                          <a:solidFill>
                            <a:schemeClr val="dk1"/>
                          </a:solidFill>
                          <a:effectLst/>
                          <a:latin typeface="Times New Roman" panose="02020603050405020304" pitchFamily="18" charset="0"/>
                          <a:ea typeface="+mn-ea"/>
                          <a:cs typeface="Times New Roman" panose="02020603050405020304" pitchFamily="18" charset="0"/>
                        </a:rPr>
                        <a:t>analyzing a smaller geographical unit means a narrow topical focus. For example, instead of studying trade relations in Asia, focus on trade relations between China and Singapore guide you in explaining problems in that region.</a:t>
                      </a:r>
                    </a:p>
                    <a:p>
                      <a:endParaRPr 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3"/>
                  </a:ext>
                </a:extLst>
              </a:tr>
              <a:tr h="149161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b="1" i="0" kern="1200" dirty="0">
                          <a:solidFill>
                            <a:schemeClr val="dk1"/>
                          </a:solidFill>
                          <a:effectLst/>
                          <a:latin typeface="Times New Roman" panose="02020603050405020304" pitchFamily="18" charset="0"/>
                          <a:ea typeface="+mn-ea"/>
                          <a:cs typeface="Times New Roman" panose="02020603050405020304" pitchFamily="18" charset="0"/>
                        </a:rPr>
                        <a:t>Time</a:t>
                      </a:r>
                      <a:endParaRPr lang="en-US" sz="2400" b="0" i="0" kern="1200" dirty="0">
                        <a:solidFill>
                          <a:schemeClr val="dk1"/>
                        </a:solidFill>
                        <a:effectLst/>
                        <a:latin typeface="Times New Roman" panose="02020603050405020304" pitchFamily="18" charset="0"/>
                        <a:ea typeface="+mn-ea"/>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txBody>
                  <a:tcPr/>
                </a:tc>
                <a:tc>
                  <a:txBody>
                    <a:bodyPr/>
                    <a:lstStyle/>
                    <a:p>
                      <a:r>
                        <a:rPr lang="en-US" sz="2400" b="0" i="0" kern="1200" baseline="0" dirty="0">
                          <a:solidFill>
                            <a:schemeClr val="dk1"/>
                          </a:solidFill>
                          <a:effectLst/>
                          <a:latin typeface="Times New Roman" panose="02020603050405020304" pitchFamily="18" charset="0"/>
                          <a:ea typeface="+mn-ea"/>
                          <a:cs typeface="Times New Roman" panose="02020603050405020304" pitchFamily="18" charset="0"/>
                        </a:rPr>
                        <a:t>adding a time frame </a:t>
                      </a:r>
                      <a:r>
                        <a:rPr lang="en-US" sz="2400" b="0" i="0" kern="1200" dirty="0">
                          <a:solidFill>
                            <a:schemeClr val="dk1"/>
                          </a:solidFill>
                          <a:effectLst/>
                          <a:latin typeface="Times New Roman" panose="02020603050405020304" pitchFamily="18" charset="0"/>
                          <a:ea typeface="+mn-ea"/>
                          <a:cs typeface="Times New Roman" panose="02020603050405020304" pitchFamily="18" charset="0"/>
                        </a:rPr>
                        <a:t>narrows the topic</a:t>
                      </a:r>
                      <a:r>
                        <a:rPr lang="en-US" sz="2400" b="0" i="0" kern="1200" baseline="0" dirty="0">
                          <a:solidFill>
                            <a:schemeClr val="dk1"/>
                          </a:solidFill>
                          <a:effectLst/>
                          <a:latin typeface="Times New Roman" panose="02020603050405020304" pitchFamily="18" charset="0"/>
                          <a:ea typeface="+mn-ea"/>
                          <a:cs typeface="Times New Roman" panose="02020603050405020304" pitchFamily="18" charset="0"/>
                        </a:rPr>
                        <a:t> </a:t>
                      </a:r>
                      <a:r>
                        <a:rPr lang="en-US" sz="2400" b="0" i="0" kern="1200" dirty="0">
                          <a:solidFill>
                            <a:schemeClr val="dk1"/>
                          </a:solidFill>
                          <a:effectLst/>
                          <a:latin typeface="Times New Roman" panose="02020603050405020304" pitchFamily="18" charset="0"/>
                          <a:ea typeface="+mn-ea"/>
                          <a:cs typeface="Times New Roman" panose="02020603050405020304" pitchFamily="18" charset="0"/>
                        </a:rPr>
                        <a:t>. For example, instead of studying trade relations between China and Singapore, focus on the trade relations between China and Singapore between 2010 and 2018.</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4138620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8" name="Rectangle 6"/>
          <p:cNvSpPr>
            <a:spLocks noGrp="1" noChangeArrowheads="1"/>
          </p:cNvSpPr>
          <p:nvPr>
            <p:ph type="ctrTitle"/>
          </p:nvPr>
        </p:nvSpPr>
        <p:spPr>
          <a:xfrm>
            <a:off x="639542" y="437322"/>
            <a:ext cx="7315200" cy="1124712"/>
          </a:xfrm>
        </p:spPr>
        <p:txBody>
          <a:bodyPr anchor="b">
            <a:normAutofit/>
          </a:bodyPr>
          <a:lstStyle/>
          <a:p>
            <a:pPr>
              <a:lnSpc>
                <a:spcPct val="90000"/>
              </a:lnSpc>
              <a:defRPr/>
            </a:pPr>
            <a:r>
              <a:rPr lang="en-US" sz="3600" b="1" dirty="0">
                <a:latin typeface="Times New Roman" panose="02020603050405020304" pitchFamily="18" charset="0"/>
                <a:cs typeface="Times New Roman" panose="02020603050405020304" pitchFamily="18" charset="0"/>
              </a:rPr>
              <a:t>Narrow Down Your Topic</a:t>
            </a:r>
          </a:p>
        </p:txBody>
      </p:sp>
      <p:sp>
        <p:nvSpPr>
          <p:cNvPr id="13315" name="Rectangle 7"/>
          <p:cNvSpPr>
            <a:spLocks noGrp="1" noChangeArrowheads="1"/>
          </p:cNvSpPr>
          <p:nvPr>
            <p:ph type="subTitle" idx="1"/>
          </p:nvPr>
        </p:nvSpPr>
        <p:spPr>
          <a:xfrm>
            <a:off x="-62615" y="1904282"/>
            <a:ext cx="6613043" cy="4066212"/>
          </a:xfrm>
        </p:spPr>
        <p:txBody>
          <a:bodyPr anchor="t">
            <a:normAutofit/>
          </a:bodyPr>
          <a:lstStyle/>
          <a:p>
            <a:pPr marL="0" indent="0">
              <a:buClrTx/>
              <a:buNone/>
            </a:pPr>
            <a:endParaRPr lang="en-US" sz="3200" b="1" dirty="0">
              <a:solidFill>
                <a:schemeClr val="bg1"/>
              </a:solidFill>
              <a:latin typeface="Times New Roman" panose="02020603050405020304" pitchFamily="18" charset="0"/>
              <a:cs typeface="Times New Roman" panose="02020603050405020304" pitchFamily="18" charset="0"/>
            </a:endParaRPr>
          </a:p>
          <a:p>
            <a:pPr lvl="1" algn="l">
              <a:buClrTx/>
            </a:pPr>
            <a:r>
              <a:rPr lang="en-US" sz="3200" b="1" dirty="0">
                <a:solidFill>
                  <a:schemeClr val="bg1"/>
                </a:solidFill>
                <a:latin typeface="Times New Roman" panose="02020603050405020304" pitchFamily="18" charset="0"/>
                <a:cs typeface="Times New Roman" panose="02020603050405020304" pitchFamily="18" charset="0"/>
              </a:rPr>
              <a:t>Your topic should pass the 3-question test:</a:t>
            </a:r>
          </a:p>
          <a:p>
            <a:pPr marL="841248" lvl="2" indent="-457200" algn="l">
              <a:buClrTx/>
              <a:buFont typeface="+mj-lt"/>
              <a:buAutoNum type="arabicPeriod"/>
            </a:pPr>
            <a:r>
              <a:rPr lang="en-US" sz="3200" b="1" dirty="0">
                <a:solidFill>
                  <a:schemeClr val="bg1"/>
                </a:solidFill>
                <a:latin typeface="Times New Roman" panose="02020603050405020304" pitchFamily="18" charset="0"/>
                <a:cs typeface="Times New Roman" panose="02020603050405020304" pitchFamily="18" charset="0"/>
              </a:rPr>
              <a:t>Does it interest me?</a:t>
            </a:r>
          </a:p>
          <a:p>
            <a:pPr marL="841248" lvl="2" indent="-457200" algn="l">
              <a:buClrTx/>
              <a:buFont typeface="+mj-lt"/>
              <a:buAutoNum type="arabicPeriod"/>
            </a:pPr>
            <a:r>
              <a:rPr lang="en-US" sz="3200" b="1" dirty="0">
                <a:solidFill>
                  <a:schemeClr val="bg1"/>
                </a:solidFill>
                <a:latin typeface="Times New Roman" panose="02020603050405020304" pitchFamily="18" charset="0"/>
                <a:cs typeface="Times New Roman" panose="02020603050405020304" pitchFamily="18" charset="0"/>
              </a:rPr>
              <a:t>Do I have something to say about it?</a:t>
            </a:r>
          </a:p>
          <a:p>
            <a:pPr marL="841248" lvl="2" indent="-457200" algn="l">
              <a:buClrTx/>
              <a:buFont typeface="+mj-lt"/>
              <a:buAutoNum type="arabicPeriod"/>
            </a:pPr>
            <a:r>
              <a:rPr lang="en-US" sz="3200" b="1" dirty="0">
                <a:solidFill>
                  <a:schemeClr val="bg1"/>
                </a:solidFill>
                <a:latin typeface="Times New Roman" panose="02020603050405020304" pitchFamily="18" charset="0"/>
                <a:cs typeface="Times New Roman" panose="02020603050405020304" pitchFamily="18" charset="0"/>
              </a:rPr>
              <a:t>Is it specific?</a:t>
            </a:r>
          </a:p>
          <a:p>
            <a:pPr marL="0" indent="0">
              <a:buClrTx/>
              <a:buNone/>
            </a:pPr>
            <a:endParaRPr lang="en-US" sz="3200" b="1" dirty="0">
              <a:solidFill>
                <a:schemeClr val="bg1"/>
              </a:solidFill>
              <a:latin typeface="Times New Roman" panose="02020603050405020304" pitchFamily="18" charset="0"/>
              <a:cs typeface="Times New Roman" panose="02020603050405020304" pitchFamily="18" charset="0"/>
            </a:endParaRPr>
          </a:p>
        </p:txBody>
      </p:sp>
      <p:pic>
        <p:nvPicPr>
          <p:cNvPr id="1027"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r="2" b="3496"/>
          <a:stretch/>
        </p:blipFill>
        <p:spPr bwMode="auto">
          <a:xfrm>
            <a:off x="5924550" y="0"/>
            <a:ext cx="6079027" cy="68580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48458707"/>
      </p:ext>
    </p:extLst>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4294967295"/>
          </p:nvPr>
        </p:nvSpPr>
        <p:spPr>
          <a:xfrm>
            <a:off x="0" y="133350"/>
            <a:ext cx="6457950" cy="6145213"/>
          </a:xfrm>
        </p:spPr>
        <p:txBody>
          <a:bodyPr>
            <a:normAutofit fontScale="85000" lnSpcReduction="10000"/>
          </a:bodyPr>
          <a:lstStyle/>
          <a:p>
            <a:pPr algn="ctr"/>
            <a:r>
              <a:rPr lang="en-US" sz="3400" b="1" dirty="0">
                <a:solidFill>
                  <a:schemeClr val="tx1"/>
                </a:solidFill>
                <a:latin typeface="Times New Roman" panose="02020603050405020304" pitchFamily="18" charset="0"/>
                <a:cs typeface="Times New Roman" panose="02020603050405020304" pitchFamily="18" charset="0"/>
              </a:rPr>
              <a:t>EDUCATION</a:t>
            </a:r>
          </a:p>
          <a:p>
            <a:endParaRPr lang="en-US" dirty="0">
              <a:solidFill>
                <a:schemeClr val="tx1"/>
              </a:solidFill>
            </a:endParaRPr>
          </a:p>
          <a:p>
            <a:endParaRPr lang="en-US" dirty="0">
              <a:solidFill>
                <a:schemeClr val="tx1"/>
              </a:solidFill>
            </a:endParaRPr>
          </a:p>
          <a:p>
            <a:r>
              <a:rPr lang="en-US" sz="3200" dirty="0">
                <a:solidFill>
                  <a:schemeClr val="tx1"/>
                </a:solidFill>
                <a:latin typeface="Times New Roman" panose="02020603050405020304" pitchFamily="18" charset="0"/>
                <a:cs typeface="Times New Roman" panose="02020603050405020304" pitchFamily="18" charset="0"/>
              </a:rPr>
              <a:t>________________________________</a:t>
            </a:r>
          </a:p>
          <a:p>
            <a:endParaRPr lang="en-US" sz="3200" dirty="0">
              <a:solidFill>
                <a:schemeClr val="tx1"/>
              </a:solidFill>
            </a:endParaRPr>
          </a:p>
          <a:p>
            <a:endParaRPr lang="en-US" sz="3200" dirty="0">
              <a:solidFill>
                <a:schemeClr val="tx1"/>
              </a:solidFill>
            </a:endParaRPr>
          </a:p>
          <a:p>
            <a:endParaRPr lang="en-US" sz="3200" dirty="0">
              <a:solidFill>
                <a:schemeClr val="tx1"/>
              </a:solidFill>
            </a:endParaRPr>
          </a:p>
          <a:p>
            <a:r>
              <a:rPr lang="en-US" sz="3200" dirty="0">
                <a:solidFill>
                  <a:schemeClr val="tx1"/>
                </a:solidFill>
                <a:latin typeface="Times New Roman" panose="02020603050405020304" pitchFamily="18" charset="0"/>
                <a:cs typeface="Times New Roman" panose="02020603050405020304" pitchFamily="18" charset="0"/>
              </a:rPr>
              <a:t>         ________________________________</a:t>
            </a:r>
          </a:p>
          <a:p>
            <a:endParaRPr lang="en-US" sz="3200" dirty="0">
              <a:solidFill>
                <a:schemeClr val="tx1"/>
              </a:solidFill>
            </a:endParaRPr>
          </a:p>
          <a:p>
            <a:pPr marL="0" indent="0">
              <a:buNone/>
            </a:pPr>
            <a:endParaRPr lang="en-US" sz="3200" dirty="0">
              <a:solidFill>
                <a:schemeClr val="tx1"/>
              </a:solidFill>
            </a:endParaRPr>
          </a:p>
          <a:p>
            <a:endParaRPr lang="en-US" sz="3200" dirty="0">
              <a:solidFill>
                <a:schemeClr val="tx1"/>
              </a:solidFill>
            </a:endParaRPr>
          </a:p>
          <a:p>
            <a:r>
              <a:rPr lang="en-US" sz="3200" dirty="0">
                <a:solidFill>
                  <a:schemeClr val="tx1"/>
                </a:solidFill>
                <a:latin typeface="Times New Roman" panose="02020603050405020304" pitchFamily="18" charset="0"/>
                <a:cs typeface="Times New Roman" panose="02020603050405020304" pitchFamily="18" charset="0"/>
              </a:rPr>
              <a:t>________________________________</a:t>
            </a:r>
          </a:p>
        </p:txBody>
      </p:sp>
      <p:sp>
        <p:nvSpPr>
          <p:cNvPr id="4" name="Content Placeholder 3"/>
          <p:cNvSpPr>
            <a:spLocks noGrp="1"/>
          </p:cNvSpPr>
          <p:nvPr>
            <p:ph sz="half" idx="4294967295"/>
          </p:nvPr>
        </p:nvSpPr>
        <p:spPr>
          <a:xfrm>
            <a:off x="8174038" y="1281113"/>
            <a:ext cx="4017962" cy="4311650"/>
          </a:xfrm>
        </p:spPr>
        <p:txBody>
          <a:bodyPr>
            <a:normAutofit/>
          </a:bodyPr>
          <a:lstStyle/>
          <a:p>
            <a:pPr marL="0" indent="0" algn="ctr">
              <a:buNone/>
            </a:pPr>
            <a:r>
              <a:rPr lang="en-US" sz="3800" b="1" dirty="0">
                <a:solidFill>
                  <a:schemeClr val="tx1"/>
                </a:solidFill>
                <a:latin typeface="Times New Roman" panose="02020603050405020304" pitchFamily="18" charset="0"/>
                <a:cs typeface="Times New Roman" panose="02020603050405020304" pitchFamily="18" charset="0"/>
              </a:rPr>
              <a:t>Practice Topics</a:t>
            </a:r>
          </a:p>
          <a:p>
            <a:r>
              <a:rPr lang="en-US" sz="3600" dirty="0">
                <a:solidFill>
                  <a:schemeClr val="tx1"/>
                </a:solidFill>
                <a:latin typeface="Times New Roman" panose="02020603050405020304" pitchFamily="18" charset="0"/>
                <a:cs typeface="Times New Roman" panose="02020603050405020304" pitchFamily="18" charset="0"/>
              </a:rPr>
              <a:t>1. Culture</a:t>
            </a:r>
          </a:p>
          <a:p>
            <a:r>
              <a:rPr lang="en-US" sz="3600" dirty="0">
                <a:solidFill>
                  <a:schemeClr val="tx1"/>
                </a:solidFill>
                <a:latin typeface="Times New Roman" panose="02020603050405020304" pitchFamily="18" charset="0"/>
                <a:cs typeface="Times New Roman" panose="02020603050405020304" pitchFamily="18" charset="0"/>
              </a:rPr>
              <a:t>2. Festivals</a:t>
            </a:r>
          </a:p>
          <a:p>
            <a:r>
              <a:rPr lang="en-US" sz="3600" dirty="0">
                <a:solidFill>
                  <a:schemeClr val="tx1"/>
                </a:solidFill>
                <a:latin typeface="Times New Roman" panose="02020603050405020304" pitchFamily="18" charset="0"/>
                <a:cs typeface="Times New Roman" panose="02020603050405020304" pitchFamily="18" charset="0"/>
              </a:rPr>
              <a:t>3. Environment</a:t>
            </a:r>
          </a:p>
          <a:p>
            <a:r>
              <a:rPr lang="en-US" sz="3600" dirty="0">
                <a:solidFill>
                  <a:schemeClr val="tx1"/>
                </a:solidFill>
                <a:latin typeface="Times New Roman" panose="02020603050405020304" pitchFamily="18" charset="0"/>
                <a:cs typeface="Times New Roman" panose="02020603050405020304" pitchFamily="18" charset="0"/>
              </a:rPr>
              <a:t>4. Happiness</a:t>
            </a:r>
          </a:p>
        </p:txBody>
      </p:sp>
      <p:sp>
        <p:nvSpPr>
          <p:cNvPr id="7" name="Down Arrow 6"/>
          <p:cNvSpPr/>
          <p:nvPr/>
        </p:nvSpPr>
        <p:spPr>
          <a:xfrm>
            <a:off x="3211974" y="759876"/>
            <a:ext cx="289367" cy="52086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own Arrow 7"/>
          <p:cNvSpPr/>
          <p:nvPr/>
        </p:nvSpPr>
        <p:spPr>
          <a:xfrm>
            <a:off x="3211973" y="2381960"/>
            <a:ext cx="289367" cy="52086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Down Arrow 8"/>
          <p:cNvSpPr/>
          <p:nvPr/>
        </p:nvSpPr>
        <p:spPr>
          <a:xfrm>
            <a:off x="3304568" y="4379474"/>
            <a:ext cx="289367" cy="52086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682972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ChangeArrowheads="1"/>
          </p:cNvSpPr>
          <p:nvPr>
            <p:ph type="title"/>
          </p:nvPr>
        </p:nvSpPr>
        <p:spPr>
          <a:xfrm>
            <a:off x="1811524" y="188640"/>
            <a:ext cx="7942076" cy="838200"/>
          </a:xfrm>
        </p:spPr>
        <p:txBody>
          <a:bodyPr/>
          <a:lstStyle/>
          <a:p>
            <a:pPr algn="ctr">
              <a:defRPr/>
            </a:pPr>
            <a:r>
              <a:rPr lang="en-US" b="1" dirty="0"/>
              <a:t>Explore Your Topic</a:t>
            </a:r>
          </a:p>
        </p:txBody>
      </p:sp>
      <p:sp>
        <p:nvSpPr>
          <p:cNvPr id="20483" name="Rectangle 3"/>
          <p:cNvSpPr>
            <a:spLocks noGrp="1" noChangeArrowheads="1"/>
          </p:cNvSpPr>
          <p:nvPr>
            <p:ph idx="1"/>
          </p:nvPr>
        </p:nvSpPr>
        <p:spPr>
          <a:xfrm>
            <a:off x="4095398" y="430182"/>
            <a:ext cx="4896544" cy="5304394"/>
          </a:xfrm>
        </p:spPr>
        <p:txBody>
          <a:bodyPr>
            <a:noAutofit/>
          </a:bodyPr>
          <a:lstStyle/>
          <a:p>
            <a:pPr marL="502920" lvl="1" indent="0">
              <a:lnSpc>
                <a:spcPct val="150000"/>
              </a:lnSpc>
              <a:buClrTx/>
              <a:buNone/>
            </a:pPr>
            <a:endParaRPr lang="en-US" sz="3200" dirty="0">
              <a:solidFill>
                <a:schemeClr val="tx1"/>
              </a:solidFill>
              <a:latin typeface="Times New Roman" panose="02020603050405020304" pitchFamily="18" charset="0"/>
              <a:cs typeface="Times New Roman" panose="02020603050405020304" pitchFamily="18" charset="0"/>
            </a:endParaRPr>
          </a:p>
          <a:p>
            <a:pPr lvl="1">
              <a:lnSpc>
                <a:spcPct val="150000"/>
              </a:lnSpc>
              <a:buClrTx/>
              <a:buFont typeface="Arial" panose="020B0604020202020204" pitchFamily="34" charset="0"/>
              <a:buChar char="•"/>
            </a:pPr>
            <a:r>
              <a:rPr lang="en-US" sz="3200" dirty="0">
                <a:solidFill>
                  <a:schemeClr val="tx1"/>
                </a:solidFill>
                <a:latin typeface="Times New Roman" panose="02020603050405020304" pitchFamily="18" charset="0"/>
                <a:cs typeface="Times New Roman" panose="02020603050405020304" pitchFamily="18" charset="0"/>
              </a:rPr>
              <a:t>Narrowing down</a:t>
            </a:r>
          </a:p>
          <a:p>
            <a:pPr lvl="1">
              <a:lnSpc>
                <a:spcPct val="150000"/>
              </a:lnSpc>
              <a:buClrTx/>
              <a:buFont typeface="Arial" panose="020B0604020202020204" pitchFamily="34" charset="0"/>
              <a:buChar char="•"/>
            </a:pPr>
            <a:r>
              <a:rPr lang="en-US" sz="3200" dirty="0">
                <a:solidFill>
                  <a:schemeClr val="tx1"/>
                </a:solidFill>
                <a:latin typeface="Times New Roman" panose="02020603050405020304" pitchFamily="18" charset="0"/>
                <a:cs typeface="Times New Roman" panose="02020603050405020304" pitchFamily="18" charset="0"/>
              </a:rPr>
              <a:t>Free writing</a:t>
            </a:r>
          </a:p>
          <a:p>
            <a:pPr lvl="1">
              <a:lnSpc>
                <a:spcPct val="150000"/>
              </a:lnSpc>
              <a:buClrTx/>
              <a:buFont typeface="Arial" panose="020B0604020202020204" pitchFamily="34" charset="0"/>
              <a:buChar char="•"/>
            </a:pPr>
            <a:r>
              <a:rPr lang="en-US" sz="3200" dirty="0">
                <a:solidFill>
                  <a:schemeClr val="tx1"/>
                </a:solidFill>
                <a:latin typeface="Times New Roman" panose="02020603050405020304" pitchFamily="18" charset="0"/>
                <a:cs typeface="Times New Roman" panose="02020603050405020304" pitchFamily="18" charset="0"/>
              </a:rPr>
              <a:t>Brainstorming</a:t>
            </a:r>
          </a:p>
          <a:p>
            <a:pPr lvl="1">
              <a:lnSpc>
                <a:spcPct val="150000"/>
              </a:lnSpc>
              <a:buClrTx/>
              <a:buFont typeface="Arial" panose="020B0604020202020204" pitchFamily="34" charset="0"/>
              <a:buChar char="•"/>
            </a:pPr>
            <a:r>
              <a:rPr lang="en-US" sz="3200" dirty="0">
                <a:solidFill>
                  <a:schemeClr val="tx1"/>
                </a:solidFill>
                <a:latin typeface="Times New Roman" panose="02020603050405020304" pitchFamily="18" charset="0"/>
                <a:cs typeface="Times New Roman" panose="02020603050405020304" pitchFamily="18" charset="0"/>
              </a:rPr>
              <a:t>Listing</a:t>
            </a:r>
          </a:p>
          <a:p>
            <a:pPr lvl="1">
              <a:lnSpc>
                <a:spcPct val="150000"/>
              </a:lnSpc>
              <a:buClrTx/>
              <a:buFont typeface="Arial" panose="020B0604020202020204" pitchFamily="34" charset="0"/>
              <a:buChar char="•"/>
            </a:pPr>
            <a:r>
              <a:rPr lang="en-US" sz="3200" dirty="0">
                <a:solidFill>
                  <a:schemeClr val="tx1"/>
                </a:solidFill>
                <a:latin typeface="Times New Roman" panose="02020603050405020304" pitchFamily="18" charset="0"/>
                <a:cs typeface="Times New Roman" panose="02020603050405020304" pitchFamily="18" charset="0"/>
              </a:rPr>
              <a:t>Clustering</a:t>
            </a:r>
          </a:p>
          <a:p>
            <a:pPr lvl="1">
              <a:lnSpc>
                <a:spcPct val="150000"/>
              </a:lnSpc>
              <a:buClrTx/>
              <a:buFont typeface="Arial" panose="020B0604020202020204" pitchFamily="34" charset="0"/>
              <a:buChar char="•"/>
            </a:pPr>
            <a:r>
              <a:rPr lang="en-US" sz="3200" dirty="0">
                <a:solidFill>
                  <a:schemeClr val="tx1"/>
                </a:solidFill>
                <a:latin typeface="Times New Roman" panose="02020603050405020304" pitchFamily="18" charset="0"/>
                <a:cs typeface="Times New Roman" panose="02020603050405020304" pitchFamily="18" charset="0"/>
              </a:rPr>
              <a:t>Outlining</a:t>
            </a:r>
          </a:p>
        </p:txBody>
      </p:sp>
      <p:sp>
        <p:nvSpPr>
          <p:cNvPr id="2" name="AutoShape 2" descr="data:image/jpeg;base64,/9j/4AAQSkZJRgABAQAAAQABAAD/2wCEAAkGBxQTEhQUExQWFhUVGB8aGRcYFx8ZHBkhIB0bIB8fIh8eHCggHh0lHyAYITEhJyorMS4uGiAzODMsNygvLisBCgoKDg0OGxAQGzQkICQsLCw0LDQsNC8sLDQwLCwsLi8vNC80LCwtNCwsLCwsLCwsLywsNDQsLyw0LCwsLCwsLP/AABEIANsA5gMBEQACEQEDEQH/xAAbAAEAAwEBAQEAAAAAAAAAAAAABAUGAwIBB//EAD0QAAEDAwIEBAQFAgQFBQAAAAECAxEABCESMQVBUWEGEyJxFDKBkSNCUqGxwfAHFWLRMzRyguEWQ2OS8f/EABsBAQACAwEBAAAAAAAAAAAAAAABBAIDBQYH/8QAOBEAAQQABAMGBQMDBQADAAAAAQACAxEEEiExQVFhBSJxgZHwE6GxwdEUMuEjQvEVMzRScgZTkv/aAAwDAQACEQMRAD8A/caIlESiJREoiURKIlESiJREoiURKIlESiJREoiURKIlESiJREoiURKIlESiJREoiURKIlESiJREoiURKIlESiJRF51CYnPSsS9ocG3qeCmjVr1WShKIuFmiEmTPqP8AMVTwUZZGbN9531r7LZKbPkF3q4taURKIlESiJREoiURKIlESiJREoiURKIlESiJREoiURKIlESiJREoi5OsSQQYI51WmwwkcHg04cfsVm19CuC9OOhIlRgVslmZCzPIaHv1UNaXGgqx7jP6U/c/0rz8//wAhA/2mX4n7fk30VtuD/wCxX1jixMSnlJg7fessP2655AdHwJNHb10+ah+FA2KsLe4SsSkz/IrtYXFxYlmeM39R4qs+NzDTl4U0pSpJhI2A3961ugkllzPNNGwG/iT9B8+CyDg1tDdSKurUlESiJREoiURKIlESiJREoiURKIlESiJREoiURRbC8DoUQCNKygg9qxa7MtccmcHoaUqslsUNy7V5yW0gH06lHoCYH8Kx/sawLu9QWovOfKOVqZWa2pREoioOJ3BWqBEDA/3rxfa2KfiJTGKyjQfS/wAdOGq6WHjDG3xUDTM5riBpeTr1Vq6XprBkie3WtkPcdmLbrhz97rF2opdrW4KFgid89x/eas4PFOw04e0k669R71CwkjD20VpUmRI519Ba4OAI2K5BFaL7UolESiKHZqX5joWSQCCjAAgjtzmZrTGXZ3B3kt8oZkaW9b8VMrctC5XNyltOpZgTFYve1gtyzZG55poXUVksEoiURKIlESiJREoiURKIlESiKmv+PMMOKSVErIkoTmIHPkCRGJnbFaXSsaa4qrJiYo3EE68lBPjNoadTawFCQQUmMkZEiNjWH6lvELV/qDBVg6q74beNOguNEGd+RxyIOR7VuY5rtQrUUjJBmYplZravLhMY3rCQuDbbupbV6r4FHpH1rFrnndteakgc1k1c6+Zu3OtldoKc0EgGUFXcxt2jbefaK7UTYI2EPjL9tTW3Stt711ArmFXcXE6Gl0IQQZRBJ+ZJ574nAEdetbsuHewkx0SR3mnW9xV0AK3utTzWHfB0PkVXrgEgHFcN+WN5a06X7uvmrQsiytFaLIaR6SfSNo6dzXusFI9mDiphd3RtXLqQuXIAZHa1qu7DmoGQR71cgmMoJLS3xWt7cvG10resEoiquIceZa1SSpSdwiCRtvkAb9aqy4uOO+JHJXIcFLLVaA81Ba8YMk+pK0jqdJ/YKn9q0jtKPiCPT8re7sqUbEH1/CtWlNv6HEqStCTI5+rrnYgTjvVoFk1OBsD6/wAKo4SQWwiifp/KnVuVdKIlESiJREoiURKIlESiKEGng4SFpUhR+UiCnEYI/r3rCnX0WrK8Ou9OSr/F3E1Ms+iQteARukRlX0wO0zWE7y1ui04yYxx93c/JfmqlEmY2/j7+/wB+9c7dcHUldW3CEaDsDqII29JAM/XYxyqQdKWQNNpduEcTUw4HEHJPqE4UOY/ffMSKyY8sNhZwzGJ2Zv8AlfprzrriQWdISoA61HMEThIB/f7V0SXEd1d5xe4dzjxU1sGBO8ZiswtoutV6opWd4lblDkjZUkY26ivCdq4R+FxJc0aOsjTbiR5fddWCQPZR4KMl0kHJxnGIzH9aoNne5jhZ0100A1o1012GnRbS0AhelLOn5ue8np396zdI4Q6Ps3vZ5ajXx/lQAM2yWbJWoJH17DrTA4d2IlEbB/AFapK8MbZWoSmBA5V9Fa0NAaNguOTZtfayULg/b6ikzBTMfWsHMsg8lsZJlBHNUPi3i62mwhJAWvdQOyf5BOfsao47EOjZlG5+n8rodnYVsr852H1/hYcrCpkZjcY2H9/2K4tg7r0NFu2y8KTEGfmE1jXHmpBvTkrjgvEFMDzfVEhOkRpUN1c5mNu/vFW8PM6IZ/KuHX+FSxUDZj8PjvfEcv5X6H8QnRrKgEETqJgQecmvQZ25c16LzPw3Zsla8lxteJNuKKUKCoEyNt4+v0rBkzHmmm1nJh5I224UpdbVpSiJREoiURKIlESiJRFiv8RN2pmIMAbTImf2qniuC5XaX9trM8NQhSypwHSndKSZMpVA9IkCRvyquyibKoRBpdbtv46K8RxDRqQgJZSYASRqKiBAJOdYnMxzEnet2etBorYly2G90fX8rOXz/mOEnUesnJgZ+uP72qu42VSkdmfa/UfDk/CsT+gfaMftFdKL9gXfw3+y3wVjWxb0oi43TAWkj7Gq2LwwxERYfI8j736LON5Y61m9EFQzsf2IP9K8AIwxz2dD46EHy2XWuwCjnypgbzvnoP6VM1CNuQVd768Q37ckbubV9wy08tGfmOT/ALfSvZ9k4AYSHX9x1P48lzcRL8R3QKZXUWhKIlEX5742/wCaztoTyyBn+s1wO0f9/XkPuvS9l/8AH05n7KPYupSmUKCiCcKSCVGDpIB5xjM88YzhG4NFtN7+fJbZWlxpwrbjsOPv5qc7Zof1lKS0vKoTKkrOkGJMaSc4wc1uMTZboUd+YOl+Xgq7ZXwVZzDbXQjWut+KoFkkkQSQTMiCDzET2OIqiSTpS6IoC7X6T4d/5Zmf0D/x+1eiwn+y3wXlsb/yH1zVlFWFVSiJREoiURKIlESiLh8R+J5cH5dU8t4issvdzLHN3qXq4cUkDSnVJg5277dYrAkhHEjYKr8QcJVcMkHTrT6kbgAxsT36+1apYy9vVV8RAZWVx4L82SVMlQKVJWMQrEfTY5+lc/Vq4YJjJBGq+FWqVkBRBhc4mdlY+x7x1pvqovN3j5/leuIMqUsSDqczERk7/ZWofSjgSfFTI0l3U+/ra/X2kBICRsBA+ldYCl6UChS9UUpREoipOItQ4SIGoZlSRvjmZ+teQ7Ug+Hiy5lDMNe80biv7iDfUUujA646PDofsvFhblS0zBA/1A7T0PtWvs7COkxDC6iG8cwO1ngT04eimaQNYa49KV9Xs1zUoiURKIsP49b/FSZGUCeuCr6xmuL2m3vg9PyvQdkO/pkdfws95U6W8zEmM+pQmMxiAJ6Zrn5bpnuz/AB910s1W/wB0P5+y6PXuyBC0gQCrO+5E7dvYVm6X+3cdffosWQ/3bE8vfqvthYuXDoSBleSqNgd1H++gpHE+Z9c+P3USzRwR3y4fZfpVo62mGkmCgBIScGAMb7iOYr0UZYO4OHBeWka939R3HW1KratKURKIlESiJRFyuUqKFBCglUYJEgH2qW1eqh11oot5xVDKU+aYUrAQMknt2PUx9KzbEXnu7LB0gaO8qVnxrblfqQ6icaikHqRgEnmeXOrBwclaEFaBi2XqCrxXEApCVNDzdfy6TiOZJ2Efziq+SiQ7SlYz2Lbqpta1moPE+EtPj1p9QBAWMKTPQ/0OKwfG1+60ywMk/cPPisDxvgqrVxMSW1mNXvuOxG49p5VRkiMZ6Ljz4cwOHI+/8KClOUJHrUhZIKQSV7HAidMgnr6jtWHRagNQN6Pr7+6/WhXUXo0oiURKIoHEZ21EAjYIk/flXG7Tz2AJC0EbBhJ9eA9DyVmCuV+acOSMRpEb4z95Pfmans1gAAaACLvTXprZ43epScnip9dhVkoiURKIsJ4tIVdeqdKEDGkmYk9sEnSSDiuJjqM+uwHL34L0PZ1tw/d3J5+9t1TrcVGmdS1npkTH1JUdwJx1mqZLqq7J9/Pz0V4NbeaqA9/L6q54V4PcX63leWD+VOVffZP7/SrkPZr3d6Q10G/4Co4jtVjO7GM3U7fytfw7hzbCdLaYnc7k+5rrRQsiFMC4k2IkmdmeV0ubRCykqElJkf7dx2rJ8bXEE8FiyVzAQ07rvWa1pREoiURKIvhNEXNm4QsShSVDqkg/xUlpG4UBwOy/IeLXyn3luKPzdTAA/KO0Y/s13I2BjQAuNI8vcSpY4WSjU4vSqJCIlWmEgKOfSM7EflP0w+LrTQs/h6WSrf8Aw64gQ4pkmUrBUB0Ij+RM/wDSK0Y2MZc3JbsG85sq/Qa5i6KURcrq3S4goUJSreoIBFFYuaHCisPc2PlqCYJbQYcOWkLMEaQMrWkDdRKvdIk1SLaNcPT381yXR5TXAb8AenM9TZ8lsuGPBSJBBEkCElIicAT8wAgahg8quMNhdSJ1t9+/NS6yWxKIvilAAkmANyaKQCTQWe4j4utEktlSnDzDaFL9sgR33rCSJsrCx2x8l0oOy8U4ZwA0dSB9V54f4xtFKS3K2ycAONqTP1Igb8zzpHE2Nga3YdbWU3ZWKAL6DvAg/L8LSCs1ykoiURcbx7QhSpiBuQVAdyBkisJHZWkrOJuZ4bV/JYxbSnVkfgBPzKIKvLVgkqjOhX+r077qrkFpkdWlbnkevQ9dPNd0ObE0HvXsNrHTqOmvktDwLgiGfWQdZ6nVp6gHv132q/hsK2PvcfWlzcXjHTd0belq4q2qKURKIlESiLjaXKXE6kzEkZEbfyO9QDeqzkjMbspXapWCURDRF5bbCRAAA7CKkkndQAAvyfjlkq2fKSDpCtST+oe/LaO1dmJ4kZa5ErDG+l4u74rXhR1EyqT8x6dByG0GPaZayhsjn2d124E8Gbll3ZOrSsfp1AjPQc/p1BrGYZ4y1TEcsgcv1euMuulESiKHfcNbdyoHUBAUDlOZx0PfesHMDt1rfE1+p3XvzG2UpSpYSAIBWrOO6jJ96yAoUtsULiMrATXms3f+KFvOeRYFpSpIU6tXoTtkCfVMkAicpOIzWVc12IuzmQs+Li7A4NA1O+/Lzrfe9F2HhVxwI+IvH1KTM+UrygqTOQJGNsRS1h/qUcZPwYWgHmMxHvrarLThfmX6rfznlsWwQ4pDjhXqWcpGfyjBg8x9nBW5MTkwYmyND32AQKobHz4LRWdwo3brSG0oabSCtWmCtxecHYwnfcyoVC5csYGGbI51ucdBewGnzO3gvHii/aQgMrbLy35ShkDK+pn8oGCVct6BZYCCR7zIx2UM1LuX5vlxVBw1HFLW2CQ0ytLaTCStSnAMkDEJVG0DfAFZaLpTns3FTlxc4Eka0A356i+ZXXgto/es+cq/chf5WU+X5ZkSmZkkbZ5Hng1B0WGKlhwcvwmwDTi45r68vT+FLf4Jeteq2u1OQP8AhPjWFR/q+YE/z0FNFoZjMHL3Z4q6t0ry298VP4Dxz4jW04hTL7eHGyf3SobjIyNpHUEwQq+Lwf6epGOzMOx+xHv6qVZcIS3upS5nVqiFT1ERPfBPOarx4cM439/fNapcU5/ADw4eB38tuSsasKqlESiJRFDffSyVLcWEoPNSoAI5Z69uhrEkN1K3sY6UBrBZ6BQk+KbUmPN7yUqA+5EVh8ZnNbz2biQLy/MKzs9GhPllJRHpKTIjsRWwVWiqSZ85z78bXapWCURKIvDoMHSYPIkTUir1UHoo11wxt1Gh1IWN87z1B3H05Vk2RzTbTSxdG1wpwtYyy4VZ3L7rLSXUFvV6plODp5532E5g10HSzRsD3EG1RbHFI8taCKXC/wDDLjMlZC0JBOoSNQGwV02xzzAOcSzEtftuodh3N32Wx4Be60BJnUgAGQQQeYPTsN4GaozMo2rsTrFKFceK0JuxbaFH1JQVgjClRy6ZEn3xWxuFJi+Ja1nEgSZKWiqqrKzPFuIvvvKtbQhPlx57xOW9QJASCMnv9MbiV1cPBDDEMRiBd3lbzrn7667HrZ+DbZIlxJeWclbpKiTn+JMTJ70tYydrYhx7hyjkNAl14JsViDbpHdJKT+xpZUR9sY1hsSE+Oqqz5/DXEanFP2biwklZlbJVgEnmn9uwO7dXP6PaLDTQyUC9NnV05+9ttCxZttXLjmo67rSNJ2ltJ27lMf8A1qFzHTSS4drK0jvX/wBH8/VVtkfK4o+knFy0hxPYt+gjpmSfpU8Fbl/q9nscP7HEf/rVaN1UAqiYBqFy2izSq/CnFjdWrb6gEqXqkDYQojn7VJFFW+0MKMNiHRNNgV8wCqi8uEcPvFOKkW9yiSEoJh1JHJI/MDvzPYU3V2ON2OwwY3V7DxP9p8eVe7VhwVbqRc3FwopQtRUlBJIQhAImCMSACY3351CrYoRu+HDCLIFE8yfwdPkqWytX+ILF0F/DNwpKCgAuKTMAkkbYnl0gRJnZX5ZIMC39OW/EdoTf7QenvretCVa3r1k6hq7fDrTqoQ8vSjRCVGFZmZAAkmZ3BEFvstMkMOMjMmHZlc0atFm9Rt7/ACNTb3CFiUKSobSkgj9qhch8bmGnCvFdaLBKIvLjgSCpRgASSeQG9CaUtaXEAblfk/F79y8eUZgTCGyYhP8AE8zz+1c57jI5eyw0EeEiA9T197cPVQn7NSUJJgpVJSoewx752NYlpAW9krXOI4jce/DdXPgrjKmnktkjy3DCgTEE7Ed5gHt7VsgkIdXBUe1MI2SIvH7h9OIX6Km1OvWXFGBAQMI+25Peau1rdrzBkGTKGjx4qTWS1JREoi86sxnadsfeiL4GwJIABO56+9Tail5W4kynCimCU4J6jH8UAI1SxsqHwdeeaHVeR5UEJBySoZMEnmCST3UedWcUzJQzWq+Gfms5aVWlZv7ha7ZKGkNkoN0UBS1mI9E4GnBCt9sjY6c7g3LenJd92Cw+CDZMQ3NIdQ3avHx2U9fhEqUXPjLxK1EmA6NKZ5BMHA6TWFo3tUBob8Flf+dfW168PcMXZJW0pbRbWqUOmUrU4owEqBMKOwBBkxEUOqjGYlmMIka05gNW7gAcRy66LiPCrpl24vbhbg9UNq8tAjMBGfblNLWw9pRj+nDC0N21Fn1U3gPFVmyU+76ykLXgySBJA+VOYxsNvrUKvi8M0YoQs0uh66cz47ldrdwXdiFOtBYebktgxq5gAzgnGZwanZYPacLi8rHVlNXy5+PpqoNqh915F1doTbN24WUtlYUZUmCtSh6QAnVjvTwViQwxxnD4cl7n1ZqtjdAb70qriXiNt65YdtkPPfDlYV5bSiFhaYMGORAOYwcTU0rkHZ8kUD45y1ueqtw0o38/PrS98a489cKZtEsvWxfXClLASS2Mr0EGZj/bnUALHC4KKBr8S57Xhg0A5na/NTuBLXZreYdSvyQVONvkSgIgEhSuRnVg/vNFXxYbi2smjIz6NLeN9B6I3f3d4ubci3tZgPKSC453SlQICZ6jI58g0Cl0GFwbam78n/W+63xI4+H+eSrp+1Wlq9dS9bvgoLxKWtBzIIxggjZROCe1N9lkI4cS0yYVpa9uuXV1+/DouvG/EbTTbTNmptbjnob8tSSlsYEk5CQJEYPsYpSxwuAkle6XEggN1Ng2enM9V6tm7RS02rhTcPOJCnSPUCUJQNS8mCYETmT3osXuxTWnEMtjAaHDck0Oe/BV3iGwbsPx7RQQ6AAWNY/ETyASZJ9UGByBiDuGqs4OaTHf0cQLb/2rY+I0259LsLa2rwWhKxjUAYO4kTB71C4UjMji08F0JosFifGPHysKZZgo/wDcXOBOwn+vPAG9VZpL7oXf7NwQaRLJvwH39+Kx7TKgTonUBOs4GenIAjmrcTtVYDku254I7+3L39B81cLWlVu5JJEa0xkBWoBUEiIIOQCMJxOY2aFpVEBzZ20OnlWn8Xz1rRQeCDU80htI1LWATuQkGTAMxgTIzWLNXABWMV3YnOedAD6+9KX64D+1dFeLpfaIlESiL4TRFUcKsrlLjin3wpBUdCEgRB2k6QQQIwD9TW+R8ZaAxuvNaI2SBxLnacl44o7bWal3SxDjsJwSVLIAhKUzE4G0bVgZHOaGcArmEwLp5T8Ma8TwA5nkojaL+5EqUmzbM+gAOOkdyfSnlsJ9qw0XQccFhzTR8V3PZv5K6+GOGPWk26tLjAlSHAAkpkj0qTz3J1Ce8YoSsMfiIcV/WGj9ARuD1B+2nmvdhek8QuWtZUlLbZ08kHMx7gg/SoUTQgYKOSqJLtef+FD/AMRbsItkJzrW8jQAJPpUFEgbnb9xUhb+xYi+cngGuvlqK+68/wDrQ7/AXunqWo/rH71OXqp/0gf/AHsv/wBKh4RxBbDq2LJs3LTqfMDSjpLOoDCiRpAjkTnGZmW+66OJgZPGJcU74bmmsw1zVew3OvH7VU/hVvxO0RoQwy63JhsOQpMkn5lEDnHPl9WhVbEP7OxTsznua7nWh0rYK3tH/wDMG3WLm3W0EFOtPmYKp1aQUwTEJJ96jZUpGfoXtlgkDrutOG10fNWFpxC3Qp1hGlsWqUleyUICgSM+wk+4oq0kE7w2V2peTXEmlSPeJkurSu2s3LkonQ7AQkThWlSsiYg4FKV9vZzomFs8wjurbueYsBROK3jt49bWjzC2ErUVugrSoLSgTpBSdiYB25VI0W/DxRYSKTExPDyBQ0IonS9em3mtyhIAAAgDAA2FYrz5JJsrFWPAkvPXFzxBOA6W2kuKhARICSBMHUSAOpzzrK+S70uNMMUcGDP9tuI3urPp72V074Qslb26PpI/g1FlUG9q4xu0hXx1VrYtOeWGm1JQVBMgExtOZiSB7q71CNGJxsjc9uBIF8Pxt9FV217bNW7L7pD5ecSlbhIWEKVKs5hIT0ER0qaVx8OIlnfFGMmUEgbWBp4m+q6ccsfgUG5tEhCUq1PtAelxOAY/SU7iMbn3DVYYSb9a74GJNkimu4tO/nfX/EjjF046W/J1aFpSttew1GSkg7fLIKVfqTGd9Ema6C14aOOPN8TcEgjoKv56gjkbVK74XecKVI8s4woiEkYKYTnkdEHYJG+9aTC47K83tKFgIdfhxvjrpx1vqo9z4Kuz+dpUbDUoR2HoAA+1QcO9bWdr4UcCPIfPVQ0eDbsmPL09ytMfsSevKsPgP5Lee1sKBea/I3781sfCvh5NuPMUoLcIjUBhOcgc95knpsKtRRBuvFcPtDHunOQCm7+PU/ZXFzYIWoKI9SYhQwd5ieY7VsLQdVRZO9jS0HQ8FKrJal8UYoi+LJgxkxQIqfi3h5u4bCFFSJX5h0mckQd5G3Tnmt8U7o3WNdKWiSBsjaOnFXIrQt6zXB7dN1cG9USpKJSwkgaUiBKwQTJV3iMiMVK62Jkdhof0rdCdXHienSvnurTjCLpWlNuppA/MtYKlDslIEH3J+lQqeGOGbZmBPICgPM7+gVQ5wO/iU8Q9UbFhIE9fmMfb6VOiutxmBujh9P8A0fwPqqjw/crs7x0X4hy6I0vg/hq0/l2EbxntjYmTtoruMjZi8K04Q92O+7/cL49ffgtKzZWz9yLlLodW2kBKQsKSiQcgDmoK59j0qFynTYiCAwFuUOOulE9PKldKmDG9QqI31VT4ZtFoaK3W223nVFbiUARJJiSNzEZ6k1JVzHStfIGxuLmtAAJ96KbZXoc1gYLayhQkSI2OOoIP1qFXlhMeUnYgEe+h0VP4KUSi41SV/FOhRP5oIAPsAAn/ALakq92oAHx5dsja6aX9dfNceJ+HCq5W6Eh1t7R5rRVplSMJV0KQOWPrsFrODH1AI7yubdOq9DuOh96LSkpSnklKR7AD+gqFytXHmSsTxrj7Pxls6A6EsrUhbxQQ16kkaSTkkb7fflIC7+FwM36WSOxbgCG33tDurjxLfqt37NyT5anCy4Jx+IBpMbYKZnpPWgCpYGFs8UrP7gMw8tx5gqy49w34i3cZnSVjCv0qBBSfooA1AVXCYj9PM2SrrhzGx+Sy1vxK9ul/BkBhbUfEvIVJ0nbRHyqWM9v2rLbVdd+HwmGZ+qHfDv2NI48b5hvzVt4fsrRK32m2QHGSEuFYClK1AKSrUZJCt+WQcVBVLGTYpzGSPf3XAkVoBRoiui7cZtbMtKtnVMtJczpCkNnVyUB+rA5UCwwsuLEgnjBcRxonTl4LN8T+KtbN1hw+eyppSUO7FIIIEnOAM+qOgUokJDiupB+mxWKbKzuPDgS3nz5ceV9QN1qfCK0myt9KgsBtIkdQACOxBxFDuuR2iHDFSZhXeJVvUKklESiKPa2ugrIUSFq1RyT1j3OagClskkzhorYV4qRUrWlESiLwpRkCMZkzttGOc5+1TwUL3UKVneLcVecdVbWiAVBP4jy50NziBHzK/j6GJXTw+GijjE+IOl6NG5/A98rjcBS5/lMNgpeDbgCdJSUqlXpgwQeVDutuLMf+o2/Vtt1u7FDVaDhd6HmkuDnIMgjIJBwQDEg7jaoXNxEJhkLD79FG4zxNTZbbab8x52dKZgJCY1LUegkYxJIEjcFtw2HbIHPkdTW1fW9gPGvLdZnxnbP/AOXOKuS0t0LSUBtBhJUQiBJkmFGDArIbrrdmSQfrmiAENo3Z3rXhtsuPizwym3Z+KtZYdaA1hslIUDAVzxG+MEA42oDehWfZ3aLp5f0+I7zXbXrR4e91Y2XB75xtJXxBWhQB9LKQqCJjVuDtmosclVlxWCjecuH1FjVxr0V4y2zZMGVaUJlSlrVKlHmSdyo/vyqFz3Omxk2gsnQADQdByAXLw+3JdfkFL6gpPoCTEQJIJ1Y/MemMRRZ4x1BsXFgo63rflXh91nWby5F3cuWlootqML1kIC1o1AqTMfNjInqcmBK6josOcNGzES04bVrQNaGuSlNs8VfGvzmrbmlsN6z7KKgcjqKaLSX9mQnJkMnW69K+6r+Mt3znlW94EfDqdT5j7UgKQM6VfpkxnGY3qRSs4Z2CZmnw15w0008DzHPw1W1c4a0pryVNoLQAGggFONsViuC3EStk+IHHNz4qg8dq8wW1qnLjzyTHRKMqV9B/WpC6XZIyfExB2a0+ZOgHmtBxK/bYbU66oJQkZP8ATuT0qFzIIHzvEcYslY3g7N644+7bpSw3crC/MfEriABpQD7/ADYqdF3cS7BsYyOY53MFU3bfifwu/FUrsmkssOKcu712PMXvOApUbAJEADlPOKbrXhyzGSGSVobFE3YfIefz810uuDcPsWAq5QlwkwXHE+YpajJMTMTk8vvmmpWMeLx2NmywHL0BoAfdfODeMOHISGUFTKM6QtKtOd85AHvApRTE9lY97jI7vHjRF/Zc7F5u04kptK0i3u2w4kT6Q4TA0naFAH3kDkKbhZysfi8AHltvjOU86rj4fk81tqhcBKIlESiJREoiURKIvKzAJ6CikCysx/h+4Pgg6tUlalqUpUDdSifpqKj/AN1Sd11u2Gn9WY2jYAADwH2oeStuG2zSFuqacTpcOtSAQRrOSqZxqBGNtjzqFTnkkexrZG6t0B6Dh5fwqvinCbhgqdsCmVK1OMr+VR/0nGmTJIkZMyNjIrircGKgmAjxd6Cg4bjx5+h8OI6eFOJPPOXPno8paFJSGpkJGmZB56lTkdAOVCse0MPFCyP4JzAgnNz1+wV1e2KHSjWJDawsCcahMEjnEyO4FQqEUz482XiK8uPquHGeDNXKNDoMQQClRSRPsYPsZFFsw2Llwzs0f0v35Km4NdPMvKsX16pbKrd6ACpIxpI2K079wM1KvYqOKWIYuJta05vAHn4FVPhrhYuLm5TdLW+bVwBAcUdO6vVo25bbUV3HYk4eCM4doZ8RutDXhpe/HxWl43x4WrjIcRDLhKS7OGziARGx6zyPSlLlYXBHEseWHvN1y8SONK4bcCgCkgg7EGQfrUKi5paaIoqvVxZAuUsa0SpBIT+aQR3jacROKKyMK8wGXKaBGvDX+V34o4yG1C4KA2oQrzCAkzyzRa4Gyl4MIOYct1Vt+JGNbNvbEPqVj8NWpLaBgqUrMQOW5Mdamlbd2fNkfNP3AOYokngAo73Bro3JukrYDgCm0BSVqSG5BTsoQuZkjGaWtrcXhhAICHZdCaIBzceB05BVfib4mbZV42g27Tut1TBUoYkJ1JUNWkc98E/UFbwH6epG4ZxzubTQ6h40RpfLb8bC54m0hrzluJDUAhc4IO0dZ5RvULiMw8r5PhNac21LE3vF1P3lvdM2ty4ywleQ3GvUIlMnI+1ZbaLvxYUQYaTDySNa55HHauB5LUcK8R29wFAEoU2JW26NC0AcyDyHUSBUELkYjs+eAgkWDsRqD4LjwR3421JuWklKlKABSQCkHCoOQe/bFQs8U39HiP6LtQBx2PEaLH8J8KNOXd5auKUUsoAaMyUBR1g+6ZGNjqV1rInRdzEdpyx4aHEMAtxJd1rT518gtP4I4i4Q9avmXrVWmf1JPynOTt9tM5qCuT2rBGCzERftkF+B4+/HgtRULkJREoiURKIlESiLhf3aWm1uL+VCSo7cvcgTRbIonSvDG7k0sJ4f8JMuMF65V+EpSnEIClNoSkk5PqjSRB5ECJNZEr0OM7UlZN8KAd4ANJoEk+m4OnEXsrq0tuGr0aA2rzDCMqk6PSNMn8ukAEbQI5ViqEknaDLzWK32466+N2R49Vb279ux+ElxCNOdCl5Ez+ozGD9jRU3snm/qFpN8a/Co+IWyH7gP2TwD4BQtTakqQcHSHBmRIgkZ25xUq/DI6GExYpnc3AIIPXKfDy+a5p41xDzlW3k2xeCAvVrVoCSSATznt/FNFmcJgPhCfO7LdVQu6tWfAuCuodVcXLvmPqToATIbbTIOlI55Ayf/ANEqpi8XE+MQwMysBvX9xPM/hUXi7jDfxlklJKXWrgBWpKkDQogKIKgAU43BqQNF0OzsJJ+lmLhbXM0og6jUaDUFXdrYtG+ceYeAXGi4aEHVj0neUqHXM5GDNRwVCSaUYRsUrNN2u5cx1Hp9FM8TXbbVq6p0JKdJGlUQokYTnGTUBaMDFJJiGNju73HDmV+ecA4J5zKA1aOpKkQu4U4Up1RhYbUQHEzHP6VkSvTYzGfClJklBo6MqzXLMNWmv8qxRwZxm3SHbNpstpJNy06ErRpHzfLJVHQ9T6TQlVTi45pyY5ibP7C2wbO2+3l6hWXAPCpeQh/iClPuKSClCydLYjAgQCYOcR7nJXyVXGdpiJxiwYyNBOo3P8cvYWms+H27IUppppvHqKEBOB1IHLNY2uVLPPNTZHE+JJ+qrFNXT6A6xdoQlfqQPIkFJ+WSo6siCce1SrQdhoHGOWIkjQ97jxqtNFwt/E5aV5PEEBlZwlwSWXPZX5T2V/WKVyW1/Zwlb8XBnMOX9zfLj4hQGEtX98UgpVbWaU6EJgtrUob4wQIIj/T3MzsFYeZcDgw7aSQmyf3AD87+fgthZ3bbqdTagpIJTI2BBgisVxJYnxmnijv6rEosP81uVOuAJtWFFtAAhbpG8q3Cfb23k1lsu8Z/9MgEbNZHgE8m8tNr97aK84hxvynEWlox5rqUiUAhCGkYA1KjGNh/4BiuKoQ4P4rDicQ/K0k67lx6D6n+apPh76zdeu1IYdDuguhKlBSQMYKgAlKZyTOEyYqdDor/AMTB4uNmGDnNy3l0FHxrUk8hWprVSeA3CXeKPOtKCm1W6dUEGFakiDBIkBJ2JERBzUcFqxbHRdnMjkFODzXhR2vxWzqFwkoiURKIlESiJRFVeKbVTto8hAJUUSANyUwoD6xH1ormAkbHiWOdtf10Vb4e8m+4e02vISlKHEpUU5QACDp/KRnuDUnQq1jPi4LGue3iSQSL0PjxH1WiAQ0j8qEIHZKUgfsBULmd+R3MnzJUDiHALa4hTjKF51TtJgCSRE4AGelLViHHYiDRjyOHvkplnZNtAhtCUyZMCJPUncnuaLRJM+Q282sY5xlpri+vzElt1oNKUD6ULBJAJ25R9exqeC7owksnZuXLTmuzVxIpa/i1+GGlOkEhMSBvBUAT3gEmOcRULiYeEzSCMGifwvHF+Es3Teh1IUk7Hmnuk8jS1lhsVLhn54zR+vivzN+xat3nW1uvpuG9IaWxIW8FbIg7wNPMcxmBWS9YyaXERNexrSx12HbNrj5m+HXiVeeG+FG4unS+64+3aL0IDpmVwNRI29JEc9+1CufjsSIMOwRNDHSCzXLh11Wz4vq8lzQsNqCSUrMQkjIJnETv2rFcHDZfitzNzC9RzUThl43e2qSSkhxA1pSo+k8xIIUIPsaLfPFJg8QQOBNEjf7L1xvjbduAnKnV4Q0kalEkwDHJM7kx98UUYXBvnN7NG5Og/wA9FEs+BrTw9VuVfiuNr1KP63Aoq25ajHsKnit0mMY7GicDugih0bVfILx4W420W2rZakouG0JQppRhUhI2nfGcTGaFZdoYOQPdO0WxxJDuGp+Xmp/HrhCQ0242l0POpb0KAIzJJgg7AE1CrYSN5LnsdlytLr+3mV1sOFW9sFqabQ0CJURgQJ37CTRYy4mfEUJHF3LzWT4d4Zcdddh1bdipfmIQ2sAuFQBnUkfLnqdgOU1la7M3aLIo290OmAokj9tabHj/AJ40tE54aZ8tDbZdaQjVAadWn5pmc5M5kzUWuW3tCXOXvAcTW7QdvfBUmp3hzqnHS0th9z1ugKS4CflmSRpTB3P5iRnBK/UfaEYZHYe0aN0LdN+Wp8OHJbJaQQQcgjNQuGCQbCx3+F9mlNu44E6Stwgf9KflAnJElW5NSV3O3pS6ZrCbofM7/QLZ1C4SURKIlESiJREoiURZO74E9bPrubIBQc/4jBVpBP6gduZMY5wcxUrsx42LEQiDFGsuzqs1y/n/ACvvDrh26fcbuNLYQ2UqYQsknXGScGUjp+tJFFEzI8LE18PesghxHLkNdz9CuDXhq9tsWd0ny+TTycD6gH9gkdqWOK2O7QwmI1xMRzf9mn/HztQ/FC+INsDzX0S8pLWlpMBOqZVrICu0dzmgpb8AMDJN3GHugusnU1wrUdbWnXwO2Ra+QtCfIQmTqxEDKycQdzqpZtckYzEvxHxmk5yfYr7LA8Wtm3Ai2sbm5eDu6NRW02mSBJIBA1Ac9gTnAMjmV6PDyPjJxGLja3LxqnE/fQ+unOv1JpGlIT0AH2rFeQccxJWEc4c5c8UuVNPFoNJQ2paUgqykEpTPynf1DaD1zPBeibiI8P2fG2RmbMSQCdNzqefgrVfhW0t23HVl5WlJWtZeWFGBJJ0qSJxvS1THaWJne2NuUWaAyihfiDovvDuCm6Qly8IcSTqaaCpQgRCTqBJcJTmSSM7U2SbFjDPLMN3TsXcSeOnCjwq16vOC2Tj+lKvJuQJlpwocg8+ih9DRYxYzGMhzEZo+otv8fJeLewsbFRWXEeeR877oKz99p5kDampWT58bjWhoacnJrdPfS1xsvGLpBLlotSRP4lutLyDHcEQf9MzSlsl7JjBpkoB5OBaffXZT2+ONOfiJtnFLTIB0I1YHJWo4MwCCQcxioVZ2Dkj7jpAAepr0rhxvZV3+RO36vNvAu3CcNNIUCpIwdRJBAUewBjBqdla/WxYIfDw1PvdxGh6DbRVzlhcouW7By5Uu2e1KClJClqCQSpuTkcs+0dKnhastnw78O7FsjAkbQoaAE7Or3x8VuDYI8sNAFKEjSAhRTAgjdJB2P3zvWK4Hx35y86k66gHjfH3wWeveBXDH4tncOGMqZeUXUqA5CTqB9snrU2ulFjYJ/wCniYx0c0BpHjwU11ocQt2FSEoK0rWkgKnQTLfT5xBMcjimy0NccDO8bmiAdt9j6ahcvEnGDPwtt633DpOlWny07qJV+VWmYiSN4PMFngsIP+RPowa7XmPDTiL32HC1dcOskstpbQMCTkkmSSSZOTJJyahUJ5nTPL3b/jRSaLUlESiJREoiURKIlESiLN8f4Q6l34q0CfOCSFJhMuYGkalchAkCJgeoVK6mDxURj/T4j9t6HXTnoOPI61yKqL7xy+0BrsnEKSseYSlRQUbEpVAgnETippXouxoJCcswII02u+o1861Wh4vYN39ugoWI1JcbWBqEjt7FQ7E9RWK5mGnfgpjmHAtI2960eqs33UttlTqkhKU+tRwO57CiqMa576jGpOg4rjw1LABLAaAO/lhI++nnRZzme/6t+d/derzibTUBxxCSowAVAEnsKKIsPLLeRpNdFjeD8dDNy846kNM3BBn8zSwYCXAJKVKB1HVtgbCaml3cTgjLAxkZzOZ6OHNvMAihW/iVsOIW6bi3cQFDS62UhQMj1DBHXeahcOGR2Hma8jVpBrwKoeA+JUobQxcym5bWhlSTusk6UrEn1JO5I79pkhdHF9nlzzLBrGQXA8BQsjoRsP8AKt/EXCkvtERDiPU0vmhYyCDvvE9RUKlgsS6CQH+06EcxxVV4M4O18I2pxgeYsEuFwalKVJlRKp339iKk7q52ni5P1Lmsf3RtWgArbTko3izw223bvu2wWyvQdSGTpS4MiFJiNiraN+cCgK29n9oSSTMjnpwvQu1I8D4gbrUcM0+S3o+XQmB0EDFQuRPm+K7NvZUPjzRdZUWnVIWyrUC2oTKRlJk6TIJEKxkTRb8I4RygSNBDtNRz4jjvxGq6cJdTcNsvqSNekx/pJwoD6iKLHENdBI+EHS/Xkq3xBe6L3h6CSELW4T0JCISD3lWPeppWsHDmws7gLIDfHez8grziClhpwtp1rCTpTIGoxgScZNQufCGmRoeaFizyCzD+qysre2bBLytKfRyJMrUTB9MnTOPm3G4ndddmXGYuSd/7RZ148h41rx22KkWr3xN6hxAPlW6TDgA0OFwZjJ6JII6HJBFQtUjf0+ELHfueRpxblOn3u/TRaei5KURKIlESiJREoiURKIlESiLw62FJKVAFKhBBEgg7gjpRS1xaQQaIWVHgwtLKrS6dt0kklv50T2B7xvNTa7H+riVobiYg8jjsfl9qQ8A4gsaXeIegiFBLKJI55gRj3qbHJT+uwLDmZBrwtxXpP+HlkAPSvUN1+YoKP2OkfQCozFQe3cYSdRXKhX59Spdt4NtG0qCGykqEagtWoexJ9PPbqaWtD+1sVIQXOuuFCvPmqy74Gts6jZM3q8y4opbUoSYKpBSpUaQTA5nnQFW48Y14yiZ0Q5CyB4VqBd8Vx8HW4tXXUOshh18lTSS5qTp5NyPTqBmIEkDtQrPtN5xMbXRvztZoTVG/+3Oj6X4qzteAvO3LdzeKa1NT5bbSTAnmpSvUqN42nNLVWTGwxwOgwwNO3Ljr5AaD6qZwzi2u5ubdwgLQoFAiNTZSnI6wqZPcVFLRPhcsEc7NiKPQgn00pWtuwltCUIASlIgAbACipve6Rxc42SqHwpfruTdOKksqdKWgoY0pEHHQn95qSuj2hAzDiJjf3htu8TqPRfX/AA00hpTbTzzCFGYbcCdIk6gJ5GSSTnAEwIpahvaEj5BJIxryOYu+XpXh56qg4xxG1tbZVnZguqWD5nl+tQSYDi1KAjVpkDkMTAEVI11XSw2HxOJnGJxPdA2vQX/aAOV+virngHiOxRboQ28NDSMghQIjeRHv1+tQQVRxmAxr5y57NXHpSrL8q4o62lAUzbNEqS8oaVuLg6dAOYG/05GKnZW4cvZkbi6nSO0LRqAOObx92FIul8UaCEebanUQhK3CdS1GYgBIAMflhWxyaaLVGOzZSXZX6a0KoDzJ9dPBR+LeHlqcZFw8XlOkIWMNwgETGlOokqKegyrYGotbMPj2tjeYWZQ3UcdeG5ra+fDeltbO0Q0hLbaQlCRASOVQuFLK+V5e82Su1FrSiJREoiURKIlESiJREoiURKIlESiJREoiURQeL8KbuUaHUhQCgodiOY779s5BGKKxhsTJh354zWlLN8O8NXyQpKr5aUBZCU/8QlHKVHSoK5Y2jHabC6k3aGDcQRACa1O2vhqCPFS1eCGdBHmPB0qCi+HD5kiYyZxk4770taR2xNnvK3LVZa7tLG+O7p5h1LCnnHEhAVKzGrJjA+ZQInV1I2gVIFru9kxxTxmYMDTdacPwDy/K0drx26ti3arskLVolAYXpBSN/SoY7yajRcuTBYbEB2IbMQLo5hx8R+FB4taovXQbkM2boGnS46FOKTnSQAsAQokxpk6QJg1O2ysYeV+DjqAmRu9htAHjwPDTfjsrw8Nct22xw5NuGyBrcXlSh+qRAVjOSP8AaPFc8YiOeRxxpdfADYdOnoqK0vFrUQ7cWCVrHpW035iiRkyFIhQxMyI+0DS6EkTWAGOOQgbhxoctKOnoVPseIMIU0suF+4WNDa3JbTMckmS2VAxgdBiRJVpYJnhzQ3IwakDU11IrMBvvzOtGpds2tCzcXziVLTCm2UJnypBTykkmSJmJA7QWl7mOb8HCNoHQuJ/dx8NN9r+d2PD7bz1t3TgUkhJ0NqTBTqCdwchQ9aZ56vaoVaaT4LHYdhBF6kcaJ+R0PSvFXVFQSiJREoiURKIlESiJREoiURKIlESiJREoiURKIlEXwnGPttRTxQj70RcLtpB0qWgLKVDT6dRSSQJHSNyegos43PFhrqsc6tcOJcOS6UqEJdQFeW4U6tMiD07bEHG+9FsgnMYLTq01Yurr3yI6LL8fbdSFG8tW7pnBK2RpWkCYn1ajplW0DnImpC6+DdE4gYaUxu5O1BPTStaHXxVd4X4Gzcm5Uwt9m3DiQ0W1lJPo9UlQJO/PrUnRWsfjJsOIxK1rn0bsXx02rkr0cJZCX27Za1PNABQmVlQbOj1LwDBTkYEDvWK536mUuY+cANdtyAza6DXgepUiz8OIVoccU8XB6glbvmFpRTpUATIwecbpHSpWuXHubmYwDLto2swuwSOv0JVnZcKZR8jYlJOSMySCSCepAMjoOlQqkuJmf+529fLQKY+8lCVLWoJSkSVEwAKLQxjnuDWiyVysb5t5GtpaXE9UmR7e9FnLC+J2WRpB6qTRakoiURKIlESiJREoiURKIlESiJREoiURKIlESiL5FEX2iL4aIq/jvDfiGi35i2wSCVI+aBmB9Y5HEjnIK1hMR8CT4mUHodvfopFihSWkBWVBIB9RVkADKiAT7wPai1SlrpHFu1nhXy1r1WY8JOXheuGrltCGwJCUBACSTiNOSCJMqzipNLrdotwgijkhcSeZvWvHl0Vkwy8h91wqdW2tSEJbhMiAApydUBJ35HfG1Qqr3wviawABwBN6+Ibtv6+K5+HGHkecl66S84Vkj/4+QlOME7pEDEA1Kyxr4n5HRxFra9fPX11KnXfFGWXGkKUAp9QSkxOs4AyPoM/qFQq8eGlmY5zRYaLPT39ivPFGG7lLlu6hzSpAUVAY+b0wcysFMxB+s0UwPfh3NmjIsGq8tbHI3S5+GfD7dmlaEFatStRUsjOIgAREe3P7STayx+Ofi3BzwBQqh/KuqhUUoiURKIlESiJREoiURKIlESiJREoiURKIlESiJREoi+RRF9oi+URedlfLuJKscowec/7HbElluN/JRruzDmnUVp0rC/QojURyMbpPMbUW2OUsuqNgjUbeHXkV0dbSCVpCQs6QpWiSQDsYycFUchM0WLXEjKdtdL/PlfPZRmksPHASs27hAJT8ixvBPMTuMfai2uM0I1JGceoPP39VItmwgBAUpRMmVEr55yfeB/4otT3F/eIA8KCke1FqUdppZXrUSmNSQhKtSSJkKMpBC4G0wJO+9Ftc5oblbrsbrXbUbnT3opNFqSiJREoiURKIlESiJREoiURKIlESiJREoiURKIlESiJREoiURKIvgEbCindc2kkTqg5wex5f30osnEHZewnud6LG16ooSiJREoiURKIlESiJREoiURKIlESiJREoiURKIlESiJREoiURKIlESiJREoiURKIlESiJREoiURKIv//Z"/>
          <p:cNvSpPr>
            <a:spLocks noChangeAspect="1" noChangeArrowheads="1"/>
          </p:cNvSpPr>
          <p:nvPr/>
        </p:nvSpPr>
        <p:spPr bwMode="auto">
          <a:xfrm>
            <a:off x="1679576" y="-1866899"/>
            <a:ext cx="3968756" cy="378373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TextBox 3">
            <a:extLst>
              <a:ext uri="{FF2B5EF4-FFF2-40B4-BE49-F238E27FC236}">
                <a16:creationId xmlns:a16="http://schemas.microsoft.com/office/drawing/2014/main" id="{6C3E2A4F-A6C5-65E7-15ED-0F205BFAE78A}"/>
              </a:ext>
            </a:extLst>
          </p:cNvPr>
          <p:cNvSpPr txBox="1"/>
          <p:nvPr/>
        </p:nvSpPr>
        <p:spPr>
          <a:xfrm>
            <a:off x="287524" y="2313970"/>
            <a:ext cx="3048000" cy="1200329"/>
          </a:xfrm>
          <a:prstGeom prst="rect">
            <a:avLst/>
          </a:prstGeom>
          <a:noFill/>
        </p:spPr>
        <p:txBody>
          <a:bodyPr wrap="square">
            <a:spAutoFit/>
          </a:bodyPr>
          <a:lstStyle/>
          <a:p>
            <a:pPr>
              <a:lnSpc>
                <a:spcPct val="90000"/>
              </a:lnSpc>
              <a:buClrTx/>
            </a:pPr>
            <a:r>
              <a:rPr lang="en-US" sz="4000" b="1" dirty="0">
                <a:solidFill>
                  <a:schemeClr val="bg1"/>
                </a:solidFill>
                <a:latin typeface="Times New Roman" panose="02020603050405020304" pitchFamily="18" charset="0"/>
                <a:cs typeface="Times New Roman" panose="02020603050405020304" pitchFamily="18" charset="0"/>
              </a:rPr>
              <a:t>Pre-writing Techniques</a:t>
            </a:r>
          </a:p>
        </p:txBody>
      </p:sp>
    </p:spTree>
    <p:extLst>
      <p:ext uri="{BB962C8B-B14F-4D97-AF65-F5344CB8AC3E}">
        <p14:creationId xmlns:p14="http://schemas.microsoft.com/office/powerpoint/2010/main" val="1991061880"/>
      </p:ext>
    </p:extLst>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5402" y="0"/>
            <a:ext cx="3646998" cy="928739"/>
          </a:xfrm>
        </p:spPr>
        <p:txBody>
          <a:bodyPr/>
          <a:lstStyle/>
          <a:p>
            <a:r>
              <a:rPr lang="en-US" b="1" dirty="0"/>
              <a:t>Free-Writing</a:t>
            </a:r>
          </a:p>
        </p:txBody>
      </p:sp>
      <p:sp>
        <p:nvSpPr>
          <p:cNvPr id="3" name="Content Placeholder 2"/>
          <p:cNvSpPr>
            <a:spLocks noGrp="1"/>
          </p:cNvSpPr>
          <p:nvPr>
            <p:ph idx="1"/>
          </p:nvPr>
        </p:nvSpPr>
        <p:spPr>
          <a:xfrm>
            <a:off x="3460376" y="1245703"/>
            <a:ext cx="8453328" cy="5011662"/>
          </a:xfrm>
        </p:spPr>
        <p:txBody>
          <a:bodyPr>
            <a:normAutofit/>
          </a:bodyPr>
          <a:lstStyle/>
          <a:p>
            <a:pPr fontAlgn="base"/>
            <a:r>
              <a:rPr lang="en-US" sz="3200" dirty="0">
                <a:solidFill>
                  <a:schemeClr val="tx1"/>
                </a:solidFill>
                <a:latin typeface="Times New Roman" panose="02020603050405020304" pitchFamily="18" charset="0"/>
                <a:cs typeface="Times New Roman" panose="02020603050405020304" pitchFamily="18" charset="0"/>
              </a:rPr>
              <a:t>Freewriting is just what it says—writing freely</a:t>
            </a:r>
          </a:p>
          <a:p>
            <a:pPr fontAlgn="base"/>
            <a:r>
              <a:rPr lang="en-US" sz="3200" dirty="0">
                <a:solidFill>
                  <a:schemeClr val="tx1"/>
                </a:solidFill>
                <a:latin typeface="Times New Roman" panose="02020603050405020304" pitchFamily="18" charset="0"/>
                <a:cs typeface="Times New Roman" panose="02020603050405020304" pitchFamily="18" charset="0"/>
              </a:rPr>
              <a:t>whatever comes into your mind, even before researching about it</a:t>
            </a:r>
          </a:p>
          <a:p>
            <a:pPr fontAlgn="base"/>
            <a:r>
              <a:rPr lang="en-US" sz="3200" dirty="0">
                <a:solidFill>
                  <a:schemeClr val="tx1"/>
                </a:solidFill>
                <a:latin typeface="Times New Roman" panose="02020603050405020304" pitchFamily="18" charset="0"/>
                <a:cs typeface="Times New Roman" panose="02020603050405020304" pitchFamily="18" charset="0"/>
              </a:rPr>
              <a:t>Does not require complete sentences, proper spelling, or correct punctuation and grammar </a:t>
            </a:r>
          </a:p>
          <a:p>
            <a:pPr fontAlgn="base"/>
            <a:r>
              <a:rPr lang="en-US" sz="3200" dirty="0">
                <a:solidFill>
                  <a:schemeClr val="tx1"/>
                </a:solidFill>
                <a:latin typeface="Times New Roman" panose="02020603050405020304" pitchFamily="18" charset="0"/>
                <a:cs typeface="Times New Roman" panose="02020603050405020304" pitchFamily="18" charset="0"/>
              </a:rPr>
              <a:t> About 10 to 15 minutes to write everything that comes to mind even if it doesn’t necessarily make sense yet.</a:t>
            </a:r>
          </a:p>
          <a:p>
            <a:endParaRPr lang="en-US" sz="3200" dirty="0">
              <a:solidFill>
                <a:schemeClr val="tx1"/>
              </a:solidFill>
            </a:endParaRPr>
          </a:p>
        </p:txBody>
      </p:sp>
      <p:sp>
        <p:nvSpPr>
          <p:cNvPr id="5" name="Rectangle 4"/>
          <p:cNvSpPr/>
          <p:nvPr/>
        </p:nvSpPr>
        <p:spPr>
          <a:xfrm>
            <a:off x="276117" y="2836456"/>
            <a:ext cx="2737288" cy="646331"/>
          </a:xfrm>
          <a:prstGeom prst="rect">
            <a:avLst/>
          </a:prstGeom>
        </p:spPr>
        <p:txBody>
          <a:bodyPr wrap="none">
            <a:spAutoFit/>
          </a:bodyPr>
          <a:lstStyle/>
          <a:p>
            <a:r>
              <a:rPr lang="en-US" sz="3600" b="1" dirty="0">
                <a:solidFill>
                  <a:schemeClr val="bg1"/>
                </a:solidFill>
                <a:latin typeface="Times New Roman" panose="02020603050405020304" pitchFamily="18" charset="0"/>
                <a:cs typeface="Times New Roman" panose="02020603050405020304" pitchFamily="18" charset="0"/>
              </a:rPr>
              <a:t>Free Writing</a:t>
            </a:r>
          </a:p>
        </p:txBody>
      </p:sp>
    </p:spTree>
    <p:extLst>
      <p:ext uri="{BB962C8B-B14F-4D97-AF65-F5344CB8AC3E}">
        <p14:creationId xmlns:p14="http://schemas.microsoft.com/office/powerpoint/2010/main" val="25911163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4C25C126-3861-F308-9C16-1B82228E9C5C}"/>
              </a:ext>
            </a:extLst>
          </p:cNvPr>
          <p:cNvSpPr>
            <a:spLocks noGrp="1" noChangeArrowheads="1"/>
          </p:cNvSpPr>
          <p:nvPr>
            <p:ph type="title"/>
          </p:nvPr>
        </p:nvSpPr>
        <p:spPr/>
        <p:txBody>
          <a:bodyPr/>
          <a:lstStyle/>
          <a:p>
            <a:r>
              <a:rPr lang="en-US" altLang="en-US" b="1" dirty="0">
                <a:latin typeface="Times New Roman" panose="02020603050405020304" pitchFamily="18" charset="0"/>
                <a:ea typeface="ＭＳ Ｐゴシック" panose="020B0600070205080204" pitchFamily="34" charset="-128"/>
                <a:cs typeface="Times New Roman" panose="02020603050405020304" pitchFamily="18" charset="0"/>
              </a:rPr>
              <a:t>Example of Free Writing</a:t>
            </a:r>
          </a:p>
        </p:txBody>
      </p:sp>
      <p:sp>
        <p:nvSpPr>
          <p:cNvPr id="40963" name="Rectangle 3">
            <a:extLst>
              <a:ext uri="{FF2B5EF4-FFF2-40B4-BE49-F238E27FC236}">
                <a16:creationId xmlns:a16="http://schemas.microsoft.com/office/drawing/2014/main" id="{1675A17E-313D-7810-0F1E-9D7294C27087}"/>
              </a:ext>
            </a:extLst>
          </p:cNvPr>
          <p:cNvSpPr>
            <a:spLocks noGrp="1" noChangeArrowheads="1"/>
          </p:cNvSpPr>
          <p:nvPr>
            <p:ph type="body" idx="1"/>
          </p:nvPr>
        </p:nvSpPr>
        <p:spPr>
          <a:xfrm>
            <a:off x="3467101" y="323850"/>
            <a:ext cx="8267699" cy="6534150"/>
          </a:xfrm>
        </p:spPr>
        <p:txBody>
          <a:bodyPr>
            <a:noAutofit/>
          </a:bodyPr>
          <a:lstStyle/>
          <a:p>
            <a:pPr>
              <a:buFont typeface="Symbol" panose="05050102010706020507" pitchFamily="18" charset="2"/>
              <a:buNone/>
            </a:pPr>
            <a:r>
              <a:rPr lang="en-US" altLang="en-US" sz="3200" b="1" dirty="0">
                <a:solidFill>
                  <a:schemeClr val="tx1"/>
                </a:solidFill>
                <a:latin typeface="Times New Roman" panose="02020603050405020304" pitchFamily="18" charset="0"/>
                <a:ea typeface="ＭＳ Ｐゴシック" panose="020B0600070205080204" pitchFamily="34" charset="-128"/>
                <a:cs typeface="Times New Roman" panose="02020603050405020304" pitchFamily="18" charset="0"/>
              </a:rPr>
              <a:t>Describe your room in detail.</a:t>
            </a:r>
          </a:p>
          <a:p>
            <a:pPr algn="just">
              <a:buFont typeface="Symbol" panose="05050102010706020507" pitchFamily="18" charset="2"/>
              <a:buNone/>
            </a:pPr>
            <a:r>
              <a:rPr lang="en-US" altLang="en-US" sz="3200" dirty="0">
                <a:solidFill>
                  <a:schemeClr val="tx1"/>
                </a:solidFill>
                <a:latin typeface="Times New Roman" panose="02020603050405020304" pitchFamily="18" charset="0"/>
                <a:ea typeface="ＭＳ Ｐゴシック" panose="020B0600070205080204" pitchFamily="34" charset="-128"/>
                <a:cs typeface="Times New Roman" panose="02020603050405020304" pitchFamily="18" charset="0"/>
              </a:rPr>
              <a:t>	</a:t>
            </a:r>
            <a:r>
              <a:rPr lang="en-US" sz="3200" dirty="0">
                <a:solidFill>
                  <a:schemeClr val="tx1"/>
                </a:solidFill>
                <a:latin typeface="Times New Roman" panose="02020603050405020304" pitchFamily="18" charset="0"/>
                <a:cs typeface="Times New Roman" panose="02020603050405020304" pitchFamily="18" charset="0"/>
              </a:rPr>
              <a:t>My room? Hmm, it's nothing too fancy, just a cozy corner of our house in Lahore. Light floods in through big windows, making everything seem warm. The wooden furniture — solid and a bit rustic — reminds me of those old family homes. I’ve added some plants too, you know? Just a few, but they make the space feel so fresh. I can sit for hours on the comfy couch, lost in a book or sipping chai. There's a calmness here, especially when the sunlight hits just right, almost like time slows down. Feels like a little retreat from the bustling world outside.</a:t>
            </a:r>
            <a:endParaRPr lang="en-US" altLang="en-US" sz="3200" dirty="0">
              <a:solidFill>
                <a:schemeClr val="tx1"/>
              </a:solidFill>
              <a:latin typeface="Times New Roman" panose="02020603050405020304" pitchFamily="18" charset="0"/>
              <a:ea typeface="ＭＳ Ｐゴシック" panose="020B0600070205080204" pitchFamily="34" charset="-128"/>
              <a:cs typeface="Times New Roman" panose="02020603050405020304" pitchFamily="18"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0962"/>
                                        </p:tgtEl>
                                        <p:attrNameLst>
                                          <p:attrName>style.visibility</p:attrName>
                                        </p:attrNameLst>
                                      </p:cBhvr>
                                      <p:to>
                                        <p:strVal val="visible"/>
                                      </p:to>
                                    </p:set>
                                    <p:animEffect transition="in" filter="wipe(left)">
                                      <p:cBhvr>
                                        <p:cTn id="7" dur="500"/>
                                        <p:tgtEl>
                                          <p:spTgt spid="4096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40963">
                                            <p:txEl>
                                              <p:pRg st="0" end="0"/>
                                            </p:txEl>
                                          </p:spTgt>
                                        </p:tgtEl>
                                        <p:attrNameLst>
                                          <p:attrName>style.visibility</p:attrName>
                                        </p:attrNameLst>
                                      </p:cBhvr>
                                      <p:to>
                                        <p:strVal val="visible"/>
                                      </p:to>
                                    </p:set>
                                    <p:animEffect transition="in" filter="wipe(left)">
                                      <p:cBhvr>
                                        <p:cTn id="12" dur="300"/>
                                        <p:tgtEl>
                                          <p:spTgt spid="40963">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iterate type="wd">
                                    <p:tmPct val="100000"/>
                                  </p:iterate>
                                  <p:childTnLst>
                                    <p:set>
                                      <p:cBhvr>
                                        <p:cTn id="16" dur="1" fill="hold">
                                          <p:stCondLst>
                                            <p:cond delay="0"/>
                                          </p:stCondLst>
                                        </p:cTn>
                                        <p:tgtEl>
                                          <p:spTgt spid="40963">
                                            <p:txEl>
                                              <p:pRg st="1" end="1"/>
                                            </p:txEl>
                                          </p:spTgt>
                                        </p:tgtEl>
                                        <p:attrNameLst>
                                          <p:attrName>style.visibility</p:attrName>
                                        </p:attrNameLst>
                                      </p:cBhvr>
                                      <p:to>
                                        <p:strVal val="visible"/>
                                      </p:to>
                                    </p:set>
                                    <p:animEffect transition="in" filter="wipe(left)">
                                      <p:cBhvr>
                                        <p:cTn id="17" dur="300"/>
                                        <p:tgtEl>
                                          <p:spTgt spid="4096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2" grpId="0" autoUpdateAnimBg="0"/>
      <p:bldP spid="40963" grpId="0" build="p"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35B0CAE5-4826-4E5C-0790-105CC7E23D24}"/>
              </a:ext>
            </a:extLst>
          </p:cNvPr>
          <p:cNvSpPr>
            <a:spLocks noGrp="1" noChangeArrowheads="1"/>
          </p:cNvSpPr>
          <p:nvPr>
            <p:ph type="title"/>
          </p:nvPr>
        </p:nvSpPr>
        <p:spPr/>
        <p:txBody>
          <a:bodyPr/>
          <a:lstStyle/>
          <a:p>
            <a:pPr algn="ctr"/>
            <a:r>
              <a:rPr lang="en-US" altLang="en-US" b="1" dirty="0">
                <a:solidFill>
                  <a:schemeClr val="bg1"/>
                </a:solidFill>
                <a:latin typeface="Times New Roman" panose="02020603050405020304" pitchFamily="18" charset="0"/>
                <a:ea typeface="ＭＳ Ｐゴシック" panose="020B0600070205080204" pitchFamily="34" charset="-128"/>
                <a:cs typeface="Times New Roman" panose="02020603050405020304" pitchFamily="18" charset="0"/>
              </a:rPr>
              <a:t>Practice</a:t>
            </a:r>
          </a:p>
        </p:txBody>
      </p:sp>
      <p:sp>
        <p:nvSpPr>
          <p:cNvPr id="18435" name="Rectangle 3">
            <a:extLst>
              <a:ext uri="{FF2B5EF4-FFF2-40B4-BE49-F238E27FC236}">
                <a16:creationId xmlns:a16="http://schemas.microsoft.com/office/drawing/2014/main" id="{68C3E8D7-B533-1247-1056-F326CE16140A}"/>
              </a:ext>
            </a:extLst>
          </p:cNvPr>
          <p:cNvSpPr>
            <a:spLocks noGrp="1" noChangeArrowheads="1"/>
          </p:cNvSpPr>
          <p:nvPr>
            <p:ph type="body" idx="1"/>
          </p:nvPr>
        </p:nvSpPr>
        <p:spPr/>
        <p:txBody>
          <a:bodyPr>
            <a:normAutofit/>
          </a:bodyPr>
          <a:lstStyle/>
          <a:p>
            <a:r>
              <a:rPr lang="en-US" altLang="en-US" sz="2800" dirty="0">
                <a:solidFill>
                  <a:schemeClr val="tx1"/>
                </a:solidFill>
                <a:latin typeface="Times New Roman" panose="02020603050405020304" pitchFamily="18" charset="0"/>
                <a:ea typeface="ＭＳ Ｐゴシック" panose="020B0600070205080204" pitchFamily="34" charset="-128"/>
                <a:cs typeface="Times New Roman" panose="02020603050405020304" pitchFamily="18" charset="0"/>
              </a:rPr>
              <a:t>Free write for 5 minutes on the following topic:</a:t>
            </a:r>
          </a:p>
          <a:p>
            <a:endParaRPr lang="en-US" altLang="en-US" sz="2800" dirty="0">
              <a:solidFill>
                <a:schemeClr val="tx1"/>
              </a:solidFill>
              <a:latin typeface="Times New Roman" panose="02020603050405020304" pitchFamily="18" charset="0"/>
              <a:ea typeface="ＭＳ Ｐゴシック" panose="020B0600070205080204" pitchFamily="34" charset="-128"/>
              <a:cs typeface="Times New Roman" panose="02020603050405020304" pitchFamily="18" charset="0"/>
            </a:endParaRPr>
          </a:p>
          <a:p>
            <a:r>
              <a:rPr lang="en-US" altLang="en-US" sz="2800" dirty="0">
                <a:solidFill>
                  <a:schemeClr val="tx1"/>
                </a:solidFill>
                <a:latin typeface="Times New Roman" panose="02020603050405020304" pitchFamily="18" charset="0"/>
                <a:ea typeface="ＭＳ Ｐゴシック" panose="020B0600070205080204" pitchFamily="34" charset="-128"/>
                <a:cs typeface="Times New Roman" panose="02020603050405020304" pitchFamily="18" charset="0"/>
              </a:rPr>
              <a:t>What is the most frightening experience you have ever had?</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8434"/>
                                        </p:tgtEl>
                                        <p:attrNameLst>
                                          <p:attrName>style.visibility</p:attrName>
                                        </p:attrNameLst>
                                      </p:cBhvr>
                                      <p:to>
                                        <p:strVal val="visible"/>
                                      </p:to>
                                    </p:set>
                                    <p:animEffect transition="in" filter="wipe(left)">
                                      <p:cBhvr>
                                        <p:cTn id="7" dur="500"/>
                                        <p:tgtEl>
                                          <p:spTgt spid="1843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8435">
                                            <p:txEl>
                                              <p:pRg st="0" end="0"/>
                                            </p:txEl>
                                          </p:spTgt>
                                        </p:tgtEl>
                                        <p:attrNameLst>
                                          <p:attrName>style.visibility</p:attrName>
                                        </p:attrNameLst>
                                      </p:cBhvr>
                                      <p:to>
                                        <p:strVal val="visible"/>
                                      </p:to>
                                    </p:set>
                                    <p:animEffect transition="in" filter="wipe(left)">
                                      <p:cBhvr>
                                        <p:cTn id="12" dur="500"/>
                                        <p:tgtEl>
                                          <p:spTgt spid="1843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8435">
                                            <p:txEl>
                                              <p:pRg st="2" end="2"/>
                                            </p:txEl>
                                          </p:spTgt>
                                        </p:tgtEl>
                                        <p:attrNameLst>
                                          <p:attrName>style.visibility</p:attrName>
                                        </p:attrNameLst>
                                      </p:cBhvr>
                                      <p:to>
                                        <p:strVal val="visible"/>
                                      </p:to>
                                    </p:set>
                                    <p:animEffect transition="in" filter="wipe(left)">
                                      <p:cBhvr>
                                        <p:cTn id="17" dur="500"/>
                                        <p:tgtEl>
                                          <p:spTgt spid="1843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4" grpId="0" autoUpdateAnimBg="0"/>
      <p:bldP spid="18435" grpId="0" build="p" bldLvl="2"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E7B9E777-313E-E0C8-3605-F8A66B1D0199}"/>
              </a:ext>
            </a:extLst>
          </p:cNvPr>
          <p:cNvSpPr>
            <a:spLocks noGrp="1" noChangeArrowheads="1"/>
          </p:cNvSpPr>
          <p:nvPr>
            <p:ph type="title"/>
          </p:nvPr>
        </p:nvSpPr>
        <p:spPr>
          <a:xfrm>
            <a:off x="252918" y="1123837"/>
            <a:ext cx="3137981" cy="4601183"/>
          </a:xfrm>
        </p:spPr>
        <p:txBody>
          <a:bodyPr/>
          <a:lstStyle/>
          <a:p>
            <a:pPr algn="ctr"/>
            <a:r>
              <a:rPr lang="en-US" altLang="en-US" b="1" dirty="0">
                <a:latin typeface="Times New Roman" panose="02020603050405020304" pitchFamily="18" charset="0"/>
                <a:ea typeface="ＭＳ Ｐゴシック" panose="020B0600070205080204" pitchFamily="34" charset="-128"/>
                <a:cs typeface="Times New Roman" panose="02020603050405020304" pitchFamily="18" charset="0"/>
              </a:rPr>
              <a:t>Brainstorming</a:t>
            </a:r>
            <a:endParaRPr lang="en-US" altLang="en-US" sz="2800" b="1" dirty="0">
              <a:latin typeface="Times New Roman" panose="02020603050405020304" pitchFamily="18" charset="0"/>
              <a:ea typeface="ＭＳ Ｐゴシック" panose="020B0600070205080204" pitchFamily="34" charset="-128"/>
              <a:cs typeface="Times New Roman" panose="02020603050405020304" pitchFamily="18" charset="0"/>
            </a:endParaRPr>
          </a:p>
        </p:txBody>
      </p:sp>
      <p:sp>
        <p:nvSpPr>
          <p:cNvPr id="14339" name="Rectangle 3">
            <a:extLst>
              <a:ext uri="{FF2B5EF4-FFF2-40B4-BE49-F238E27FC236}">
                <a16:creationId xmlns:a16="http://schemas.microsoft.com/office/drawing/2014/main" id="{2E2D3A15-9E7D-D4B6-8989-3A7DB2B5C556}"/>
              </a:ext>
            </a:extLst>
          </p:cNvPr>
          <p:cNvSpPr>
            <a:spLocks noGrp="1" noChangeArrowheads="1"/>
          </p:cNvSpPr>
          <p:nvPr>
            <p:ph type="body" idx="1"/>
          </p:nvPr>
        </p:nvSpPr>
        <p:spPr/>
        <p:txBody>
          <a:bodyPr/>
          <a:lstStyle/>
          <a:p>
            <a:pPr>
              <a:defRPr/>
            </a:pPr>
            <a:r>
              <a:rPr lang="en-US" altLang="en-US" sz="2800" dirty="0">
                <a:solidFill>
                  <a:schemeClr val="tx1"/>
                </a:solidFill>
                <a:latin typeface="Times New Roman" panose="02020603050405020304" pitchFamily="18" charset="0"/>
                <a:cs typeface="Times New Roman" panose="02020603050405020304" pitchFamily="18" charset="0"/>
              </a:rPr>
              <a:t>“Brainstorming” means thinking of as many ideas as possible in a short amount of time.</a:t>
            </a:r>
          </a:p>
          <a:p>
            <a:pPr>
              <a:defRPr/>
            </a:pPr>
            <a:r>
              <a:rPr lang="en-US" altLang="en-US" sz="2800" dirty="0">
                <a:solidFill>
                  <a:schemeClr val="tx1"/>
                </a:solidFill>
                <a:latin typeface="Times New Roman" panose="02020603050405020304" pitchFamily="18" charset="0"/>
                <a:cs typeface="Times New Roman" panose="02020603050405020304" pitchFamily="18" charset="0"/>
              </a:rPr>
              <a:t>Write down your ideas so that you don’t forget them.  </a:t>
            </a:r>
          </a:p>
          <a:p>
            <a:pPr>
              <a:defRPr/>
            </a:pPr>
            <a:r>
              <a:rPr lang="en-US" altLang="en-US" sz="2800" dirty="0">
                <a:solidFill>
                  <a:schemeClr val="tx1"/>
                </a:solidFill>
                <a:latin typeface="Times New Roman" panose="02020603050405020304" pitchFamily="18" charset="0"/>
                <a:cs typeface="Times New Roman" panose="02020603050405020304" pitchFamily="18" charset="0"/>
              </a:rPr>
              <a:t>There is no sequence of ideas</a:t>
            </a:r>
          </a:p>
          <a:p>
            <a:pPr>
              <a:defRPr/>
            </a:pPr>
            <a:r>
              <a:rPr lang="en-US" altLang="en-US" sz="2800" dirty="0">
                <a:solidFill>
                  <a:schemeClr val="tx1"/>
                </a:solidFill>
                <a:latin typeface="Times New Roman" panose="02020603050405020304" pitchFamily="18" charset="0"/>
                <a:cs typeface="Times New Roman" panose="02020603050405020304" pitchFamily="18" charset="0"/>
              </a:rPr>
              <a:t>Write down </a:t>
            </a:r>
            <a:r>
              <a:rPr lang="en-US" altLang="en-US" sz="2800" i="1" u="sng" dirty="0">
                <a:solidFill>
                  <a:schemeClr val="tx1"/>
                </a:solidFill>
                <a:latin typeface="Times New Roman" panose="02020603050405020304" pitchFamily="18" charset="0"/>
                <a:cs typeface="Times New Roman" panose="02020603050405020304" pitchFamily="18" charset="0"/>
              </a:rPr>
              <a:t>everything</a:t>
            </a:r>
            <a:r>
              <a:rPr lang="en-US" altLang="en-US" sz="2800" dirty="0">
                <a:solidFill>
                  <a:schemeClr val="tx1"/>
                </a:solidFill>
                <a:latin typeface="Times New Roman" panose="02020603050405020304" pitchFamily="18" charset="0"/>
                <a:cs typeface="Times New Roman" panose="02020603050405020304" pitchFamily="18" charset="0"/>
              </a:rPr>
              <a:t> that comes to your mind; don’t worry about sorting out “good” and “bad” ideas.  </a:t>
            </a:r>
          </a:p>
          <a:p>
            <a:pPr>
              <a:defRPr/>
            </a:pPr>
            <a:endParaRPr lang="en-US" altLang="en-US" sz="2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4338"/>
                                        </p:tgtEl>
                                        <p:attrNameLst>
                                          <p:attrName>style.visibility</p:attrName>
                                        </p:attrNameLst>
                                      </p:cBhvr>
                                      <p:to>
                                        <p:strVal val="visible"/>
                                      </p:to>
                                    </p:set>
                                    <p:animEffect transition="in" filter="wipe(left)">
                                      <p:cBhvr>
                                        <p:cTn id="7" dur="500"/>
                                        <p:tgtEl>
                                          <p:spTgt spid="1433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339">
                                            <p:txEl>
                                              <p:pRg st="0" end="0"/>
                                            </p:txEl>
                                          </p:spTgt>
                                        </p:tgtEl>
                                        <p:attrNameLst>
                                          <p:attrName>style.visibility</p:attrName>
                                        </p:attrNameLst>
                                      </p:cBhvr>
                                      <p:to>
                                        <p:strVal val="visible"/>
                                      </p:to>
                                    </p:set>
                                    <p:animEffect transition="in" filter="wipe(left)">
                                      <p:cBhvr>
                                        <p:cTn id="12" dur="500"/>
                                        <p:tgtEl>
                                          <p:spTgt spid="14339">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4339">
                                            <p:txEl>
                                              <p:pRg st="1" end="1"/>
                                            </p:txEl>
                                          </p:spTgt>
                                        </p:tgtEl>
                                        <p:attrNameLst>
                                          <p:attrName>style.visibility</p:attrName>
                                        </p:attrNameLst>
                                      </p:cBhvr>
                                      <p:to>
                                        <p:strVal val="visible"/>
                                      </p:to>
                                    </p:set>
                                    <p:animEffect transition="in" filter="wipe(left)">
                                      <p:cBhvr>
                                        <p:cTn id="17" dur="500"/>
                                        <p:tgtEl>
                                          <p:spTgt spid="14339">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4339">
                                            <p:txEl>
                                              <p:pRg st="2" end="2"/>
                                            </p:txEl>
                                          </p:spTgt>
                                        </p:tgtEl>
                                        <p:attrNameLst>
                                          <p:attrName>style.visibility</p:attrName>
                                        </p:attrNameLst>
                                      </p:cBhvr>
                                      <p:to>
                                        <p:strVal val="visible"/>
                                      </p:to>
                                    </p:set>
                                    <p:animEffect transition="in" filter="wipe(left)">
                                      <p:cBhvr>
                                        <p:cTn id="22" dur="500"/>
                                        <p:tgtEl>
                                          <p:spTgt spid="14339">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4339">
                                            <p:txEl>
                                              <p:pRg st="3" end="3"/>
                                            </p:txEl>
                                          </p:spTgt>
                                        </p:tgtEl>
                                        <p:attrNameLst>
                                          <p:attrName>style.visibility</p:attrName>
                                        </p:attrNameLst>
                                      </p:cBhvr>
                                      <p:to>
                                        <p:strVal val="visible"/>
                                      </p:to>
                                    </p:set>
                                    <p:animEffect transition="in" filter="wipe(left)">
                                      <p:cBhvr>
                                        <p:cTn id="27" dur="500"/>
                                        <p:tgtEl>
                                          <p:spTgt spid="1433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8" grpId="0" autoUpdateAnimBg="0"/>
      <p:bldP spid="14339" grpId="0" build="p"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286604"/>
            <a:ext cx="10058400" cy="951888"/>
          </a:xfrm>
        </p:spPr>
        <p:txBody>
          <a:bodyPr/>
          <a:lstStyle/>
          <a:p>
            <a:pPr algn="ctr"/>
            <a:r>
              <a:rPr lang="en-US" b="1" dirty="0"/>
              <a:t>Brainstorming</a:t>
            </a:r>
          </a:p>
        </p:txBody>
      </p:sp>
      <p:sp>
        <p:nvSpPr>
          <p:cNvPr id="3" name="Content Placeholder 2"/>
          <p:cNvSpPr>
            <a:spLocks noGrp="1"/>
          </p:cNvSpPr>
          <p:nvPr>
            <p:ph idx="1"/>
          </p:nvPr>
        </p:nvSpPr>
        <p:spPr>
          <a:xfrm>
            <a:off x="4034116" y="735105"/>
            <a:ext cx="7774349" cy="5647766"/>
          </a:xfrm>
        </p:spPr>
        <p:txBody>
          <a:bodyPr>
            <a:noAutofit/>
          </a:bodyPr>
          <a:lstStyle/>
          <a:p>
            <a:pPr lvl="1">
              <a:lnSpc>
                <a:spcPct val="100000"/>
              </a:lnSpc>
              <a:spcBef>
                <a:spcPts val="0"/>
              </a:spcBef>
              <a:spcAft>
                <a:spcPts val="0"/>
              </a:spcAft>
            </a:pPr>
            <a:r>
              <a:rPr lang="en-US" sz="2800" dirty="0">
                <a:solidFill>
                  <a:schemeClr val="tx1"/>
                </a:solidFill>
                <a:latin typeface="Times New Roman" panose="02020603050405020304" pitchFamily="18" charset="0"/>
                <a:cs typeface="Times New Roman" panose="02020603050405020304" pitchFamily="18" charset="0"/>
              </a:rPr>
              <a:t>is creating a list of ideas in response to a problem or question.</a:t>
            </a:r>
          </a:p>
          <a:p>
            <a:pPr lvl="1">
              <a:lnSpc>
                <a:spcPct val="100000"/>
              </a:lnSpc>
              <a:spcBef>
                <a:spcPts val="0"/>
              </a:spcBef>
              <a:spcAft>
                <a:spcPts val="0"/>
              </a:spcAft>
            </a:pPr>
            <a:r>
              <a:rPr lang="en-US" sz="2800" dirty="0">
                <a:solidFill>
                  <a:schemeClr val="tx1"/>
                </a:solidFill>
                <a:latin typeface="Times New Roman" panose="02020603050405020304" pitchFamily="18" charset="0"/>
                <a:cs typeface="Times New Roman" panose="02020603050405020304" pitchFamily="18" charset="0"/>
              </a:rPr>
              <a:t>ideas generated by brainstorming don’t need to be related to each other; they only need to be related to the problem at hand. </a:t>
            </a:r>
          </a:p>
          <a:p>
            <a:pPr marL="502920" lvl="1" indent="0">
              <a:lnSpc>
                <a:spcPct val="100000"/>
              </a:lnSpc>
              <a:spcBef>
                <a:spcPts val="0"/>
              </a:spcBef>
              <a:spcAft>
                <a:spcPts val="0"/>
              </a:spcAft>
              <a:buNone/>
            </a:pPr>
            <a:endParaRPr lang="en-US" sz="2800" dirty="0">
              <a:solidFill>
                <a:schemeClr val="tx1"/>
              </a:solidFill>
              <a:latin typeface="Times New Roman" panose="02020603050405020304" pitchFamily="18" charset="0"/>
              <a:cs typeface="Times New Roman" panose="02020603050405020304" pitchFamily="18" charset="0"/>
            </a:endParaRPr>
          </a:p>
          <a:p>
            <a:pPr marL="502920" lvl="1" indent="0">
              <a:lnSpc>
                <a:spcPct val="100000"/>
              </a:lnSpc>
              <a:spcBef>
                <a:spcPts val="0"/>
              </a:spcBef>
              <a:spcAft>
                <a:spcPts val="0"/>
              </a:spcAft>
              <a:buNone/>
            </a:pPr>
            <a:r>
              <a:rPr lang="en-US" sz="2800" dirty="0">
                <a:solidFill>
                  <a:schemeClr val="tx1"/>
                </a:solidFill>
                <a:latin typeface="Times New Roman" panose="02020603050405020304" pitchFamily="18" charset="0"/>
                <a:cs typeface="Times New Roman" panose="02020603050405020304" pitchFamily="18" charset="0"/>
              </a:rPr>
              <a:t>Two main ways of brainstorming:</a:t>
            </a:r>
          </a:p>
          <a:p>
            <a:pPr marL="457200" indent="-457200">
              <a:lnSpc>
                <a:spcPct val="100000"/>
              </a:lnSpc>
              <a:spcBef>
                <a:spcPts val="0"/>
              </a:spcBef>
              <a:spcAft>
                <a:spcPts val="0"/>
              </a:spcAft>
              <a:buFont typeface="+mj-lt"/>
              <a:buAutoNum type="arabicPeriod"/>
            </a:pPr>
            <a:r>
              <a:rPr lang="en-US" sz="2800" dirty="0">
                <a:solidFill>
                  <a:schemeClr val="tx1"/>
                </a:solidFill>
                <a:latin typeface="Times New Roman" panose="02020603050405020304" pitchFamily="18" charset="0"/>
                <a:cs typeface="Times New Roman" panose="02020603050405020304" pitchFamily="18" charset="0"/>
              </a:rPr>
              <a:t>Posing and answering questions about a problem or topic: </a:t>
            </a:r>
            <a:r>
              <a:rPr lang="en-US" sz="2800" b="1" dirty="0">
                <a:solidFill>
                  <a:schemeClr val="tx1"/>
                </a:solidFill>
                <a:latin typeface="Times New Roman" panose="02020603050405020304" pitchFamily="18" charset="0"/>
                <a:cs typeface="Times New Roman" panose="02020603050405020304" pitchFamily="18" charset="0"/>
              </a:rPr>
              <a:t>Who? What? Where? When? Why? How? </a:t>
            </a:r>
          </a:p>
          <a:p>
            <a:pPr marL="457200" indent="-457200">
              <a:lnSpc>
                <a:spcPct val="100000"/>
              </a:lnSpc>
              <a:spcBef>
                <a:spcPts val="0"/>
              </a:spcBef>
              <a:spcAft>
                <a:spcPts val="0"/>
              </a:spcAft>
              <a:buFont typeface="+mj-lt"/>
              <a:buAutoNum type="arabicPeriod"/>
            </a:pPr>
            <a:r>
              <a:rPr lang="en-US" sz="2800" dirty="0">
                <a:solidFill>
                  <a:schemeClr val="tx1"/>
                </a:solidFill>
                <a:latin typeface="Times New Roman" panose="02020603050405020304" pitchFamily="18" charset="0"/>
                <a:cs typeface="Times New Roman" panose="02020603050405020304" pitchFamily="18" charset="0"/>
              </a:rPr>
              <a:t>Gathering a list of ideas related to the problem or topic. </a:t>
            </a:r>
          </a:p>
        </p:txBody>
      </p:sp>
      <p:sp>
        <p:nvSpPr>
          <p:cNvPr id="4" name="Rectangle 3"/>
          <p:cNvSpPr/>
          <p:nvPr/>
        </p:nvSpPr>
        <p:spPr>
          <a:xfrm>
            <a:off x="383535" y="2912657"/>
            <a:ext cx="3082895" cy="646331"/>
          </a:xfrm>
          <a:prstGeom prst="rect">
            <a:avLst/>
          </a:prstGeom>
        </p:spPr>
        <p:txBody>
          <a:bodyPr wrap="none">
            <a:spAutoFit/>
          </a:bodyPr>
          <a:lstStyle/>
          <a:p>
            <a:r>
              <a:rPr lang="en-US" sz="3600" b="1" dirty="0">
                <a:solidFill>
                  <a:schemeClr val="bg1"/>
                </a:solidFill>
                <a:latin typeface="Times New Roman" panose="02020603050405020304" pitchFamily="18" charset="0"/>
                <a:cs typeface="Times New Roman" panose="02020603050405020304" pitchFamily="18" charset="0"/>
              </a:rPr>
              <a:t>Brainstorming</a:t>
            </a:r>
          </a:p>
        </p:txBody>
      </p:sp>
    </p:spTree>
    <p:extLst>
      <p:ext uri="{BB962C8B-B14F-4D97-AF65-F5344CB8AC3E}">
        <p14:creationId xmlns:p14="http://schemas.microsoft.com/office/powerpoint/2010/main" val="20108876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A0E0865E-08F9-C476-66B5-F9ADA2BE9DC9}"/>
              </a:ext>
            </a:extLst>
          </p:cNvPr>
          <p:cNvSpPr>
            <a:spLocks noGrp="1" noChangeArrowheads="1"/>
          </p:cNvSpPr>
          <p:nvPr>
            <p:ph type="title"/>
          </p:nvPr>
        </p:nvSpPr>
        <p:spPr>
          <a:xfrm>
            <a:off x="0" y="1123837"/>
            <a:ext cx="3309431" cy="4601183"/>
          </a:xfrm>
        </p:spPr>
        <p:txBody>
          <a:bodyPr/>
          <a:lstStyle/>
          <a:p>
            <a:pPr algn="ctr"/>
            <a:r>
              <a:rPr lang="en-US" altLang="en-US" b="1" dirty="0">
                <a:latin typeface="Times New Roman" panose="02020603050405020304" pitchFamily="18" charset="0"/>
                <a:ea typeface="ＭＳ Ｐゴシック" panose="020B0600070205080204" pitchFamily="34" charset="-128"/>
                <a:cs typeface="Times New Roman" panose="02020603050405020304" pitchFamily="18" charset="0"/>
              </a:rPr>
              <a:t>Example of Brainstorming</a:t>
            </a:r>
          </a:p>
        </p:txBody>
      </p:sp>
      <p:sp>
        <p:nvSpPr>
          <p:cNvPr id="20483" name="Rectangle 3">
            <a:extLst>
              <a:ext uri="{FF2B5EF4-FFF2-40B4-BE49-F238E27FC236}">
                <a16:creationId xmlns:a16="http://schemas.microsoft.com/office/drawing/2014/main" id="{79628FF8-7248-E115-BA2A-A6B3030A25B7}"/>
              </a:ext>
            </a:extLst>
          </p:cNvPr>
          <p:cNvSpPr>
            <a:spLocks noGrp="1" noChangeArrowheads="1"/>
          </p:cNvSpPr>
          <p:nvPr>
            <p:ph type="body" idx="1"/>
          </p:nvPr>
        </p:nvSpPr>
        <p:spPr>
          <a:xfrm>
            <a:off x="3790950" y="876300"/>
            <a:ext cx="8148131" cy="4848720"/>
          </a:xfrm>
        </p:spPr>
        <p:txBody>
          <a:bodyPr>
            <a:normAutofit/>
          </a:bodyPr>
          <a:lstStyle/>
          <a:p>
            <a:pPr>
              <a:buFont typeface="Symbol" panose="05050102010706020507" pitchFamily="18" charset="2"/>
              <a:buNone/>
              <a:defRPr/>
            </a:pPr>
            <a:r>
              <a:rPr lang="en-US" altLang="en-US" sz="3200" dirty="0">
                <a:solidFill>
                  <a:schemeClr val="tx1"/>
                </a:solidFill>
                <a:latin typeface="Times New Roman" panose="02020603050405020304" pitchFamily="18" charset="0"/>
                <a:cs typeface="Times New Roman" panose="02020603050405020304" pitchFamily="18" charset="0"/>
              </a:rPr>
              <a:t>What would I do with one million dollars?</a:t>
            </a:r>
          </a:p>
          <a:p>
            <a:pPr>
              <a:buFont typeface="Symbol" panose="05050102010706020507" pitchFamily="18" charset="2"/>
              <a:buNone/>
              <a:defRPr/>
            </a:pPr>
            <a:endParaRPr lang="en-US" altLang="en-US" sz="3200" dirty="0">
              <a:solidFill>
                <a:schemeClr val="tx1"/>
              </a:solidFill>
              <a:latin typeface="Times New Roman" panose="02020603050405020304" pitchFamily="18" charset="0"/>
              <a:cs typeface="Times New Roman" panose="02020603050405020304" pitchFamily="18" charset="0"/>
            </a:endParaRPr>
          </a:p>
          <a:p>
            <a:pPr>
              <a:buFont typeface="Symbol" panose="05050102010706020507" pitchFamily="18" charset="2"/>
              <a:buNone/>
              <a:defRPr/>
            </a:pPr>
            <a:r>
              <a:rPr lang="en-US" altLang="en-US" sz="3200" dirty="0">
                <a:solidFill>
                  <a:schemeClr val="tx1"/>
                </a:solidFill>
                <a:latin typeface="Times New Roman" panose="02020603050405020304" pitchFamily="18" charset="0"/>
                <a:cs typeface="Times New Roman" panose="02020603050405020304" pitchFamily="18" charset="0"/>
              </a:rPr>
              <a:t>Travel--Europe, Asia, S. America</a:t>
            </a:r>
          </a:p>
          <a:p>
            <a:pPr>
              <a:buFont typeface="Symbol" panose="05050102010706020507" pitchFamily="18" charset="2"/>
              <a:buNone/>
              <a:defRPr/>
            </a:pPr>
            <a:r>
              <a:rPr lang="en-US" altLang="en-US" sz="3200" dirty="0">
                <a:solidFill>
                  <a:schemeClr val="tx1"/>
                </a:solidFill>
                <a:latin typeface="Times New Roman" panose="02020603050405020304" pitchFamily="18" charset="0"/>
                <a:cs typeface="Times New Roman" panose="02020603050405020304" pitchFamily="18" charset="0"/>
              </a:rPr>
              <a:t>Pay off our house</a:t>
            </a:r>
          </a:p>
          <a:p>
            <a:pPr>
              <a:buFont typeface="Symbol" panose="05050102010706020507" pitchFamily="18" charset="2"/>
              <a:buNone/>
              <a:defRPr/>
            </a:pPr>
            <a:r>
              <a:rPr lang="en-US" altLang="en-US" sz="3200" dirty="0">
                <a:solidFill>
                  <a:schemeClr val="tx1"/>
                </a:solidFill>
                <a:latin typeface="Times New Roman" panose="02020603050405020304" pitchFamily="18" charset="0"/>
                <a:cs typeface="Times New Roman" panose="02020603050405020304" pitchFamily="18" charset="0"/>
              </a:rPr>
              <a:t>Share--give a scholarship, donate to charities</a:t>
            </a:r>
          </a:p>
          <a:p>
            <a:pPr>
              <a:buFont typeface="Symbol" panose="05050102010706020507" pitchFamily="18" charset="2"/>
              <a:buNone/>
              <a:defRPr/>
            </a:pPr>
            <a:r>
              <a:rPr lang="en-US" altLang="en-US" sz="3200" dirty="0">
                <a:solidFill>
                  <a:schemeClr val="tx1"/>
                </a:solidFill>
                <a:latin typeface="Times New Roman" panose="02020603050405020304" pitchFamily="18" charset="0"/>
                <a:cs typeface="Times New Roman" panose="02020603050405020304" pitchFamily="18" charset="0"/>
              </a:rPr>
              <a:t>Buy a lot of books!</a:t>
            </a:r>
          </a:p>
          <a:p>
            <a:pPr>
              <a:buFont typeface="Symbol" panose="05050102010706020507" pitchFamily="18" charset="2"/>
              <a:buNone/>
              <a:defRPr/>
            </a:pPr>
            <a:r>
              <a:rPr lang="en-US" altLang="en-US" sz="3200" dirty="0">
                <a:solidFill>
                  <a:schemeClr val="tx1"/>
                </a:solidFill>
                <a:latin typeface="Times New Roman" panose="02020603050405020304" pitchFamily="18" charset="0"/>
                <a:cs typeface="Times New Roman" panose="02020603050405020304" pitchFamily="18" charset="0"/>
              </a:rPr>
              <a:t>Invest/save and let the interest grow</a:t>
            </a:r>
          </a:p>
          <a:p>
            <a:pPr>
              <a:buFont typeface="Symbol" panose="05050102010706020507" pitchFamily="18" charset="2"/>
              <a:buNone/>
              <a:defRPr/>
            </a:pPr>
            <a:endParaRPr lang="en-US" altLang="en-US" sz="32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0482"/>
                                        </p:tgtEl>
                                        <p:attrNameLst>
                                          <p:attrName>style.visibility</p:attrName>
                                        </p:attrNameLst>
                                      </p:cBhvr>
                                      <p:to>
                                        <p:strVal val="visible"/>
                                      </p:to>
                                    </p:set>
                                    <p:animEffect transition="in" filter="wipe(left)">
                                      <p:cBhvr>
                                        <p:cTn id="7" dur="500"/>
                                        <p:tgtEl>
                                          <p:spTgt spid="2048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20483"/>
                                        </p:tgtEl>
                                        <p:attrNameLst>
                                          <p:attrName>style.visibility</p:attrName>
                                        </p:attrNameLst>
                                      </p:cBhvr>
                                      <p:to>
                                        <p:strVal val="visible"/>
                                      </p:to>
                                    </p:set>
                                    <p:animEffect transition="in" filter="wipe(left)">
                                      <p:cBhvr>
                                        <p:cTn id="12" dur="300"/>
                                        <p:tgtEl>
                                          <p:spTgt spid="204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2" grpId="0" autoUpdateAnimBg="0"/>
      <p:bldP spid="20483"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D941F5B8-AEFA-E797-F5EF-E2D844F0AEC9}"/>
              </a:ext>
            </a:extLst>
          </p:cNvPr>
          <p:cNvSpPr>
            <a:spLocks noGrp="1" noChangeArrowheads="1"/>
          </p:cNvSpPr>
          <p:nvPr>
            <p:ph type="title"/>
          </p:nvPr>
        </p:nvSpPr>
        <p:spPr/>
        <p:txBody>
          <a:bodyPr/>
          <a:lstStyle/>
          <a:p>
            <a:pPr algn="ctr"/>
            <a:r>
              <a:rPr lang="en-US" altLang="en-US" b="1" dirty="0">
                <a:latin typeface="Times New Roman" panose="02020603050405020304" pitchFamily="18" charset="0"/>
                <a:ea typeface="ＭＳ Ｐゴシック" panose="020B0600070205080204" pitchFamily="34" charset="-128"/>
                <a:cs typeface="Times New Roman" panose="02020603050405020304" pitchFamily="18" charset="0"/>
              </a:rPr>
              <a:t>Topics for Practice</a:t>
            </a:r>
          </a:p>
        </p:txBody>
      </p:sp>
      <p:sp>
        <p:nvSpPr>
          <p:cNvPr id="39939" name="Rectangle 3">
            <a:extLst>
              <a:ext uri="{FF2B5EF4-FFF2-40B4-BE49-F238E27FC236}">
                <a16:creationId xmlns:a16="http://schemas.microsoft.com/office/drawing/2014/main" id="{887EC8E3-8923-503A-8926-5EF4A1D5011E}"/>
              </a:ext>
            </a:extLst>
          </p:cNvPr>
          <p:cNvSpPr>
            <a:spLocks noGrp="1" noChangeArrowheads="1"/>
          </p:cNvSpPr>
          <p:nvPr>
            <p:ph type="body" idx="1"/>
          </p:nvPr>
        </p:nvSpPr>
        <p:spPr/>
        <p:txBody>
          <a:bodyPr>
            <a:normAutofit/>
          </a:bodyPr>
          <a:lstStyle/>
          <a:p>
            <a:pPr>
              <a:defRPr/>
            </a:pPr>
            <a:r>
              <a:rPr lang="en-US" altLang="en-US" sz="2800" dirty="0">
                <a:solidFill>
                  <a:schemeClr val="tx1"/>
                </a:solidFill>
                <a:latin typeface="Times New Roman" panose="02020603050405020304" pitchFamily="18" charset="0"/>
                <a:cs typeface="Times New Roman" panose="02020603050405020304" pitchFamily="18" charset="0"/>
              </a:rPr>
              <a:t>Take 5 minutes to brainstorm ideas about the following question:</a:t>
            </a:r>
          </a:p>
          <a:p>
            <a:pPr>
              <a:defRPr/>
            </a:pPr>
            <a:r>
              <a:rPr lang="en-US" altLang="en-US" sz="2800" dirty="0">
                <a:solidFill>
                  <a:schemeClr val="tx1"/>
                </a:solidFill>
                <a:latin typeface="Times New Roman" panose="02020603050405020304" pitchFamily="18" charset="0"/>
                <a:cs typeface="Times New Roman" panose="02020603050405020304" pitchFamily="18" charset="0"/>
              </a:rPr>
              <a:t>What are some of the most memorable experiences of your life?  </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9938">
                                            <p:txEl>
                                              <p:pRg st="0" end="0"/>
                                            </p:txEl>
                                          </p:spTgt>
                                        </p:tgtEl>
                                        <p:attrNameLst>
                                          <p:attrName>style.visibility</p:attrName>
                                        </p:attrNameLst>
                                      </p:cBhvr>
                                      <p:to>
                                        <p:strVal val="visible"/>
                                      </p:to>
                                    </p:set>
                                    <p:animEffect transition="in" filter="wipe(left)">
                                      <p:cBhvr>
                                        <p:cTn id="7" dur="500"/>
                                        <p:tgtEl>
                                          <p:spTgt spid="39938">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9939">
                                            <p:txEl>
                                              <p:pRg st="0" end="0"/>
                                            </p:txEl>
                                          </p:spTgt>
                                        </p:tgtEl>
                                        <p:attrNameLst>
                                          <p:attrName>style.visibility</p:attrName>
                                        </p:attrNameLst>
                                      </p:cBhvr>
                                      <p:to>
                                        <p:strVal val="visible"/>
                                      </p:to>
                                    </p:set>
                                    <p:animEffect transition="in" filter="wipe(left)">
                                      <p:cBhvr>
                                        <p:cTn id="12" dur="500"/>
                                        <p:tgtEl>
                                          <p:spTgt spid="39939">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9939">
                                            <p:txEl>
                                              <p:pRg st="1" end="1"/>
                                            </p:txEl>
                                          </p:spTgt>
                                        </p:tgtEl>
                                        <p:attrNameLst>
                                          <p:attrName>style.visibility</p:attrName>
                                        </p:attrNameLst>
                                      </p:cBhvr>
                                      <p:to>
                                        <p:strVal val="visible"/>
                                      </p:to>
                                    </p:set>
                                    <p:animEffect transition="in" filter="wipe(left)">
                                      <p:cBhvr>
                                        <p:cTn id="17" dur="500"/>
                                        <p:tgtEl>
                                          <p:spTgt spid="3993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8" grpId="0" build="p" autoUpdateAnimBg="0" advAuto="0"/>
      <p:bldP spid="39939" grpId="0" build="p" bldLvl="2"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3906" y="2218572"/>
            <a:ext cx="2947482" cy="2296020"/>
          </a:xfrm>
        </p:spPr>
        <p:txBody>
          <a:bodyPr/>
          <a:lstStyle/>
          <a:p>
            <a:r>
              <a:rPr lang="en-US" b="1" dirty="0">
                <a:latin typeface="Times New Roman" panose="02020603050405020304" pitchFamily="18" charset="0"/>
                <a:cs typeface="Times New Roman" panose="02020603050405020304" pitchFamily="18" charset="0"/>
              </a:rPr>
              <a:t>Listing</a:t>
            </a:r>
          </a:p>
        </p:txBody>
      </p:sp>
      <p:sp>
        <p:nvSpPr>
          <p:cNvPr id="3" name="Content Placeholder 2"/>
          <p:cNvSpPr>
            <a:spLocks noGrp="1"/>
          </p:cNvSpPr>
          <p:nvPr>
            <p:ph idx="1"/>
          </p:nvPr>
        </p:nvSpPr>
        <p:spPr>
          <a:xfrm>
            <a:off x="3711388" y="190500"/>
            <a:ext cx="7444292" cy="6667500"/>
          </a:xfrm>
        </p:spPr>
        <p:txBody>
          <a:bodyPr>
            <a:noAutofit/>
          </a:bodyPr>
          <a:lstStyle/>
          <a:p>
            <a:pPr algn="just"/>
            <a:r>
              <a:rPr lang="en-US" sz="2800" dirty="0">
                <a:solidFill>
                  <a:schemeClr val="tx1"/>
                </a:solidFill>
                <a:latin typeface="Times New Roman" panose="02020603050405020304" pitchFamily="18" charset="0"/>
                <a:cs typeface="Times New Roman" panose="02020603050405020304" pitchFamily="18" charset="0"/>
              </a:rPr>
              <a:t>Listing is a process of generating a lot of information within a short time by generating some broad ideas and then building on those associations for more detail. </a:t>
            </a:r>
          </a:p>
          <a:p>
            <a:pPr algn="just"/>
            <a:endParaRPr lang="en-US" sz="2800" dirty="0">
              <a:solidFill>
                <a:schemeClr val="tx1"/>
              </a:solidFill>
              <a:latin typeface="Times New Roman" panose="02020603050405020304" pitchFamily="18" charset="0"/>
              <a:cs typeface="Times New Roman" panose="02020603050405020304" pitchFamily="18" charset="0"/>
            </a:endParaRPr>
          </a:p>
          <a:p>
            <a:pPr algn="just"/>
            <a:r>
              <a:rPr lang="en-US" sz="2800" dirty="0">
                <a:solidFill>
                  <a:schemeClr val="tx1"/>
                </a:solidFill>
                <a:latin typeface="Times New Roman" panose="02020603050405020304" pitchFamily="18" charset="0"/>
                <a:cs typeface="Times New Roman" panose="02020603050405020304" pitchFamily="18" charset="0"/>
              </a:rPr>
              <a:t>Jot down all the possible terms that emerge from the general topic you are working on. </a:t>
            </a:r>
          </a:p>
          <a:p>
            <a:pPr algn="just"/>
            <a:endParaRPr lang="en-US" sz="2800" dirty="0">
              <a:solidFill>
                <a:schemeClr val="tx1"/>
              </a:solidFill>
              <a:latin typeface="Times New Roman" panose="02020603050405020304" pitchFamily="18" charset="0"/>
              <a:cs typeface="Times New Roman" panose="02020603050405020304" pitchFamily="18" charset="0"/>
            </a:endParaRPr>
          </a:p>
          <a:p>
            <a:pPr algn="just"/>
            <a:r>
              <a:rPr lang="en-US" altLang="en-US" sz="2800" dirty="0">
                <a:solidFill>
                  <a:schemeClr val="tx1"/>
                </a:solidFill>
                <a:latin typeface="Times New Roman" panose="02020603050405020304" pitchFamily="18" charset="0"/>
                <a:cs typeface="Times New Roman" panose="02020603050405020304" pitchFamily="18" charset="0"/>
              </a:rPr>
              <a:t>Listing works well for descriptive-type writing.</a:t>
            </a:r>
          </a:p>
          <a:p>
            <a:pPr algn="just"/>
            <a:r>
              <a:rPr lang="en-US" sz="2800" dirty="0">
                <a:solidFill>
                  <a:schemeClr val="tx1"/>
                </a:solidFill>
                <a:latin typeface="Times New Roman" panose="02020603050405020304" pitchFamily="18" charset="0"/>
                <a:cs typeface="Times New Roman" panose="02020603050405020304" pitchFamily="18" charset="0"/>
              </a:rPr>
              <a:t>Simply write down as many possibilities as you can.</a:t>
            </a:r>
          </a:p>
          <a:p>
            <a:r>
              <a:rPr lang="en-US" sz="2800" i="1" dirty="0">
                <a:solidFill>
                  <a:schemeClr val="tx1"/>
                </a:solidFill>
                <a:latin typeface="Times New Roman" panose="02020603050405020304" pitchFamily="18" charset="0"/>
                <a:cs typeface="Times New Roman" panose="02020603050405020304" pitchFamily="18" charset="0"/>
              </a:rPr>
              <a:t>Note: do not write single words rather write a phrase/clause covering only 1 idea in each point</a:t>
            </a:r>
          </a:p>
        </p:txBody>
      </p:sp>
    </p:spTree>
    <p:extLst>
      <p:ext uri="{BB962C8B-B14F-4D97-AF65-F5344CB8AC3E}">
        <p14:creationId xmlns:p14="http://schemas.microsoft.com/office/powerpoint/2010/main" val="12390967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CBEC4B9B-E82E-732D-9859-2894D1AF6B7B}"/>
              </a:ext>
            </a:extLst>
          </p:cNvPr>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Example of Listing</a:t>
            </a:r>
          </a:p>
        </p:txBody>
      </p:sp>
      <p:sp>
        <p:nvSpPr>
          <p:cNvPr id="23555" name="Rectangle 3">
            <a:extLst>
              <a:ext uri="{FF2B5EF4-FFF2-40B4-BE49-F238E27FC236}">
                <a16:creationId xmlns:a16="http://schemas.microsoft.com/office/drawing/2014/main" id="{628E20DF-96D4-3542-B339-E74D36B410BF}"/>
              </a:ext>
            </a:extLst>
          </p:cNvPr>
          <p:cNvSpPr>
            <a:spLocks noGrp="1" noChangeArrowheads="1"/>
          </p:cNvSpPr>
          <p:nvPr>
            <p:ph type="body" idx="4294967295"/>
          </p:nvPr>
        </p:nvSpPr>
        <p:spPr>
          <a:xfrm>
            <a:off x="3733800" y="190500"/>
            <a:ext cx="8458200" cy="985838"/>
          </a:xfrm>
          <a:noFill/>
        </p:spPr>
        <p:txBody>
          <a:bodyPr>
            <a:noAutofit/>
          </a:bodyPr>
          <a:lstStyle/>
          <a:p>
            <a:pPr>
              <a:buFont typeface="Symbol" panose="05050102010706020507" pitchFamily="18" charset="2"/>
              <a:buNone/>
              <a:defRPr/>
            </a:pPr>
            <a:r>
              <a:rPr lang="en-US" altLang="en-US" sz="3200" b="1" dirty="0">
                <a:solidFill>
                  <a:schemeClr val="tx1"/>
                </a:solidFill>
                <a:latin typeface="Times New Roman" panose="02020603050405020304" pitchFamily="18" charset="0"/>
                <a:cs typeface="Times New Roman" panose="02020603050405020304" pitchFamily="18" charset="0"/>
              </a:rPr>
              <a:t>Describe your favorite room in the house/apartment where you live.</a:t>
            </a:r>
          </a:p>
        </p:txBody>
      </p:sp>
      <p:sp>
        <p:nvSpPr>
          <p:cNvPr id="4" name="Rectangle 3">
            <a:extLst>
              <a:ext uri="{FF2B5EF4-FFF2-40B4-BE49-F238E27FC236}">
                <a16:creationId xmlns:a16="http://schemas.microsoft.com/office/drawing/2014/main" id="{8567964C-311C-1763-1C01-CC37DF2CE484}"/>
              </a:ext>
            </a:extLst>
          </p:cNvPr>
          <p:cNvSpPr>
            <a:spLocks noChangeArrowheads="1"/>
          </p:cNvSpPr>
          <p:nvPr/>
        </p:nvSpPr>
        <p:spPr bwMode="auto">
          <a:xfrm>
            <a:off x="3370007" y="1710589"/>
            <a:ext cx="8458200"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514350" marR="0" lvl="0" indent="-514350" algn="just" defTabSz="914400" rtl="0" eaLnBrk="0" fontAlgn="base" latinLnBrk="0" hangingPunct="0">
              <a:spcBef>
                <a:spcPct val="0"/>
              </a:spcBef>
              <a:spcAft>
                <a:spcPct val="0"/>
              </a:spcAft>
              <a:buClrTx/>
              <a:buSzTx/>
              <a:buFont typeface="+mj-lt"/>
              <a:buAutoNum type="arabicPeriod"/>
              <a:tabLst/>
            </a:pPr>
            <a:r>
              <a:rPr lang="en-US" altLang="en-US" sz="2800" dirty="0">
                <a:latin typeface="Times New Roman" panose="02020603050405020304" pitchFamily="18" charset="0"/>
                <a:cs typeface="Times New Roman" panose="02020603050405020304" pitchFamily="18" charset="0"/>
              </a:rPr>
              <a:t>t</a:t>
            </a:r>
            <a:r>
              <a:rPr kumimoji="0" lang="en-US" altLang="en-US" sz="2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he large windows filling the room with natural light</a:t>
            </a:r>
          </a:p>
          <a:p>
            <a:pPr marL="514350" marR="0" lvl="0" indent="-514350" algn="just" defTabSz="914400" rtl="0" eaLnBrk="0" fontAlgn="base" latinLnBrk="0" hangingPunct="0">
              <a:spcBef>
                <a:spcPct val="0"/>
              </a:spcBef>
              <a:spcAft>
                <a:spcPct val="0"/>
              </a:spcAft>
              <a:buClrTx/>
              <a:buSzTx/>
              <a:buFont typeface="+mj-lt"/>
              <a:buAutoNum type="arabicPeriod"/>
              <a:tabLst/>
            </a:pPr>
            <a:r>
              <a:rPr kumimoji="0" lang="en-US" altLang="en-US" sz="2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Soft, plush carpets covers the floor</a:t>
            </a:r>
          </a:p>
          <a:p>
            <a:pPr marL="514350" marR="0" lvl="0" indent="-514350" algn="just" defTabSz="914400" rtl="0" eaLnBrk="0" fontAlgn="base" latinLnBrk="0" hangingPunct="0">
              <a:spcBef>
                <a:spcPct val="0"/>
              </a:spcBef>
              <a:spcAft>
                <a:spcPct val="0"/>
              </a:spcAft>
              <a:buClrTx/>
              <a:buSzTx/>
              <a:buFont typeface="+mj-lt"/>
              <a:buAutoNum type="arabicPeriod"/>
              <a:tabLst/>
            </a:pPr>
            <a:r>
              <a:rPr kumimoji="0" lang="en-US" altLang="en-US" sz="2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cozy corner sofa sits against the wall</a:t>
            </a:r>
          </a:p>
          <a:p>
            <a:pPr marL="514350" marR="0" lvl="0" indent="-514350" algn="just" defTabSz="914400" rtl="0" eaLnBrk="0" fontAlgn="base" latinLnBrk="0" hangingPunct="0">
              <a:spcBef>
                <a:spcPct val="0"/>
              </a:spcBef>
              <a:spcAft>
                <a:spcPct val="0"/>
              </a:spcAft>
              <a:buClrTx/>
              <a:buSzTx/>
              <a:buFont typeface="+mj-lt"/>
              <a:buAutoNum type="arabicPeriod"/>
              <a:tabLst/>
            </a:pPr>
            <a:r>
              <a:rPr kumimoji="0" lang="en-US" altLang="en-US" sz="2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Decorative throw pillows in vibrant </a:t>
            </a:r>
          </a:p>
          <a:p>
            <a:pPr marL="514350" marR="0" lvl="0" indent="-514350" algn="just" defTabSz="914400" rtl="0" eaLnBrk="0" fontAlgn="base" latinLnBrk="0" hangingPunct="0">
              <a:spcBef>
                <a:spcPct val="0"/>
              </a:spcBef>
              <a:spcAft>
                <a:spcPct val="0"/>
              </a:spcAft>
              <a:buClrTx/>
              <a:buSzTx/>
              <a:buFont typeface="+mj-lt"/>
              <a:buAutoNum type="arabicPeriod"/>
              <a:tabLst/>
            </a:pPr>
            <a:r>
              <a:rPr lang="en-US" altLang="en-US" sz="2800" dirty="0">
                <a:latin typeface="Times New Roman" panose="02020603050405020304" pitchFamily="18" charset="0"/>
                <a:cs typeface="Times New Roman" panose="02020603050405020304" pitchFamily="18" charset="0"/>
              </a:rPr>
              <a:t>a</a:t>
            </a:r>
            <a:r>
              <a:rPr kumimoji="0" lang="en-US" altLang="en-US" sz="2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 artfully arranged bookshelf in the corner</a:t>
            </a:r>
          </a:p>
          <a:p>
            <a:pPr marL="514350" marR="0" lvl="0" indent="-514350" algn="just" defTabSz="914400" rtl="0" eaLnBrk="0" fontAlgn="base" latinLnBrk="0" hangingPunct="0">
              <a:spcBef>
                <a:spcPct val="0"/>
              </a:spcBef>
              <a:spcAft>
                <a:spcPct val="0"/>
              </a:spcAft>
              <a:buClrTx/>
              <a:buSzTx/>
              <a:buFont typeface="+mj-lt"/>
              <a:buAutoNum type="arabicPeriod"/>
              <a:tabLst/>
            </a:pPr>
            <a:r>
              <a:rPr kumimoji="0" lang="en-US" altLang="en-US" sz="2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room is painted in soothing neutral tones</a:t>
            </a:r>
          </a:p>
          <a:p>
            <a:pPr marL="514350" marR="0" lvl="0" indent="-514350" algn="just" defTabSz="914400" rtl="0" eaLnBrk="0" fontAlgn="base" latinLnBrk="0" hangingPunct="0">
              <a:spcBef>
                <a:spcPct val="0"/>
              </a:spcBef>
              <a:spcAft>
                <a:spcPct val="0"/>
              </a:spcAft>
              <a:buClrTx/>
              <a:buSzTx/>
              <a:buFont typeface="+mj-lt"/>
              <a:buAutoNum type="arabicPeriod"/>
              <a:tabLst/>
            </a:pPr>
            <a:r>
              <a:rPr kumimoji="0" lang="en-US" altLang="en-US" sz="2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large rug anchors the seating area</a:t>
            </a:r>
          </a:p>
          <a:p>
            <a:pPr marL="514350" marR="0" lvl="0" indent="-514350" algn="just" defTabSz="914400" rtl="0" eaLnBrk="0" fontAlgn="base" latinLnBrk="0" hangingPunct="0">
              <a:spcBef>
                <a:spcPct val="0"/>
              </a:spcBef>
              <a:spcAft>
                <a:spcPct val="0"/>
              </a:spcAft>
              <a:buClrTx/>
              <a:buSzTx/>
              <a:buFont typeface="+mj-lt"/>
              <a:buAutoNum type="arabicPeriod"/>
              <a:tabLst/>
            </a:pPr>
            <a:r>
              <a:rPr kumimoji="0" lang="en-US" altLang="en-US" sz="2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House plants are scattered around</a:t>
            </a:r>
          </a:p>
          <a:p>
            <a:pPr marL="514350" marR="0" lvl="0" indent="-514350" algn="just" defTabSz="914400" rtl="0" eaLnBrk="0" fontAlgn="base" latinLnBrk="0" hangingPunct="0">
              <a:spcBef>
                <a:spcPct val="0"/>
              </a:spcBef>
              <a:spcAft>
                <a:spcPct val="0"/>
              </a:spcAft>
              <a:buClrTx/>
              <a:buSzTx/>
              <a:buFont typeface="+mj-lt"/>
              <a:buAutoNum type="arabicPeriod"/>
              <a:tabLst/>
            </a:pPr>
            <a:r>
              <a:rPr lang="en-US" altLang="en-US" sz="2800" dirty="0">
                <a:latin typeface="Times New Roman" panose="02020603050405020304" pitchFamily="18" charset="0"/>
                <a:cs typeface="Times New Roman" panose="02020603050405020304" pitchFamily="18" charset="0"/>
              </a:rPr>
              <a:t>t</a:t>
            </a:r>
            <a:r>
              <a:rPr kumimoji="0" lang="en-US" altLang="en-US" sz="2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he soft glow from the floor lamp</a:t>
            </a:r>
          </a:p>
          <a:p>
            <a:pPr marL="514350" marR="0" lvl="0" indent="-514350" algn="just" defTabSz="914400" rtl="0" eaLnBrk="0" fontAlgn="base" latinLnBrk="0" hangingPunct="0">
              <a:spcBef>
                <a:spcPct val="0"/>
              </a:spcBef>
              <a:spcAft>
                <a:spcPct val="0"/>
              </a:spcAft>
              <a:buClrTx/>
              <a:buSzTx/>
              <a:buFont typeface="+mj-lt"/>
              <a:buAutoNum type="arabicPeriod"/>
              <a:tabLst/>
            </a:pPr>
            <a:r>
              <a:rPr kumimoji="0" lang="en-US" altLang="en-US" sz="2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small coffee table holds candles and magazines</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iterate type="wd">
                                    <p:tmPct val="100000"/>
                                  </p:iterate>
                                  <p:childTnLst>
                                    <p:set>
                                      <p:cBhvr>
                                        <p:cTn id="6" dur="1" fill="hold">
                                          <p:stCondLst>
                                            <p:cond delay="0"/>
                                          </p:stCondLst>
                                        </p:cTn>
                                        <p:tgtEl>
                                          <p:spTgt spid="23555">
                                            <p:txEl>
                                              <p:pRg st="0" end="0"/>
                                            </p:txEl>
                                          </p:spTgt>
                                        </p:tgtEl>
                                        <p:attrNameLst>
                                          <p:attrName>style.visibility</p:attrName>
                                        </p:attrNameLst>
                                      </p:cBhvr>
                                      <p:to>
                                        <p:strVal val="visible"/>
                                      </p:to>
                                    </p:set>
                                    <p:animEffect transition="in" filter="wipe(left)">
                                      <p:cBhvr>
                                        <p:cTn id="7" dur="300"/>
                                        <p:tgtEl>
                                          <p:spTgt spid="23555">
                                            <p:txEl>
                                              <p:pRg st="0" end="0"/>
                                            </p:txEl>
                                          </p:spTgt>
                                        </p:tgtEl>
                                      </p:cBhvr>
                                    </p:animEffect>
                                  </p:childTnLst>
                                </p:cTn>
                              </p:par>
                            </p:childTnLst>
                          </p:cTn>
                        </p:par>
                        <p:par>
                          <p:cTn id="8" fill="hold">
                            <p:stCondLst>
                              <p:cond delay="3900"/>
                            </p:stCondLst>
                            <p:childTnLst>
                              <p:par>
                                <p:cTn id="9" presetID="10" presetClass="entr" presetSubtype="0" fill="hold" nodeType="after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animEffect transition="in" filter="fade">
                                      <p:cBhvr>
                                        <p:cTn id="11" dur="500"/>
                                        <p:tgtEl>
                                          <p:spTgt spid="4">
                                            <p:txEl>
                                              <p:pRg st="0" end="0"/>
                                            </p:txEl>
                                          </p:spTgt>
                                        </p:tgtEl>
                                      </p:cBhvr>
                                    </p:animEffect>
                                  </p:childTnLst>
                                </p:cTn>
                              </p:par>
                              <p:par>
                                <p:cTn id="12" presetID="10" presetClass="entr" presetSubtype="0" fill="hold" nodeType="with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fade">
                                      <p:cBhvr>
                                        <p:cTn id="14" dur="500"/>
                                        <p:tgtEl>
                                          <p:spTgt spid="4">
                                            <p:txEl>
                                              <p:pRg st="1" end="1"/>
                                            </p:txEl>
                                          </p:spTgt>
                                        </p:tgtEl>
                                      </p:cBhvr>
                                    </p:animEffect>
                                  </p:childTnLst>
                                </p:cTn>
                              </p:par>
                              <p:par>
                                <p:cTn id="15" presetID="10" presetClass="entr" presetSubtype="0" fill="hold" nodeType="with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500"/>
                                        <p:tgtEl>
                                          <p:spTgt spid="4">
                                            <p:txEl>
                                              <p:pRg st="2" end="2"/>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4">
                                            <p:txEl>
                                              <p:pRg st="3" end="3"/>
                                            </p:txEl>
                                          </p:spTgt>
                                        </p:tgtEl>
                                        <p:attrNameLst>
                                          <p:attrName>style.visibility</p:attrName>
                                        </p:attrNameLst>
                                      </p:cBhvr>
                                      <p:to>
                                        <p:strVal val="visible"/>
                                      </p:to>
                                    </p:set>
                                    <p:animEffect transition="in" filter="fade">
                                      <p:cBhvr>
                                        <p:cTn id="20" dur="500"/>
                                        <p:tgtEl>
                                          <p:spTgt spid="4">
                                            <p:txEl>
                                              <p:pRg st="3" end="3"/>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animEffect transition="in" filter="fade">
                                      <p:cBhvr>
                                        <p:cTn id="23" dur="500"/>
                                        <p:tgtEl>
                                          <p:spTgt spid="4">
                                            <p:txEl>
                                              <p:pRg st="4" end="4"/>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4">
                                            <p:txEl>
                                              <p:pRg st="5" end="5"/>
                                            </p:txEl>
                                          </p:spTgt>
                                        </p:tgtEl>
                                        <p:attrNameLst>
                                          <p:attrName>style.visibility</p:attrName>
                                        </p:attrNameLst>
                                      </p:cBhvr>
                                      <p:to>
                                        <p:strVal val="visible"/>
                                      </p:to>
                                    </p:set>
                                    <p:animEffect transition="in" filter="fade">
                                      <p:cBhvr>
                                        <p:cTn id="26" dur="500"/>
                                        <p:tgtEl>
                                          <p:spTgt spid="4">
                                            <p:txEl>
                                              <p:pRg st="5" end="5"/>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4">
                                            <p:txEl>
                                              <p:pRg st="6" end="6"/>
                                            </p:txEl>
                                          </p:spTgt>
                                        </p:tgtEl>
                                        <p:attrNameLst>
                                          <p:attrName>style.visibility</p:attrName>
                                        </p:attrNameLst>
                                      </p:cBhvr>
                                      <p:to>
                                        <p:strVal val="visible"/>
                                      </p:to>
                                    </p:set>
                                    <p:animEffect transition="in" filter="fade">
                                      <p:cBhvr>
                                        <p:cTn id="29" dur="500"/>
                                        <p:tgtEl>
                                          <p:spTgt spid="4">
                                            <p:txEl>
                                              <p:pRg st="6" end="6"/>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4">
                                            <p:txEl>
                                              <p:pRg st="7" end="7"/>
                                            </p:txEl>
                                          </p:spTgt>
                                        </p:tgtEl>
                                        <p:attrNameLst>
                                          <p:attrName>style.visibility</p:attrName>
                                        </p:attrNameLst>
                                      </p:cBhvr>
                                      <p:to>
                                        <p:strVal val="visible"/>
                                      </p:to>
                                    </p:set>
                                    <p:animEffect transition="in" filter="fade">
                                      <p:cBhvr>
                                        <p:cTn id="32" dur="500"/>
                                        <p:tgtEl>
                                          <p:spTgt spid="4">
                                            <p:txEl>
                                              <p:pRg st="7" end="7"/>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4">
                                            <p:txEl>
                                              <p:pRg st="8" end="8"/>
                                            </p:txEl>
                                          </p:spTgt>
                                        </p:tgtEl>
                                        <p:attrNameLst>
                                          <p:attrName>style.visibility</p:attrName>
                                        </p:attrNameLst>
                                      </p:cBhvr>
                                      <p:to>
                                        <p:strVal val="visible"/>
                                      </p:to>
                                    </p:set>
                                    <p:animEffect transition="in" filter="fade">
                                      <p:cBhvr>
                                        <p:cTn id="35" dur="500"/>
                                        <p:tgtEl>
                                          <p:spTgt spid="4">
                                            <p:txEl>
                                              <p:pRg st="8" end="8"/>
                                            </p:txEl>
                                          </p:spTgt>
                                        </p:tgtEl>
                                      </p:cBhvr>
                                    </p:animEffect>
                                  </p:childTnLst>
                                </p:cTn>
                              </p:par>
                              <p:par>
                                <p:cTn id="36" presetID="10" presetClass="entr" presetSubtype="0" fill="hold" nodeType="withEffect">
                                  <p:stCondLst>
                                    <p:cond delay="0"/>
                                  </p:stCondLst>
                                  <p:childTnLst>
                                    <p:set>
                                      <p:cBhvr>
                                        <p:cTn id="37" dur="1" fill="hold">
                                          <p:stCondLst>
                                            <p:cond delay="0"/>
                                          </p:stCondLst>
                                        </p:cTn>
                                        <p:tgtEl>
                                          <p:spTgt spid="4">
                                            <p:txEl>
                                              <p:pRg st="9" end="9"/>
                                            </p:txEl>
                                          </p:spTgt>
                                        </p:tgtEl>
                                        <p:attrNameLst>
                                          <p:attrName>style.visibility</p:attrName>
                                        </p:attrNameLst>
                                      </p:cBhvr>
                                      <p:to>
                                        <p:strVal val="visible"/>
                                      </p:to>
                                    </p:set>
                                    <p:animEffect transition="in" filter="fade">
                                      <p:cBhvr>
                                        <p:cTn id="38" dur="500"/>
                                        <p:tgtEl>
                                          <p:spTgt spid="4">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5" grpId="0" build="p"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6987" y="3035970"/>
            <a:ext cx="2584801" cy="786059"/>
          </a:xfrm>
        </p:spPr>
        <p:txBody>
          <a:bodyPr/>
          <a:lstStyle/>
          <a:p>
            <a:r>
              <a:rPr lang="en-US" b="1" dirty="0">
                <a:latin typeface="Times New Roman" panose="02020603050405020304" pitchFamily="18" charset="0"/>
                <a:cs typeface="Times New Roman" panose="02020603050405020304" pitchFamily="18" charset="0"/>
              </a:rPr>
              <a:t>Clustering</a:t>
            </a:r>
          </a:p>
        </p:txBody>
      </p:sp>
      <p:sp>
        <p:nvSpPr>
          <p:cNvPr id="3" name="Content Placeholder 2"/>
          <p:cNvSpPr>
            <a:spLocks noGrp="1"/>
          </p:cNvSpPr>
          <p:nvPr>
            <p:ph idx="1"/>
          </p:nvPr>
        </p:nvSpPr>
        <p:spPr>
          <a:xfrm>
            <a:off x="3594306" y="895898"/>
            <a:ext cx="8080707" cy="5165660"/>
          </a:xfrm>
        </p:spPr>
        <p:txBody>
          <a:bodyPr>
            <a:normAutofit/>
          </a:bodyPr>
          <a:lstStyle/>
          <a:p>
            <a:r>
              <a:rPr lang="en-US" sz="3200" dirty="0">
                <a:solidFill>
                  <a:schemeClr val="tx1"/>
                </a:solidFill>
                <a:latin typeface="Times New Roman" panose="02020603050405020304" pitchFamily="18" charset="0"/>
                <a:cs typeface="Times New Roman" panose="02020603050405020304" pitchFamily="18" charset="0"/>
              </a:rPr>
              <a:t>Clustering utilizes a visual map to shape ideas and explore how those ideas relate to each other. </a:t>
            </a:r>
          </a:p>
          <a:p>
            <a:endParaRPr lang="en-US" sz="3200" dirty="0">
              <a:solidFill>
                <a:schemeClr val="tx1"/>
              </a:solidFill>
              <a:latin typeface="Times New Roman" panose="02020603050405020304" pitchFamily="18" charset="0"/>
              <a:cs typeface="Times New Roman" panose="02020603050405020304" pitchFamily="18" charset="0"/>
            </a:endParaRPr>
          </a:p>
          <a:p>
            <a:r>
              <a:rPr lang="en-US" altLang="en-US" sz="3200" dirty="0">
                <a:solidFill>
                  <a:schemeClr val="tx1"/>
                </a:solidFill>
                <a:latin typeface="Times New Roman" panose="02020603050405020304" pitchFamily="18" charset="0"/>
                <a:ea typeface="ＭＳ Ｐゴシック" panose="020B0600070205080204" pitchFamily="34" charset="-128"/>
                <a:cs typeface="Times New Roman" panose="02020603050405020304" pitchFamily="18" charset="0"/>
              </a:rPr>
              <a:t>Clustering is another way to record your thoughts and observations for writing a paragraph or essay</a:t>
            </a:r>
          </a:p>
        </p:txBody>
      </p:sp>
    </p:spTree>
    <p:extLst>
      <p:ext uri="{BB962C8B-B14F-4D97-AF65-F5344CB8AC3E}">
        <p14:creationId xmlns:p14="http://schemas.microsoft.com/office/powerpoint/2010/main" val="33244041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CB7D9E0B-54A0-B889-4B14-B16F54C5EB52}"/>
              </a:ext>
            </a:extLst>
          </p:cNvPr>
          <p:cNvSpPr>
            <a:spLocks noGrp="1"/>
          </p:cNvSpPr>
          <p:nvPr>
            <p:ph type="title"/>
          </p:nvPr>
        </p:nvSpPr>
        <p:spPr/>
        <p:txBody>
          <a:bodyPr/>
          <a:lstStyle/>
          <a:p>
            <a:pPr algn="ctr" eaLnBrk="1" hangingPunct="1"/>
            <a:r>
              <a:rPr lang="en-US" altLang="en-US" b="1" dirty="0">
                <a:latin typeface="Times New Roman" panose="02020603050405020304" pitchFamily="18" charset="0"/>
                <a:ea typeface="ＭＳ Ｐゴシック" panose="020B0600070205080204" pitchFamily="34" charset="-128"/>
                <a:cs typeface="Times New Roman" panose="02020603050405020304" pitchFamily="18" charset="0"/>
              </a:rPr>
              <a:t>Clustering</a:t>
            </a:r>
          </a:p>
        </p:txBody>
      </p:sp>
      <p:sp>
        <p:nvSpPr>
          <p:cNvPr id="18435" name="Content Placeholder 2">
            <a:extLst>
              <a:ext uri="{FF2B5EF4-FFF2-40B4-BE49-F238E27FC236}">
                <a16:creationId xmlns:a16="http://schemas.microsoft.com/office/drawing/2014/main" id="{2C25EFBC-8811-1324-2F6C-D527E28AE32F}"/>
              </a:ext>
            </a:extLst>
          </p:cNvPr>
          <p:cNvSpPr>
            <a:spLocks noGrp="1"/>
          </p:cNvSpPr>
          <p:nvPr>
            <p:ph idx="1"/>
          </p:nvPr>
        </p:nvSpPr>
        <p:spPr/>
        <p:txBody>
          <a:bodyPr>
            <a:normAutofit/>
          </a:bodyPr>
          <a:lstStyle/>
          <a:p>
            <a:r>
              <a:rPr lang="en-US" sz="2800" dirty="0">
                <a:solidFill>
                  <a:schemeClr val="tx1"/>
                </a:solidFill>
                <a:latin typeface="Times New Roman" panose="02020603050405020304" pitchFamily="18" charset="0"/>
                <a:cs typeface="Times New Roman" panose="02020603050405020304" pitchFamily="18" charset="0"/>
              </a:rPr>
              <a:t>When you cluster, your topic goes in a bubble in the middle of the page. From there, your ideas expand to form a spider-web visual.</a:t>
            </a:r>
          </a:p>
          <a:p>
            <a:pPr marL="0" indent="0">
              <a:buNone/>
            </a:pPr>
            <a:endParaRPr lang="en-US" sz="2800" dirty="0">
              <a:solidFill>
                <a:schemeClr val="tx1"/>
              </a:solidFill>
              <a:latin typeface="Times New Roman" panose="02020603050405020304" pitchFamily="18" charset="0"/>
              <a:cs typeface="Times New Roman" panose="02020603050405020304" pitchFamily="18" charset="0"/>
            </a:endParaRPr>
          </a:p>
          <a:p>
            <a:pPr marL="0" indent="0">
              <a:buNone/>
            </a:pPr>
            <a:r>
              <a:rPr lang="en-US" sz="2800" b="1" i="1" dirty="0">
                <a:solidFill>
                  <a:schemeClr val="tx1"/>
                </a:solidFill>
                <a:latin typeface="Times New Roman" panose="02020603050405020304" pitchFamily="18" charset="0"/>
                <a:cs typeface="Times New Roman" panose="02020603050405020304" pitchFamily="18" charset="0"/>
              </a:rPr>
              <a:t>    How to do it?</a:t>
            </a:r>
          </a:p>
          <a:p>
            <a:pPr eaLnBrk="1" hangingPunct="1"/>
            <a:r>
              <a:rPr lang="en-US" altLang="en-US" sz="2800" dirty="0">
                <a:solidFill>
                  <a:schemeClr val="tx1"/>
                </a:solidFill>
                <a:latin typeface="Times New Roman" panose="02020603050405020304" pitchFamily="18" charset="0"/>
                <a:ea typeface="ＭＳ Ｐゴシック" panose="020B0600070205080204" pitchFamily="34" charset="-128"/>
                <a:cs typeface="Times New Roman" panose="02020603050405020304" pitchFamily="18" charset="0"/>
              </a:rPr>
              <a:t>1. First, in a circle near the center of the page, write out the subject of your essay or paragraph.</a:t>
            </a:r>
          </a:p>
          <a:p>
            <a:pPr eaLnBrk="1" hangingPunct="1"/>
            <a:r>
              <a:rPr lang="en-US" altLang="en-US" sz="2800" dirty="0">
                <a:solidFill>
                  <a:schemeClr val="tx1"/>
                </a:solidFill>
                <a:latin typeface="Times New Roman" panose="02020603050405020304" pitchFamily="18" charset="0"/>
                <a:ea typeface="ＭＳ Ｐゴシック" panose="020B0600070205080204" pitchFamily="34" charset="-128"/>
                <a:cs typeface="Times New Roman" panose="02020603050405020304" pitchFamily="18" charset="0"/>
              </a:rPr>
              <a:t>2. Then write down other ideas that relate to your central ideas -- use lines and circles to "map" how the different aspects of your topic will relate to each other.</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ADEC175D-91A2-B650-DB40-D584A52C9CF5}"/>
              </a:ext>
            </a:extLst>
          </p:cNvPr>
          <p:cNvSpPr>
            <a:spLocks noGrp="1" noChangeArrowheads="1"/>
          </p:cNvSpPr>
          <p:nvPr>
            <p:ph type="title"/>
          </p:nvPr>
        </p:nvSpPr>
        <p:spPr/>
        <p:txBody>
          <a:bodyPr/>
          <a:lstStyle/>
          <a:p>
            <a:pPr algn="ctr"/>
            <a:r>
              <a:rPr lang="en-US" altLang="en-US" b="1" dirty="0">
                <a:latin typeface="Times New Roman" panose="02020603050405020304" pitchFamily="18" charset="0"/>
                <a:ea typeface="ＭＳ Ｐゴシック" panose="020B0600070205080204" pitchFamily="34" charset="-128"/>
                <a:cs typeface="Times New Roman" panose="02020603050405020304" pitchFamily="18" charset="0"/>
              </a:rPr>
              <a:t>Example of Clustering</a:t>
            </a:r>
          </a:p>
        </p:txBody>
      </p:sp>
      <p:sp>
        <p:nvSpPr>
          <p:cNvPr id="19459" name="Text Box 5">
            <a:extLst>
              <a:ext uri="{FF2B5EF4-FFF2-40B4-BE49-F238E27FC236}">
                <a16:creationId xmlns:a16="http://schemas.microsoft.com/office/drawing/2014/main" id="{2523EAA7-DF4E-98B2-114F-B2D3E42B671D}"/>
              </a:ext>
            </a:extLst>
          </p:cNvPr>
          <p:cNvSpPr txBox="1">
            <a:spLocks noChangeArrowheads="1"/>
          </p:cNvSpPr>
          <p:nvPr/>
        </p:nvSpPr>
        <p:spPr bwMode="auto">
          <a:xfrm>
            <a:off x="7086600" y="2876550"/>
            <a:ext cx="1676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endParaRPr lang="en-US" altLang="en-US" sz="2400">
              <a:latin typeface="Times" panose="02020603050405020304" pitchFamily="18" charset="0"/>
            </a:endParaRPr>
          </a:p>
        </p:txBody>
      </p:sp>
      <p:grpSp>
        <p:nvGrpSpPr>
          <p:cNvPr id="32854" name="Group 86">
            <a:extLst>
              <a:ext uri="{FF2B5EF4-FFF2-40B4-BE49-F238E27FC236}">
                <a16:creationId xmlns:a16="http://schemas.microsoft.com/office/drawing/2014/main" id="{A5A22EC0-82BF-9782-DF72-669724E82A42}"/>
              </a:ext>
            </a:extLst>
          </p:cNvPr>
          <p:cNvGrpSpPr>
            <a:grpSpLocks/>
          </p:cNvGrpSpPr>
          <p:nvPr/>
        </p:nvGrpSpPr>
        <p:grpSpPr bwMode="auto">
          <a:xfrm>
            <a:off x="6781800" y="2724150"/>
            <a:ext cx="2057400" cy="914400"/>
            <a:chOff x="2448" y="2016"/>
            <a:chExt cx="1296" cy="576"/>
          </a:xfrm>
        </p:grpSpPr>
        <p:sp>
          <p:nvSpPr>
            <p:cNvPr id="19521" name="Oval 4">
              <a:extLst>
                <a:ext uri="{FF2B5EF4-FFF2-40B4-BE49-F238E27FC236}">
                  <a16:creationId xmlns:a16="http://schemas.microsoft.com/office/drawing/2014/main" id="{A1A3562E-0755-2A4E-5938-3814A77F1D63}"/>
                </a:ext>
              </a:extLst>
            </p:cNvPr>
            <p:cNvSpPr>
              <a:spLocks noChangeArrowheads="1"/>
            </p:cNvSpPr>
            <p:nvPr/>
          </p:nvSpPr>
          <p:spPr bwMode="auto">
            <a:xfrm>
              <a:off x="2448" y="2016"/>
              <a:ext cx="1248" cy="576"/>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19522" name="Text Box 7">
              <a:extLst>
                <a:ext uri="{FF2B5EF4-FFF2-40B4-BE49-F238E27FC236}">
                  <a16:creationId xmlns:a16="http://schemas.microsoft.com/office/drawing/2014/main" id="{602D7922-F4BA-1189-72A9-8201287C4567}"/>
                </a:ext>
              </a:extLst>
            </p:cNvPr>
            <p:cNvSpPr txBox="1">
              <a:spLocks noChangeArrowheads="1"/>
            </p:cNvSpPr>
            <p:nvPr/>
          </p:nvSpPr>
          <p:spPr bwMode="auto">
            <a:xfrm>
              <a:off x="2640" y="2112"/>
              <a:ext cx="110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US" altLang="en-US" sz="2400">
                  <a:latin typeface="Times" panose="02020603050405020304" pitchFamily="18" charset="0"/>
                </a:rPr>
                <a:t>My future</a:t>
              </a:r>
            </a:p>
          </p:txBody>
        </p:sp>
      </p:grpSp>
      <p:grpSp>
        <p:nvGrpSpPr>
          <p:cNvPr id="32845" name="Group 77">
            <a:extLst>
              <a:ext uri="{FF2B5EF4-FFF2-40B4-BE49-F238E27FC236}">
                <a16:creationId xmlns:a16="http://schemas.microsoft.com/office/drawing/2014/main" id="{6A734288-A9B8-3F03-72C4-29838E657A0A}"/>
              </a:ext>
            </a:extLst>
          </p:cNvPr>
          <p:cNvGrpSpPr>
            <a:grpSpLocks/>
          </p:cNvGrpSpPr>
          <p:nvPr/>
        </p:nvGrpSpPr>
        <p:grpSpPr bwMode="auto">
          <a:xfrm>
            <a:off x="8534400" y="3486150"/>
            <a:ext cx="1752600" cy="914400"/>
            <a:chOff x="3552" y="2496"/>
            <a:chExt cx="1104" cy="576"/>
          </a:xfrm>
        </p:grpSpPr>
        <p:sp>
          <p:nvSpPr>
            <p:cNvPr id="19517" name="Line 10">
              <a:extLst>
                <a:ext uri="{FF2B5EF4-FFF2-40B4-BE49-F238E27FC236}">
                  <a16:creationId xmlns:a16="http://schemas.microsoft.com/office/drawing/2014/main" id="{79994AB9-E256-27EF-8FAB-C9D0BFAE0D2B}"/>
                </a:ext>
              </a:extLst>
            </p:cNvPr>
            <p:cNvSpPr>
              <a:spLocks noChangeShapeType="1"/>
            </p:cNvSpPr>
            <p:nvPr/>
          </p:nvSpPr>
          <p:spPr bwMode="auto">
            <a:xfrm>
              <a:off x="3552" y="2496"/>
              <a:ext cx="336"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19518" name="Group 22">
              <a:extLst>
                <a:ext uri="{FF2B5EF4-FFF2-40B4-BE49-F238E27FC236}">
                  <a16:creationId xmlns:a16="http://schemas.microsoft.com/office/drawing/2014/main" id="{087A3889-F5C4-39D8-7F50-3037D62F16D0}"/>
                </a:ext>
              </a:extLst>
            </p:cNvPr>
            <p:cNvGrpSpPr>
              <a:grpSpLocks/>
            </p:cNvGrpSpPr>
            <p:nvPr/>
          </p:nvGrpSpPr>
          <p:grpSpPr bwMode="auto">
            <a:xfrm>
              <a:off x="3696" y="2736"/>
              <a:ext cx="960" cy="336"/>
              <a:chOff x="3696" y="2736"/>
              <a:chExt cx="960" cy="336"/>
            </a:xfrm>
          </p:grpSpPr>
          <p:sp>
            <p:nvSpPr>
              <p:cNvPr id="19519" name="Oval 14">
                <a:extLst>
                  <a:ext uri="{FF2B5EF4-FFF2-40B4-BE49-F238E27FC236}">
                    <a16:creationId xmlns:a16="http://schemas.microsoft.com/office/drawing/2014/main" id="{A6711A0B-5414-EE1A-EE04-5C44ADDC9E71}"/>
                  </a:ext>
                </a:extLst>
              </p:cNvPr>
              <p:cNvSpPr>
                <a:spLocks noChangeArrowheads="1"/>
              </p:cNvSpPr>
              <p:nvPr/>
            </p:nvSpPr>
            <p:spPr bwMode="auto">
              <a:xfrm>
                <a:off x="3696" y="2736"/>
                <a:ext cx="912" cy="336"/>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19520" name="Text Box 15">
                <a:extLst>
                  <a:ext uri="{FF2B5EF4-FFF2-40B4-BE49-F238E27FC236}">
                    <a16:creationId xmlns:a16="http://schemas.microsoft.com/office/drawing/2014/main" id="{A0C4BE83-FDBA-6A42-5BA4-1582C78FB2EC}"/>
                  </a:ext>
                </a:extLst>
              </p:cNvPr>
              <p:cNvSpPr txBox="1">
                <a:spLocks noChangeArrowheads="1"/>
              </p:cNvSpPr>
              <p:nvPr/>
            </p:nvSpPr>
            <p:spPr bwMode="auto">
              <a:xfrm>
                <a:off x="3888" y="2736"/>
                <a:ext cx="76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US" altLang="en-US" sz="2400">
                    <a:latin typeface="Times" panose="02020603050405020304" pitchFamily="18" charset="0"/>
                  </a:rPr>
                  <a:t>family</a:t>
                </a:r>
              </a:p>
            </p:txBody>
          </p:sp>
        </p:grpSp>
      </p:grpSp>
      <p:grpSp>
        <p:nvGrpSpPr>
          <p:cNvPr id="32849" name="Group 81">
            <a:extLst>
              <a:ext uri="{FF2B5EF4-FFF2-40B4-BE49-F238E27FC236}">
                <a16:creationId xmlns:a16="http://schemas.microsoft.com/office/drawing/2014/main" id="{315DA213-6986-EE63-DF07-A447A0D0A111}"/>
              </a:ext>
            </a:extLst>
          </p:cNvPr>
          <p:cNvGrpSpPr>
            <a:grpSpLocks/>
          </p:cNvGrpSpPr>
          <p:nvPr/>
        </p:nvGrpSpPr>
        <p:grpSpPr bwMode="auto">
          <a:xfrm>
            <a:off x="7086600" y="4400550"/>
            <a:ext cx="1981200" cy="1524000"/>
            <a:chOff x="2640" y="3072"/>
            <a:chExt cx="1248" cy="960"/>
          </a:xfrm>
        </p:grpSpPr>
        <p:sp>
          <p:nvSpPr>
            <p:cNvPr id="19513" name="Line 25">
              <a:extLst>
                <a:ext uri="{FF2B5EF4-FFF2-40B4-BE49-F238E27FC236}">
                  <a16:creationId xmlns:a16="http://schemas.microsoft.com/office/drawing/2014/main" id="{A714B449-192F-D068-5C86-A0EC597734EF}"/>
                </a:ext>
              </a:extLst>
            </p:cNvPr>
            <p:cNvSpPr>
              <a:spLocks noChangeShapeType="1"/>
            </p:cNvSpPr>
            <p:nvPr/>
          </p:nvSpPr>
          <p:spPr bwMode="auto">
            <a:xfrm flipH="1">
              <a:off x="3408" y="3072"/>
              <a:ext cx="480"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19514" name="Group 30">
              <a:extLst>
                <a:ext uri="{FF2B5EF4-FFF2-40B4-BE49-F238E27FC236}">
                  <a16:creationId xmlns:a16="http://schemas.microsoft.com/office/drawing/2014/main" id="{0C9AFA25-74EA-8047-CFEA-4151B0C7D3A2}"/>
                </a:ext>
              </a:extLst>
            </p:cNvPr>
            <p:cNvGrpSpPr>
              <a:grpSpLocks/>
            </p:cNvGrpSpPr>
            <p:nvPr/>
          </p:nvGrpSpPr>
          <p:grpSpPr bwMode="auto">
            <a:xfrm>
              <a:off x="2640" y="3408"/>
              <a:ext cx="1248" cy="624"/>
              <a:chOff x="2640" y="3408"/>
              <a:chExt cx="1248" cy="624"/>
            </a:xfrm>
          </p:grpSpPr>
          <p:sp>
            <p:nvSpPr>
              <p:cNvPr id="19515" name="Text Box 28">
                <a:extLst>
                  <a:ext uri="{FF2B5EF4-FFF2-40B4-BE49-F238E27FC236}">
                    <a16:creationId xmlns:a16="http://schemas.microsoft.com/office/drawing/2014/main" id="{FC1EF45E-9012-CB46-52FA-17BAC80A098F}"/>
                  </a:ext>
                </a:extLst>
              </p:cNvPr>
              <p:cNvSpPr txBox="1">
                <a:spLocks noChangeArrowheads="1"/>
              </p:cNvSpPr>
              <p:nvPr/>
            </p:nvSpPr>
            <p:spPr bwMode="auto">
              <a:xfrm>
                <a:off x="2736" y="3504"/>
                <a:ext cx="1152"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US" altLang="en-US" sz="2000">
                    <a:latin typeface="Times" panose="02020603050405020304" pitchFamily="18" charset="0"/>
                  </a:rPr>
                  <a:t>Raise healthy, happy children</a:t>
                </a:r>
                <a:endParaRPr lang="en-US" altLang="en-US" sz="2400">
                  <a:latin typeface="Times" panose="02020603050405020304" pitchFamily="18" charset="0"/>
                </a:endParaRPr>
              </a:p>
            </p:txBody>
          </p:sp>
          <p:sp>
            <p:nvSpPr>
              <p:cNvPr id="19516" name="Oval 29">
                <a:extLst>
                  <a:ext uri="{FF2B5EF4-FFF2-40B4-BE49-F238E27FC236}">
                    <a16:creationId xmlns:a16="http://schemas.microsoft.com/office/drawing/2014/main" id="{D76E9606-A009-10EE-2E85-FB13A56A2FAE}"/>
                  </a:ext>
                </a:extLst>
              </p:cNvPr>
              <p:cNvSpPr>
                <a:spLocks noChangeArrowheads="1"/>
              </p:cNvSpPr>
              <p:nvPr/>
            </p:nvSpPr>
            <p:spPr bwMode="auto">
              <a:xfrm>
                <a:off x="2640" y="3408"/>
                <a:ext cx="1248" cy="624"/>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2400">
                  <a:latin typeface="Times New Roman" panose="02020603050405020304" pitchFamily="18" charset="0"/>
                </a:endParaRPr>
              </a:p>
            </p:txBody>
          </p:sp>
        </p:grpSp>
      </p:grpSp>
      <p:grpSp>
        <p:nvGrpSpPr>
          <p:cNvPr id="32850" name="Group 82">
            <a:extLst>
              <a:ext uri="{FF2B5EF4-FFF2-40B4-BE49-F238E27FC236}">
                <a16:creationId xmlns:a16="http://schemas.microsoft.com/office/drawing/2014/main" id="{CD08413D-920C-0CDF-9282-74F1B44BB559}"/>
              </a:ext>
            </a:extLst>
          </p:cNvPr>
          <p:cNvGrpSpPr>
            <a:grpSpLocks/>
          </p:cNvGrpSpPr>
          <p:nvPr/>
        </p:nvGrpSpPr>
        <p:grpSpPr bwMode="auto">
          <a:xfrm>
            <a:off x="9144000" y="4400550"/>
            <a:ext cx="1676400" cy="1295400"/>
            <a:chOff x="3936" y="3072"/>
            <a:chExt cx="1056" cy="816"/>
          </a:xfrm>
        </p:grpSpPr>
        <p:sp>
          <p:nvSpPr>
            <p:cNvPr id="19509" name="Line 26">
              <a:extLst>
                <a:ext uri="{FF2B5EF4-FFF2-40B4-BE49-F238E27FC236}">
                  <a16:creationId xmlns:a16="http://schemas.microsoft.com/office/drawing/2014/main" id="{FC753A71-41A0-C49E-F497-D9A48E311F66}"/>
                </a:ext>
              </a:extLst>
            </p:cNvPr>
            <p:cNvSpPr>
              <a:spLocks noChangeShapeType="1"/>
            </p:cNvSpPr>
            <p:nvPr/>
          </p:nvSpPr>
          <p:spPr bwMode="auto">
            <a:xfrm>
              <a:off x="4176" y="3072"/>
              <a:ext cx="144"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19510" name="Group 33">
              <a:extLst>
                <a:ext uri="{FF2B5EF4-FFF2-40B4-BE49-F238E27FC236}">
                  <a16:creationId xmlns:a16="http://schemas.microsoft.com/office/drawing/2014/main" id="{B3376D61-2948-959E-B05D-95E2C2F4BC8B}"/>
                </a:ext>
              </a:extLst>
            </p:cNvPr>
            <p:cNvGrpSpPr>
              <a:grpSpLocks/>
            </p:cNvGrpSpPr>
            <p:nvPr/>
          </p:nvGrpSpPr>
          <p:grpSpPr bwMode="auto">
            <a:xfrm>
              <a:off x="3936" y="3360"/>
              <a:ext cx="1056" cy="528"/>
              <a:chOff x="3936" y="3360"/>
              <a:chExt cx="1056" cy="528"/>
            </a:xfrm>
          </p:grpSpPr>
          <p:sp>
            <p:nvSpPr>
              <p:cNvPr id="19511" name="Text Box 31">
                <a:extLst>
                  <a:ext uri="{FF2B5EF4-FFF2-40B4-BE49-F238E27FC236}">
                    <a16:creationId xmlns:a16="http://schemas.microsoft.com/office/drawing/2014/main" id="{9915030B-B5B6-6D9E-4803-055B7F8D2E9B}"/>
                  </a:ext>
                </a:extLst>
              </p:cNvPr>
              <p:cNvSpPr txBox="1">
                <a:spLocks noChangeArrowheads="1"/>
              </p:cNvSpPr>
              <p:nvPr/>
            </p:nvSpPr>
            <p:spPr bwMode="auto">
              <a:xfrm>
                <a:off x="4032" y="3408"/>
                <a:ext cx="960"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US" altLang="en-US" sz="2000">
                    <a:latin typeface="Times" panose="02020603050405020304" pitchFamily="18" charset="0"/>
                  </a:rPr>
                  <a:t>Stay close to my husband</a:t>
                </a:r>
                <a:endParaRPr lang="en-US" altLang="en-US" sz="2400">
                  <a:latin typeface="Times" panose="02020603050405020304" pitchFamily="18" charset="0"/>
                </a:endParaRPr>
              </a:p>
            </p:txBody>
          </p:sp>
          <p:sp>
            <p:nvSpPr>
              <p:cNvPr id="19512" name="Oval 32">
                <a:extLst>
                  <a:ext uri="{FF2B5EF4-FFF2-40B4-BE49-F238E27FC236}">
                    <a16:creationId xmlns:a16="http://schemas.microsoft.com/office/drawing/2014/main" id="{7FDBC786-90D9-4544-43A9-50713CFE15CC}"/>
                  </a:ext>
                </a:extLst>
              </p:cNvPr>
              <p:cNvSpPr>
                <a:spLocks noChangeArrowheads="1"/>
              </p:cNvSpPr>
              <p:nvPr/>
            </p:nvSpPr>
            <p:spPr bwMode="auto">
              <a:xfrm>
                <a:off x="3936" y="3360"/>
                <a:ext cx="1008" cy="52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2400">
                  <a:latin typeface="Times New Roman" panose="02020603050405020304" pitchFamily="18" charset="0"/>
                </a:endParaRPr>
              </a:p>
            </p:txBody>
          </p:sp>
        </p:grpSp>
      </p:grpSp>
      <p:grpSp>
        <p:nvGrpSpPr>
          <p:cNvPr id="32847" name="Group 79">
            <a:extLst>
              <a:ext uri="{FF2B5EF4-FFF2-40B4-BE49-F238E27FC236}">
                <a16:creationId xmlns:a16="http://schemas.microsoft.com/office/drawing/2014/main" id="{4DA60F96-9445-019D-0E65-1D744D5852DF}"/>
              </a:ext>
            </a:extLst>
          </p:cNvPr>
          <p:cNvGrpSpPr>
            <a:grpSpLocks/>
          </p:cNvGrpSpPr>
          <p:nvPr/>
        </p:nvGrpSpPr>
        <p:grpSpPr bwMode="auto">
          <a:xfrm>
            <a:off x="10210800" y="3257550"/>
            <a:ext cx="1600200" cy="914400"/>
            <a:chOff x="4608" y="2352"/>
            <a:chExt cx="1008" cy="576"/>
          </a:xfrm>
        </p:grpSpPr>
        <p:sp>
          <p:nvSpPr>
            <p:cNvPr id="19505" name="Line 35">
              <a:extLst>
                <a:ext uri="{FF2B5EF4-FFF2-40B4-BE49-F238E27FC236}">
                  <a16:creationId xmlns:a16="http://schemas.microsoft.com/office/drawing/2014/main" id="{A611CF25-F9FA-E411-6B2B-EA02C5C3B4A1}"/>
                </a:ext>
              </a:extLst>
            </p:cNvPr>
            <p:cNvSpPr>
              <a:spLocks noChangeShapeType="1"/>
            </p:cNvSpPr>
            <p:nvPr/>
          </p:nvSpPr>
          <p:spPr bwMode="auto">
            <a:xfrm flipV="1">
              <a:off x="4608" y="2736"/>
              <a:ext cx="192"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19506" name="Group 38">
              <a:extLst>
                <a:ext uri="{FF2B5EF4-FFF2-40B4-BE49-F238E27FC236}">
                  <a16:creationId xmlns:a16="http://schemas.microsoft.com/office/drawing/2014/main" id="{3AE6DA60-D3D4-881D-7B53-BA58837FC230}"/>
                </a:ext>
              </a:extLst>
            </p:cNvPr>
            <p:cNvGrpSpPr>
              <a:grpSpLocks/>
            </p:cNvGrpSpPr>
            <p:nvPr/>
          </p:nvGrpSpPr>
          <p:grpSpPr bwMode="auto">
            <a:xfrm>
              <a:off x="4704" y="2352"/>
              <a:ext cx="912" cy="516"/>
              <a:chOff x="4704" y="2448"/>
              <a:chExt cx="912" cy="432"/>
            </a:xfrm>
          </p:grpSpPr>
          <p:sp>
            <p:nvSpPr>
              <p:cNvPr id="19507" name="Text Box 36">
                <a:extLst>
                  <a:ext uri="{FF2B5EF4-FFF2-40B4-BE49-F238E27FC236}">
                    <a16:creationId xmlns:a16="http://schemas.microsoft.com/office/drawing/2014/main" id="{65CA4EA6-AB18-755F-8576-8613EDDEDFDE}"/>
                  </a:ext>
                </a:extLst>
              </p:cNvPr>
              <p:cNvSpPr txBox="1">
                <a:spLocks noChangeArrowheads="1"/>
              </p:cNvSpPr>
              <p:nvPr/>
            </p:nvSpPr>
            <p:spPr bwMode="auto">
              <a:xfrm>
                <a:off x="4752" y="2448"/>
                <a:ext cx="864" cy="3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US" altLang="en-US" sz="2000">
                    <a:latin typeface="Times" panose="02020603050405020304" pitchFamily="18" charset="0"/>
                  </a:rPr>
                  <a:t>Make them a priority</a:t>
                </a:r>
                <a:endParaRPr lang="en-US" altLang="en-US" sz="2400">
                  <a:latin typeface="Times" panose="02020603050405020304" pitchFamily="18" charset="0"/>
                </a:endParaRPr>
              </a:p>
            </p:txBody>
          </p:sp>
          <p:sp>
            <p:nvSpPr>
              <p:cNvPr id="19508" name="Oval 37">
                <a:extLst>
                  <a:ext uri="{FF2B5EF4-FFF2-40B4-BE49-F238E27FC236}">
                    <a16:creationId xmlns:a16="http://schemas.microsoft.com/office/drawing/2014/main" id="{B91EB1E1-3F05-1F42-5622-19A99EB84DF3}"/>
                  </a:ext>
                </a:extLst>
              </p:cNvPr>
              <p:cNvSpPr>
                <a:spLocks noChangeArrowheads="1"/>
              </p:cNvSpPr>
              <p:nvPr/>
            </p:nvSpPr>
            <p:spPr bwMode="auto">
              <a:xfrm>
                <a:off x="4704" y="2448"/>
                <a:ext cx="816" cy="432"/>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2400">
                  <a:latin typeface="Times New Roman" panose="02020603050405020304" pitchFamily="18" charset="0"/>
                </a:endParaRPr>
              </a:p>
            </p:txBody>
          </p:sp>
        </p:grpSp>
      </p:grpSp>
      <p:grpSp>
        <p:nvGrpSpPr>
          <p:cNvPr id="32844" name="Group 76">
            <a:extLst>
              <a:ext uri="{FF2B5EF4-FFF2-40B4-BE49-F238E27FC236}">
                <a16:creationId xmlns:a16="http://schemas.microsoft.com/office/drawing/2014/main" id="{9E197961-5ACD-A5F9-80F6-B8E5D1C90176}"/>
              </a:ext>
            </a:extLst>
          </p:cNvPr>
          <p:cNvGrpSpPr>
            <a:grpSpLocks/>
          </p:cNvGrpSpPr>
          <p:nvPr/>
        </p:nvGrpSpPr>
        <p:grpSpPr bwMode="auto">
          <a:xfrm>
            <a:off x="7010400" y="1581150"/>
            <a:ext cx="1600200" cy="1143000"/>
            <a:chOff x="2592" y="1296"/>
            <a:chExt cx="1008" cy="720"/>
          </a:xfrm>
        </p:grpSpPr>
        <p:grpSp>
          <p:nvGrpSpPr>
            <p:cNvPr id="19501" name="Group 23">
              <a:extLst>
                <a:ext uri="{FF2B5EF4-FFF2-40B4-BE49-F238E27FC236}">
                  <a16:creationId xmlns:a16="http://schemas.microsoft.com/office/drawing/2014/main" id="{9BC644F6-A509-DF61-53BA-759E6E359FC2}"/>
                </a:ext>
              </a:extLst>
            </p:cNvPr>
            <p:cNvGrpSpPr>
              <a:grpSpLocks/>
            </p:cNvGrpSpPr>
            <p:nvPr/>
          </p:nvGrpSpPr>
          <p:grpSpPr bwMode="auto">
            <a:xfrm>
              <a:off x="2592" y="1296"/>
              <a:ext cx="1008" cy="480"/>
              <a:chOff x="3552" y="1392"/>
              <a:chExt cx="1008" cy="480"/>
            </a:xfrm>
          </p:grpSpPr>
          <p:sp>
            <p:nvSpPr>
              <p:cNvPr id="19503" name="Oval 12">
                <a:extLst>
                  <a:ext uri="{FF2B5EF4-FFF2-40B4-BE49-F238E27FC236}">
                    <a16:creationId xmlns:a16="http://schemas.microsoft.com/office/drawing/2014/main" id="{A94B02F5-7A63-1FF1-BB28-3B312C068BEF}"/>
                  </a:ext>
                </a:extLst>
              </p:cNvPr>
              <p:cNvSpPr>
                <a:spLocks noChangeArrowheads="1"/>
              </p:cNvSpPr>
              <p:nvPr/>
            </p:nvSpPr>
            <p:spPr bwMode="auto">
              <a:xfrm>
                <a:off x="3600" y="1392"/>
                <a:ext cx="768" cy="48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19504" name="Text Box 13">
                <a:extLst>
                  <a:ext uri="{FF2B5EF4-FFF2-40B4-BE49-F238E27FC236}">
                    <a16:creationId xmlns:a16="http://schemas.microsoft.com/office/drawing/2014/main" id="{3A2F35D3-AB3A-0605-43F7-059A1589699C}"/>
                  </a:ext>
                </a:extLst>
              </p:cNvPr>
              <p:cNvSpPr txBox="1">
                <a:spLocks noChangeArrowheads="1"/>
              </p:cNvSpPr>
              <p:nvPr/>
            </p:nvSpPr>
            <p:spPr bwMode="auto">
              <a:xfrm>
                <a:off x="3552" y="1488"/>
                <a:ext cx="10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US" altLang="en-US" sz="2400">
                    <a:latin typeface="Times" panose="02020603050405020304" pitchFamily="18" charset="0"/>
                  </a:rPr>
                  <a:t>education</a:t>
                </a:r>
              </a:p>
            </p:txBody>
          </p:sp>
        </p:grpSp>
        <p:sp>
          <p:nvSpPr>
            <p:cNvPr id="19502" name="Line 56">
              <a:extLst>
                <a:ext uri="{FF2B5EF4-FFF2-40B4-BE49-F238E27FC236}">
                  <a16:creationId xmlns:a16="http://schemas.microsoft.com/office/drawing/2014/main" id="{B8A2B071-C74F-E05D-3A7B-9547BBB33BB9}"/>
                </a:ext>
              </a:extLst>
            </p:cNvPr>
            <p:cNvSpPr>
              <a:spLocks noChangeShapeType="1"/>
            </p:cNvSpPr>
            <p:nvPr/>
          </p:nvSpPr>
          <p:spPr bwMode="auto">
            <a:xfrm flipV="1">
              <a:off x="2976" y="1776"/>
              <a:ext cx="0"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32846" name="Group 78">
            <a:extLst>
              <a:ext uri="{FF2B5EF4-FFF2-40B4-BE49-F238E27FC236}">
                <a16:creationId xmlns:a16="http://schemas.microsoft.com/office/drawing/2014/main" id="{E080EDB7-D933-828B-601C-B6E70A5B5A77}"/>
              </a:ext>
            </a:extLst>
          </p:cNvPr>
          <p:cNvGrpSpPr>
            <a:grpSpLocks/>
          </p:cNvGrpSpPr>
          <p:nvPr/>
        </p:nvGrpSpPr>
        <p:grpSpPr bwMode="auto">
          <a:xfrm>
            <a:off x="4800600" y="3486150"/>
            <a:ext cx="2133600" cy="990600"/>
            <a:chOff x="1200" y="2496"/>
            <a:chExt cx="1344" cy="624"/>
          </a:xfrm>
        </p:grpSpPr>
        <p:grpSp>
          <p:nvGrpSpPr>
            <p:cNvPr id="19497" name="Group 24">
              <a:extLst>
                <a:ext uri="{FF2B5EF4-FFF2-40B4-BE49-F238E27FC236}">
                  <a16:creationId xmlns:a16="http://schemas.microsoft.com/office/drawing/2014/main" id="{ABA41D98-3605-4B73-8027-E41DD6845C3F}"/>
                </a:ext>
              </a:extLst>
            </p:cNvPr>
            <p:cNvGrpSpPr>
              <a:grpSpLocks/>
            </p:cNvGrpSpPr>
            <p:nvPr/>
          </p:nvGrpSpPr>
          <p:grpSpPr bwMode="auto">
            <a:xfrm>
              <a:off x="1200" y="2832"/>
              <a:ext cx="864" cy="288"/>
              <a:chOff x="1584" y="1632"/>
              <a:chExt cx="960" cy="288"/>
            </a:xfrm>
          </p:grpSpPr>
          <p:sp>
            <p:nvSpPr>
              <p:cNvPr id="19499" name="Oval 16">
                <a:extLst>
                  <a:ext uri="{FF2B5EF4-FFF2-40B4-BE49-F238E27FC236}">
                    <a16:creationId xmlns:a16="http://schemas.microsoft.com/office/drawing/2014/main" id="{F805FCDC-CA4E-D353-C803-627A7FB8C807}"/>
                  </a:ext>
                </a:extLst>
              </p:cNvPr>
              <p:cNvSpPr>
                <a:spLocks noChangeArrowheads="1"/>
              </p:cNvSpPr>
              <p:nvPr/>
            </p:nvSpPr>
            <p:spPr bwMode="auto">
              <a:xfrm>
                <a:off x="1584" y="1680"/>
                <a:ext cx="960" cy="24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19500" name="Text Box 17">
                <a:extLst>
                  <a:ext uri="{FF2B5EF4-FFF2-40B4-BE49-F238E27FC236}">
                    <a16:creationId xmlns:a16="http://schemas.microsoft.com/office/drawing/2014/main" id="{5BBEBD6D-A3A6-B53F-2D99-B5C557877340}"/>
                  </a:ext>
                </a:extLst>
              </p:cNvPr>
              <p:cNvSpPr txBox="1">
                <a:spLocks noChangeArrowheads="1"/>
              </p:cNvSpPr>
              <p:nvPr/>
            </p:nvSpPr>
            <p:spPr bwMode="auto">
              <a:xfrm>
                <a:off x="1777" y="1632"/>
                <a:ext cx="6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US" altLang="en-US" sz="2400">
                    <a:latin typeface="Times" panose="02020603050405020304" pitchFamily="18" charset="0"/>
                  </a:rPr>
                  <a:t>work</a:t>
                </a:r>
              </a:p>
            </p:txBody>
          </p:sp>
        </p:grpSp>
        <p:sp>
          <p:nvSpPr>
            <p:cNvPr id="19498" name="Line 57">
              <a:extLst>
                <a:ext uri="{FF2B5EF4-FFF2-40B4-BE49-F238E27FC236}">
                  <a16:creationId xmlns:a16="http://schemas.microsoft.com/office/drawing/2014/main" id="{4A517C1A-049F-BB33-4F60-0FDED46B5083}"/>
                </a:ext>
              </a:extLst>
            </p:cNvPr>
            <p:cNvSpPr>
              <a:spLocks noChangeShapeType="1"/>
            </p:cNvSpPr>
            <p:nvPr/>
          </p:nvSpPr>
          <p:spPr bwMode="auto">
            <a:xfrm flipH="1">
              <a:off x="1920" y="2496"/>
              <a:ext cx="624" cy="3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32842" name="Group 74">
            <a:extLst>
              <a:ext uri="{FF2B5EF4-FFF2-40B4-BE49-F238E27FC236}">
                <a16:creationId xmlns:a16="http://schemas.microsoft.com/office/drawing/2014/main" id="{94CBE9C6-898F-DDCE-C169-B6DCACCDA927}"/>
              </a:ext>
            </a:extLst>
          </p:cNvPr>
          <p:cNvGrpSpPr>
            <a:grpSpLocks/>
          </p:cNvGrpSpPr>
          <p:nvPr/>
        </p:nvGrpSpPr>
        <p:grpSpPr bwMode="auto">
          <a:xfrm>
            <a:off x="4876800" y="2114550"/>
            <a:ext cx="2209800" cy="838200"/>
            <a:chOff x="1248" y="1632"/>
            <a:chExt cx="1392" cy="528"/>
          </a:xfrm>
        </p:grpSpPr>
        <p:grpSp>
          <p:nvGrpSpPr>
            <p:cNvPr id="19493" name="Group 43">
              <a:extLst>
                <a:ext uri="{FF2B5EF4-FFF2-40B4-BE49-F238E27FC236}">
                  <a16:creationId xmlns:a16="http://schemas.microsoft.com/office/drawing/2014/main" id="{2AA85D68-4E9E-6E5C-A42B-AF56B9F25F66}"/>
                </a:ext>
              </a:extLst>
            </p:cNvPr>
            <p:cNvGrpSpPr>
              <a:grpSpLocks/>
            </p:cNvGrpSpPr>
            <p:nvPr/>
          </p:nvGrpSpPr>
          <p:grpSpPr bwMode="auto">
            <a:xfrm>
              <a:off x="1248" y="1680"/>
              <a:ext cx="1056" cy="480"/>
              <a:chOff x="2688" y="1056"/>
              <a:chExt cx="1056" cy="480"/>
            </a:xfrm>
          </p:grpSpPr>
          <p:sp>
            <p:nvSpPr>
              <p:cNvPr id="19495" name="Text Box 39">
                <a:extLst>
                  <a:ext uri="{FF2B5EF4-FFF2-40B4-BE49-F238E27FC236}">
                    <a16:creationId xmlns:a16="http://schemas.microsoft.com/office/drawing/2014/main" id="{31F26060-33B6-22AD-796A-BD5AFD8F8C59}"/>
                  </a:ext>
                </a:extLst>
              </p:cNvPr>
              <p:cNvSpPr txBox="1">
                <a:spLocks noChangeArrowheads="1"/>
              </p:cNvSpPr>
              <p:nvPr/>
            </p:nvSpPr>
            <p:spPr bwMode="auto">
              <a:xfrm>
                <a:off x="2784" y="1056"/>
                <a:ext cx="960"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US" altLang="en-US" sz="2000">
                    <a:latin typeface="Times" panose="02020603050405020304" pitchFamily="18" charset="0"/>
                  </a:rPr>
                  <a:t>Eventually get a PhD</a:t>
                </a:r>
                <a:endParaRPr lang="en-US" altLang="en-US" sz="2400">
                  <a:latin typeface="Times" panose="02020603050405020304" pitchFamily="18" charset="0"/>
                </a:endParaRPr>
              </a:p>
            </p:txBody>
          </p:sp>
          <p:sp>
            <p:nvSpPr>
              <p:cNvPr id="19496" name="Oval 41">
                <a:extLst>
                  <a:ext uri="{FF2B5EF4-FFF2-40B4-BE49-F238E27FC236}">
                    <a16:creationId xmlns:a16="http://schemas.microsoft.com/office/drawing/2014/main" id="{82ABC08F-D04E-9288-D042-2C1F09D31D42}"/>
                  </a:ext>
                </a:extLst>
              </p:cNvPr>
              <p:cNvSpPr>
                <a:spLocks noChangeArrowheads="1"/>
              </p:cNvSpPr>
              <p:nvPr/>
            </p:nvSpPr>
            <p:spPr bwMode="auto">
              <a:xfrm>
                <a:off x="2688" y="1056"/>
                <a:ext cx="912" cy="48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2400">
                  <a:latin typeface="Times New Roman" panose="02020603050405020304" pitchFamily="18" charset="0"/>
                </a:endParaRPr>
              </a:p>
            </p:txBody>
          </p:sp>
        </p:grpSp>
        <p:sp>
          <p:nvSpPr>
            <p:cNvPr id="19494" name="Line 58">
              <a:extLst>
                <a:ext uri="{FF2B5EF4-FFF2-40B4-BE49-F238E27FC236}">
                  <a16:creationId xmlns:a16="http://schemas.microsoft.com/office/drawing/2014/main" id="{9ED55464-E044-4BE7-B909-6255ED113799}"/>
                </a:ext>
              </a:extLst>
            </p:cNvPr>
            <p:cNvSpPr>
              <a:spLocks noChangeShapeType="1"/>
            </p:cNvSpPr>
            <p:nvPr/>
          </p:nvSpPr>
          <p:spPr bwMode="auto">
            <a:xfrm flipH="1">
              <a:off x="2160" y="1632"/>
              <a:ext cx="48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32841" name="Group 73">
            <a:extLst>
              <a:ext uri="{FF2B5EF4-FFF2-40B4-BE49-F238E27FC236}">
                <a16:creationId xmlns:a16="http://schemas.microsoft.com/office/drawing/2014/main" id="{150CA174-344C-9304-EC6A-831BDB16E611}"/>
              </a:ext>
            </a:extLst>
          </p:cNvPr>
          <p:cNvGrpSpPr>
            <a:grpSpLocks/>
          </p:cNvGrpSpPr>
          <p:nvPr/>
        </p:nvGrpSpPr>
        <p:grpSpPr bwMode="auto">
          <a:xfrm>
            <a:off x="5334000" y="1200150"/>
            <a:ext cx="1905000" cy="762000"/>
            <a:chOff x="1536" y="1056"/>
            <a:chExt cx="1200" cy="480"/>
          </a:xfrm>
        </p:grpSpPr>
        <p:grpSp>
          <p:nvGrpSpPr>
            <p:cNvPr id="19489" name="Group 46">
              <a:extLst>
                <a:ext uri="{FF2B5EF4-FFF2-40B4-BE49-F238E27FC236}">
                  <a16:creationId xmlns:a16="http://schemas.microsoft.com/office/drawing/2014/main" id="{74BC729E-A268-3A1B-26AC-6004A9BC9289}"/>
                </a:ext>
              </a:extLst>
            </p:cNvPr>
            <p:cNvGrpSpPr>
              <a:grpSpLocks/>
            </p:cNvGrpSpPr>
            <p:nvPr/>
          </p:nvGrpSpPr>
          <p:grpSpPr bwMode="auto">
            <a:xfrm>
              <a:off x="1536" y="1056"/>
              <a:ext cx="1008" cy="480"/>
              <a:chOff x="4368" y="1632"/>
              <a:chExt cx="1008" cy="480"/>
            </a:xfrm>
          </p:grpSpPr>
          <p:sp>
            <p:nvSpPr>
              <p:cNvPr id="19491" name="Text Box 44">
                <a:extLst>
                  <a:ext uri="{FF2B5EF4-FFF2-40B4-BE49-F238E27FC236}">
                    <a16:creationId xmlns:a16="http://schemas.microsoft.com/office/drawing/2014/main" id="{7587F306-A382-C4D5-E8FF-C779BD38A624}"/>
                  </a:ext>
                </a:extLst>
              </p:cNvPr>
              <p:cNvSpPr txBox="1">
                <a:spLocks noChangeArrowheads="1"/>
              </p:cNvSpPr>
              <p:nvPr/>
            </p:nvSpPr>
            <p:spPr bwMode="auto">
              <a:xfrm>
                <a:off x="4464" y="1632"/>
                <a:ext cx="912"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US" altLang="en-US" sz="2000">
                    <a:latin typeface="Times" panose="02020603050405020304" pitchFamily="18" charset="0"/>
                  </a:rPr>
                  <a:t>Never stop learning</a:t>
                </a:r>
                <a:endParaRPr lang="en-US" altLang="en-US" sz="2400">
                  <a:latin typeface="Times" panose="02020603050405020304" pitchFamily="18" charset="0"/>
                </a:endParaRPr>
              </a:p>
            </p:txBody>
          </p:sp>
          <p:sp>
            <p:nvSpPr>
              <p:cNvPr id="19492" name="Oval 45">
                <a:extLst>
                  <a:ext uri="{FF2B5EF4-FFF2-40B4-BE49-F238E27FC236}">
                    <a16:creationId xmlns:a16="http://schemas.microsoft.com/office/drawing/2014/main" id="{17F5021B-8908-4760-17D2-E64B8B789111}"/>
                  </a:ext>
                </a:extLst>
              </p:cNvPr>
              <p:cNvSpPr>
                <a:spLocks noChangeArrowheads="1"/>
              </p:cNvSpPr>
              <p:nvPr/>
            </p:nvSpPr>
            <p:spPr bwMode="auto">
              <a:xfrm>
                <a:off x="4368" y="1632"/>
                <a:ext cx="960" cy="48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2400">
                  <a:latin typeface="Times New Roman" panose="02020603050405020304" pitchFamily="18" charset="0"/>
                </a:endParaRPr>
              </a:p>
            </p:txBody>
          </p:sp>
        </p:grpSp>
        <p:sp>
          <p:nvSpPr>
            <p:cNvPr id="19490" name="Line 59">
              <a:extLst>
                <a:ext uri="{FF2B5EF4-FFF2-40B4-BE49-F238E27FC236}">
                  <a16:creationId xmlns:a16="http://schemas.microsoft.com/office/drawing/2014/main" id="{04FBC808-A2F2-F22B-F3DE-38C96F780137}"/>
                </a:ext>
              </a:extLst>
            </p:cNvPr>
            <p:cNvSpPr>
              <a:spLocks noChangeShapeType="1"/>
            </p:cNvSpPr>
            <p:nvPr/>
          </p:nvSpPr>
          <p:spPr bwMode="auto">
            <a:xfrm flipH="1">
              <a:off x="2496" y="1344"/>
              <a:ext cx="2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32843" name="Group 75">
            <a:extLst>
              <a:ext uri="{FF2B5EF4-FFF2-40B4-BE49-F238E27FC236}">
                <a16:creationId xmlns:a16="http://schemas.microsoft.com/office/drawing/2014/main" id="{3B667D78-3C4B-A0E0-C617-421EC1FE7B40}"/>
              </a:ext>
            </a:extLst>
          </p:cNvPr>
          <p:cNvGrpSpPr>
            <a:grpSpLocks/>
          </p:cNvGrpSpPr>
          <p:nvPr/>
        </p:nvGrpSpPr>
        <p:grpSpPr bwMode="auto">
          <a:xfrm>
            <a:off x="8229600" y="1123950"/>
            <a:ext cx="2286000" cy="1143000"/>
            <a:chOff x="3360" y="1008"/>
            <a:chExt cx="1440" cy="720"/>
          </a:xfrm>
        </p:grpSpPr>
        <p:grpSp>
          <p:nvGrpSpPr>
            <p:cNvPr id="19485" name="Group 54">
              <a:extLst>
                <a:ext uri="{FF2B5EF4-FFF2-40B4-BE49-F238E27FC236}">
                  <a16:creationId xmlns:a16="http://schemas.microsoft.com/office/drawing/2014/main" id="{77D15001-569A-C0E4-D706-709E61F0343B}"/>
                </a:ext>
              </a:extLst>
            </p:cNvPr>
            <p:cNvGrpSpPr>
              <a:grpSpLocks/>
            </p:cNvGrpSpPr>
            <p:nvPr/>
          </p:nvGrpSpPr>
          <p:grpSpPr bwMode="auto">
            <a:xfrm>
              <a:off x="3600" y="1008"/>
              <a:ext cx="1200" cy="720"/>
              <a:chOff x="4272" y="960"/>
              <a:chExt cx="1200" cy="720"/>
            </a:xfrm>
          </p:grpSpPr>
          <p:sp>
            <p:nvSpPr>
              <p:cNvPr id="19487" name="Text Box 48">
                <a:extLst>
                  <a:ext uri="{FF2B5EF4-FFF2-40B4-BE49-F238E27FC236}">
                    <a16:creationId xmlns:a16="http://schemas.microsoft.com/office/drawing/2014/main" id="{13863489-8E82-A31B-FC80-C472AB2D6E3D}"/>
                  </a:ext>
                </a:extLst>
              </p:cNvPr>
              <p:cNvSpPr txBox="1">
                <a:spLocks noChangeArrowheads="1"/>
              </p:cNvSpPr>
              <p:nvPr/>
            </p:nvSpPr>
            <p:spPr bwMode="auto">
              <a:xfrm>
                <a:off x="4368" y="1008"/>
                <a:ext cx="1056" cy="6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US" altLang="en-US" sz="2000">
                    <a:latin typeface="Times" panose="02020603050405020304" pitchFamily="18" charset="0"/>
                  </a:rPr>
                  <a:t>Instill a love of education in my children</a:t>
                </a:r>
                <a:endParaRPr lang="en-US" altLang="en-US" sz="2400">
                  <a:latin typeface="Times" panose="02020603050405020304" pitchFamily="18" charset="0"/>
                </a:endParaRPr>
              </a:p>
            </p:txBody>
          </p:sp>
          <p:sp>
            <p:nvSpPr>
              <p:cNvPr id="19488" name="Oval 50">
                <a:extLst>
                  <a:ext uri="{FF2B5EF4-FFF2-40B4-BE49-F238E27FC236}">
                    <a16:creationId xmlns:a16="http://schemas.microsoft.com/office/drawing/2014/main" id="{848D4EDA-F07B-90CB-AB6C-B626DB9A112A}"/>
                  </a:ext>
                </a:extLst>
              </p:cNvPr>
              <p:cNvSpPr>
                <a:spLocks noChangeArrowheads="1"/>
              </p:cNvSpPr>
              <p:nvPr/>
            </p:nvSpPr>
            <p:spPr bwMode="auto">
              <a:xfrm>
                <a:off x="4272" y="960"/>
                <a:ext cx="1200" cy="72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2400">
                  <a:latin typeface="Times New Roman" panose="02020603050405020304" pitchFamily="18" charset="0"/>
                </a:endParaRPr>
              </a:p>
            </p:txBody>
          </p:sp>
        </p:grpSp>
        <p:sp>
          <p:nvSpPr>
            <p:cNvPr id="19486" name="Line 60">
              <a:extLst>
                <a:ext uri="{FF2B5EF4-FFF2-40B4-BE49-F238E27FC236}">
                  <a16:creationId xmlns:a16="http://schemas.microsoft.com/office/drawing/2014/main" id="{E5FA1F58-6EE9-B507-33B9-B490339F5327}"/>
                </a:ext>
              </a:extLst>
            </p:cNvPr>
            <p:cNvSpPr>
              <a:spLocks noChangeShapeType="1"/>
            </p:cNvSpPr>
            <p:nvPr/>
          </p:nvSpPr>
          <p:spPr bwMode="auto">
            <a:xfrm flipV="1">
              <a:off x="3360" y="1392"/>
              <a:ext cx="240" cy="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32853" name="Group 85">
            <a:extLst>
              <a:ext uri="{FF2B5EF4-FFF2-40B4-BE49-F238E27FC236}">
                <a16:creationId xmlns:a16="http://schemas.microsoft.com/office/drawing/2014/main" id="{553544BC-6954-7B80-D1AF-8F8639E4B30D}"/>
              </a:ext>
            </a:extLst>
          </p:cNvPr>
          <p:cNvGrpSpPr>
            <a:grpSpLocks/>
          </p:cNvGrpSpPr>
          <p:nvPr/>
        </p:nvGrpSpPr>
        <p:grpSpPr bwMode="auto">
          <a:xfrm>
            <a:off x="3581400" y="2800350"/>
            <a:ext cx="1905000" cy="1295400"/>
            <a:chOff x="432" y="2064"/>
            <a:chExt cx="1200" cy="816"/>
          </a:xfrm>
        </p:grpSpPr>
        <p:grpSp>
          <p:nvGrpSpPr>
            <p:cNvPr id="19481" name="Group 63">
              <a:extLst>
                <a:ext uri="{FF2B5EF4-FFF2-40B4-BE49-F238E27FC236}">
                  <a16:creationId xmlns:a16="http://schemas.microsoft.com/office/drawing/2014/main" id="{CBC9BD78-A9DF-FC39-EA1C-6AA13A89C0A5}"/>
                </a:ext>
              </a:extLst>
            </p:cNvPr>
            <p:cNvGrpSpPr>
              <a:grpSpLocks/>
            </p:cNvGrpSpPr>
            <p:nvPr/>
          </p:nvGrpSpPr>
          <p:grpSpPr bwMode="auto">
            <a:xfrm>
              <a:off x="432" y="2064"/>
              <a:ext cx="1200" cy="768"/>
              <a:chOff x="432" y="2064"/>
              <a:chExt cx="1200" cy="768"/>
            </a:xfrm>
          </p:grpSpPr>
          <p:sp>
            <p:nvSpPr>
              <p:cNvPr id="19483" name="Text Box 61">
                <a:extLst>
                  <a:ext uri="{FF2B5EF4-FFF2-40B4-BE49-F238E27FC236}">
                    <a16:creationId xmlns:a16="http://schemas.microsoft.com/office/drawing/2014/main" id="{14185A5D-EA1E-329F-0F06-C06B52B4854F}"/>
                  </a:ext>
                </a:extLst>
              </p:cNvPr>
              <p:cNvSpPr txBox="1">
                <a:spLocks noChangeArrowheads="1"/>
              </p:cNvSpPr>
              <p:nvPr/>
            </p:nvSpPr>
            <p:spPr bwMode="auto">
              <a:xfrm>
                <a:off x="528" y="2160"/>
                <a:ext cx="1104" cy="6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US" altLang="en-US" sz="2000">
                    <a:latin typeface="Times" panose="02020603050405020304" pitchFamily="18" charset="0"/>
                  </a:rPr>
                  <a:t>Learn to love whatever work I am doing</a:t>
                </a:r>
                <a:endParaRPr lang="en-US" altLang="en-US" sz="2400">
                  <a:latin typeface="Times" panose="02020603050405020304" pitchFamily="18" charset="0"/>
                </a:endParaRPr>
              </a:p>
            </p:txBody>
          </p:sp>
          <p:sp>
            <p:nvSpPr>
              <p:cNvPr id="19484" name="Oval 62">
                <a:extLst>
                  <a:ext uri="{FF2B5EF4-FFF2-40B4-BE49-F238E27FC236}">
                    <a16:creationId xmlns:a16="http://schemas.microsoft.com/office/drawing/2014/main" id="{33B32AEC-A6FF-D991-AA60-AE28AE41ED79}"/>
                  </a:ext>
                </a:extLst>
              </p:cNvPr>
              <p:cNvSpPr>
                <a:spLocks noChangeArrowheads="1"/>
              </p:cNvSpPr>
              <p:nvPr/>
            </p:nvSpPr>
            <p:spPr bwMode="auto">
              <a:xfrm>
                <a:off x="432" y="2064"/>
                <a:ext cx="1200" cy="76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2400">
                  <a:latin typeface="Times New Roman" panose="02020603050405020304" pitchFamily="18" charset="0"/>
                </a:endParaRPr>
              </a:p>
            </p:txBody>
          </p:sp>
        </p:grpSp>
        <p:sp>
          <p:nvSpPr>
            <p:cNvPr id="19482" name="Line 64">
              <a:extLst>
                <a:ext uri="{FF2B5EF4-FFF2-40B4-BE49-F238E27FC236}">
                  <a16:creationId xmlns:a16="http://schemas.microsoft.com/office/drawing/2014/main" id="{2CF832D4-AA60-C597-AFB3-D45D49CFFB6A}"/>
                </a:ext>
              </a:extLst>
            </p:cNvPr>
            <p:cNvSpPr>
              <a:spLocks noChangeShapeType="1"/>
            </p:cNvSpPr>
            <p:nvPr/>
          </p:nvSpPr>
          <p:spPr bwMode="auto">
            <a:xfrm flipH="1" flipV="1">
              <a:off x="1440" y="2736"/>
              <a:ext cx="144"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32852" name="Group 84">
            <a:extLst>
              <a:ext uri="{FF2B5EF4-FFF2-40B4-BE49-F238E27FC236}">
                <a16:creationId xmlns:a16="http://schemas.microsoft.com/office/drawing/2014/main" id="{A294BFBF-FE0A-099B-0CC8-31F197252F52}"/>
              </a:ext>
            </a:extLst>
          </p:cNvPr>
          <p:cNvGrpSpPr>
            <a:grpSpLocks/>
          </p:cNvGrpSpPr>
          <p:nvPr/>
        </p:nvGrpSpPr>
        <p:grpSpPr bwMode="auto">
          <a:xfrm>
            <a:off x="3657600" y="4324350"/>
            <a:ext cx="2286000" cy="1600200"/>
            <a:chOff x="480" y="3024"/>
            <a:chExt cx="1440" cy="1008"/>
          </a:xfrm>
        </p:grpSpPr>
        <p:grpSp>
          <p:nvGrpSpPr>
            <p:cNvPr id="19477" name="Group 71">
              <a:extLst>
                <a:ext uri="{FF2B5EF4-FFF2-40B4-BE49-F238E27FC236}">
                  <a16:creationId xmlns:a16="http://schemas.microsoft.com/office/drawing/2014/main" id="{1FB306C3-2637-015A-2442-33614AEA14D4}"/>
                </a:ext>
              </a:extLst>
            </p:cNvPr>
            <p:cNvGrpSpPr>
              <a:grpSpLocks/>
            </p:cNvGrpSpPr>
            <p:nvPr/>
          </p:nvGrpSpPr>
          <p:grpSpPr bwMode="auto">
            <a:xfrm>
              <a:off x="480" y="3120"/>
              <a:ext cx="1440" cy="912"/>
              <a:chOff x="480" y="3120"/>
              <a:chExt cx="1440" cy="912"/>
            </a:xfrm>
          </p:grpSpPr>
          <p:sp>
            <p:nvSpPr>
              <p:cNvPr id="19479" name="Text Box 65">
                <a:extLst>
                  <a:ext uri="{FF2B5EF4-FFF2-40B4-BE49-F238E27FC236}">
                    <a16:creationId xmlns:a16="http://schemas.microsoft.com/office/drawing/2014/main" id="{6F525DBC-1641-9304-159B-AE65B150BF8E}"/>
                  </a:ext>
                </a:extLst>
              </p:cNvPr>
              <p:cNvSpPr txBox="1">
                <a:spLocks noChangeArrowheads="1"/>
              </p:cNvSpPr>
              <p:nvPr/>
            </p:nvSpPr>
            <p:spPr bwMode="auto">
              <a:xfrm>
                <a:off x="672" y="3168"/>
                <a:ext cx="1248" cy="8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US" altLang="en-US" sz="2000">
                    <a:latin typeface="Times" panose="02020603050405020304" pitchFamily="18" charset="0"/>
                  </a:rPr>
                  <a:t>Use the skills I have learned in as many ways as possible</a:t>
                </a:r>
                <a:endParaRPr lang="en-US" altLang="en-US" sz="2400">
                  <a:latin typeface="Times" panose="02020603050405020304" pitchFamily="18" charset="0"/>
                </a:endParaRPr>
              </a:p>
            </p:txBody>
          </p:sp>
          <p:sp>
            <p:nvSpPr>
              <p:cNvPr id="19480" name="Oval 66">
                <a:extLst>
                  <a:ext uri="{FF2B5EF4-FFF2-40B4-BE49-F238E27FC236}">
                    <a16:creationId xmlns:a16="http://schemas.microsoft.com/office/drawing/2014/main" id="{A36162DF-0B40-7A70-441D-36D3EB6C7495}"/>
                  </a:ext>
                </a:extLst>
              </p:cNvPr>
              <p:cNvSpPr>
                <a:spLocks noChangeArrowheads="1"/>
              </p:cNvSpPr>
              <p:nvPr/>
            </p:nvSpPr>
            <p:spPr bwMode="auto">
              <a:xfrm>
                <a:off x="480" y="3120"/>
                <a:ext cx="1440" cy="912"/>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2400">
                  <a:latin typeface="Times New Roman" panose="02020603050405020304" pitchFamily="18" charset="0"/>
                </a:endParaRPr>
              </a:p>
            </p:txBody>
          </p:sp>
        </p:grpSp>
        <p:sp>
          <p:nvSpPr>
            <p:cNvPr id="19478" name="Line 67">
              <a:extLst>
                <a:ext uri="{FF2B5EF4-FFF2-40B4-BE49-F238E27FC236}">
                  <a16:creationId xmlns:a16="http://schemas.microsoft.com/office/drawing/2014/main" id="{69935B6F-F21D-F55E-A357-0E21CD87E936}"/>
                </a:ext>
              </a:extLst>
            </p:cNvPr>
            <p:cNvSpPr>
              <a:spLocks noChangeShapeType="1"/>
            </p:cNvSpPr>
            <p:nvPr/>
          </p:nvSpPr>
          <p:spPr bwMode="auto">
            <a:xfrm flipV="1">
              <a:off x="1008" y="3024"/>
              <a:ext cx="192"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32851" name="Group 83">
            <a:extLst>
              <a:ext uri="{FF2B5EF4-FFF2-40B4-BE49-F238E27FC236}">
                <a16:creationId xmlns:a16="http://schemas.microsoft.com/office/drawing/2014/main" id="{75B35FAD-F1FD-2A9D-FC80-3247A69D13AB}"/>
              </a:ext>
            </a:extLst>
          </p:cNvPr>
          <p:cNvGrpSpPr>
            <a:grpSpLocks/>
          </p:cNvGrpSpPr>
          <p:nvPr/>
        </p:nvGrpSpPr>
        <p:grpSpPr bwMode="auto">
          <a:xfrm>
            <a:off x="6019800" y="3790950"/>
            <a:ext cx="2286000" cy="1219200"/>
            <a:chOff x="1968" y="2688"/>
            <a:chExt cx="1440" cy="768"/>
          </a:xfrm>
        </p:grpSpPr>
        <p:grpSp>
          <p:nvGrpSpPr>
            <p:cNvPr id="19473" name="Group 70">
              <a:extLst>
                <a:ext uri="{FF2B5EF4-FFF2-40B4-BE49-F238E27FC236}">
                  <a16:creationId xmlns:a16="http://schemas.microsoft.com/office/drawing/2014/main" id="{46F7BC81-159C-5652-1F01-3631871BD22C}"/>
                </a:ext>
              </a:extLst>
            </p:cNvPr>
            <p:cNvGrpSpPr>
              <a:grpSpLocks/>
            </p:cNvGrpSpPr>
            <p:nvPr/>
          </p:nvGrpSpPr>
          <p:grpSpPr bwMode="auto">
            <a:xfrm>
              <a:off x="2064" y="2688"/>
              <a:ext cx="1344" cy="768"/>
              <a:chOff x="2064" y="2688"/>
              <a:chExt cx="1344" cy="768"/>
            </a:xfrm>
          </p:grpSpPr>
          <p:sp>
            <p:nvSpPr>
              <p:cNvPr id="19475" name="Text Box 68">
                <a:extLst>
                  <a:ext uri="{FF2B5EF4-FFF2-40B4-BE49-F238E27FC236}">
                    <a16:creationId xmlns:a16="http://schemas.microsoft.com/office/drawing/2014/main" id="{BBF842EC-6975-B2FA-7816-1D68E9FE505B}"/>
                  </a:ext>
                </a:extLst>
              </p:cNvPr>
              <p:cNvSpPr txBox="1">
                <a:spLocks noChangeArrowheads="1"/>
              </p:cNvSpPr>
              <p:nvPr/>
            </p:nvSpPr>
            <p:spPr bwMode="auto">
              <a:xfrm>
                <a:off x="2208" y="2736"/>
                <a:ext cx="1200" cy="6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US" altLang="en-US" sz="2000">
                    <a:latin typeface="Times" panose="02020603050405020304" pitchFamily="18" charset="0"/>
                  </a:rPr>
                  <a:t>Stay at home while raising children</a:t>
                </a:r>
                <a:endParaRPr lang="en-US" altLang="en-US" sz="2400">
                  <a:latin typeface="Times" panose="02020603050405020304" pitchFamily="18" charset="0"/>
                </a:endParaRPr>
              </a:p>
            </p:txBody>
          </p:sp>
          <p:sp>
            <p:nvSpPr>
              <p:cNvPr id="19476" name="Oval 69">
                <a:extLst>
                  <a:ext uri="{FF2B5EF4-FFF2-40B4-BE49-F238E27FC236}">
                    <a16:creationId xmlns:a16="http://schemas.microsoft.com/office/drawing/2014/main" id="{F565A1A5-4087-0CDA-49A3-E041D65580BF}"/>
                  </a:ext>
                </a:extLst>
              </p:cNvPr>
              <p:cNvSpPr>
                <a:spLocks noChangeArrowheads="1"/>
              </p:cNvSpPr>
              <p:nvPr/>
            </p:nvSpPr>
            <p:spPr bwMode="auto">
              <a:xfrm>
                <a:off x="2064" y="2688"/>
                <a:ext cx="1200" cy="76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2400">
                  <a:latin typeface="Times New Roman" panose="02020603050405020304" pitchFamily="18" charset="0"/>
                </a:endParaRPr>
              </a:p>
            </p:txBody>
          </p:sp>
        </p:grpSp>
        <p:sp>
          <p:nvSpPr>
            <p:cNvPr id="19474" name="Line 72">
              <a:extLst>
                <a:ext uri="{FF2B5EF4-FFF2-40B4-BE49-F238E27FC236}">
                  <a16:creationId xmlns:a16="http://schemas.microsoft.com/office/drawing/2014/main" id="{47F5C87A-F05F-65A7-B5D1-698CA101DCEA}"/>
                </a:ext>
              </a:extLst>
            </p:cNvPr>
            <p:cNvSpPr>
              <a:spLocks noChangeShapeType="1"/>
            </p:cNvSpPr>
            <p:nvPr/>
          </p:nvSpPr>
          <p:spPr bwMode="auto">
            <a:xfrm>
              <a:off x="1968" y="3072"/>
              <a:ext cx="96"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2770"/>
                                        </p:tgtEl>
                                        <p:attrNameLst>
                                          <p:attrName>style.visibility</p:attrName>
                                        </p:attrNameLst>
                                      </p:cBhvr>
                                      <p:to>
                                        <p:strVal val="visible"/>
                                      </p:to>
                                    </p:set>
                                    <p:animEffect transition="in" filter="wipe(left)">
                                      <p:cBhvr>
                                        <p:cTn id="7" dur="500"/>
                                        <p:tgtEl>
                                          <p:spTgt spid="3277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32854"/>
                                        </p:tgtEl>
                                        <p:attrNameLst>
                                          <p:attrName>style.visibility</p:attrName>
                                        </p:attrNameLst>
                                      </p:cBhvr>
                                      <p:to>
                                        <p:strVal val="visible"/>
                                      </p:to>
                                    </p:set>
                                    <p:animEffect transition="in" filter="dissolve">
                                      <p:cBhvr>
                                        <p:cTn id="12" dur="500"/>
                                        <p:tgtEl>
                                          <p:spTgt spid="3285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32845"/>
                                        </p:tgtEl>
                                        <p:attrNameLst>
                                          <p:attrName>style.visibility</p:attrName>
                                        </p:attrNameLst>
                                      </p:cBhvr>
                                      <p:to>
                                        <p:strVal val="visible"/>
                                      </p:to>
                                    </p:set>
                                    <p:animEffect transition="in" filter="dissolve">
                                      <p:cBhvr>
                                        <p:cTn id="17" dur="500"/>
                                        <p:tgtEl>
                                          <p:spTgt spid="32845"/>
                                        </p:tgtEl>
                                      </p:cBhvr>
                                    </p:animEffect>
                                  </p:childTnLst>
                                </p:cTn>
                              </p:par>
                            </p:childTnLst>
                          </p:cTn>
                        </p:par>
                        <p:par>
                          <p:cTn id="18" fill="hold" nodeType="afterGroup">
                            <p:stCondLst>
                              <p:cond delay="500"/>
                            </p:stCondLst>
                            <p:childTnLst>
                              <p:par>
                                <p:cTn id="19" presetID="9" presetClass="entr" presetSubtype="0" fill="hold" nodeType="afterEffect">
                                  <p:stCondLst>
                                    <p:cond delay="1000"/>
                                  </p:stCondLst>
                                  <p:childTnLst>
                                    <p:set>
                                      <p:cBhvr>
                                        <p:cTn id="20" dur="1" fill="hold">
                                          <p:stCondLst>
                                            <p:cond delay="0"/>
                                          </p:stCondLst>
                                        </p:cTn>
                                        <p:tgtEl>
                                          <p:spTgt spid="32844"/>
                                        </p:tgtEl>
                                        <p:attrNameLst>
                                          <p:attrName>style.visibility</p:attrName>
                                        </p:attrNameLst>
                                      </p:cBhvr>
                                      <p:to>
                                        <p:strVal val="visible"/>
                                      </p:to>
                                    </p:set>
                                    <p:animEffect transition="in" filter="dissolve">
                                      <p:cBhvr>
                                        <p:cTn id="21" dur="500"/>
                                        <p:tgtEl>
                                          <p:spTgt spid="32844"/>
                                        </p:tgtEl>
                                      </p:cBhvr>
                                    </p:animEffect>
                                  </p:childTnLst>
                                </p:cTn>
                              </p:par>
                            </p:childTnLst>
                          </p:cTn>
                        </p:par>
                        <p:par>
                          <p:cTn id="22" fill="hold" nodeType="afterGroup">
                            <p:stCondLst>
                              <p:cond delay="2000"/>
                            </p:stCondLst>
                            <p:childTnLst>
                              <p:par>
                                <p:cTn id="23" presetID="9" presetClass="entr" presetSubtype="0" fill="hold" nodeType="afterEffect">
                                  <p:stCondLst>
                                    <p:cond delay="1000"/>
                                  </p:stCondLst>
                                  <p:childTnLst>
                                    <p:set>
                                      <p:cBhvr>
                                        <p:cTn id="24" dur="1" fill="hold">
                                          <p:stCondLst>
                                            <p:cond delay="0"/>
                                          </p:stCondLst>
                                        </p:cTn>
                                        <p:tgtEl>
                                          <p:spTgt spid="32846"/>
                                        </p:tgtEl>
                                        <p:attrNameLst>
                                          <p:attrName>style.visibility</p:attrName>
                                        </p:attrNameLst>
                                      </p:cBhvr>
                                      <p:to>
                                        <p:strVal val="visible"/>
                                      </p:to>
                                    </p:set>
                                    <p:animEffect transition="in" filter="dissolve">
                                      <p:cBhvr>
                                        <p:cTn id="25" dur="500"/>
                                        <p:tgtEl>
                                          <p:spTgt spid="32846"/>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9" presetClass="entr" presetSubtype="0" fill="hold" nodeType="clickEffect">
                                  <p:stCondLst>
                                    <p:cond delay="0"/>
                                  </p:stCondLst>
                                  <p:childTnLst>
                                    <p:set>
                                      <p:cBhvr>
                                        <p:cTn id="29" dur="1" fill="hold">
                                          <p:stCondLst>
                                            <p:cond delay="0"/>
                                          </p:stCondLst>
                                        </p:cTn>
                                        <p:tgtEl>
                                          <p:spTgt spid="32849"/>
                                        </p:tgtEl>
                                        <p:attrNameLst>
                                          <p:attrName>style.visibility</p:attrName>
                                        </p:attrNameLst>
                                      </p:cBhvr>
                                      <p:to>
                                        <p:strVal val="visible"/>
                                      </p:to>
                                    </p:set>
                                    <p:animEffect transition="in" filter="dissolve">
                                      <p:cBhvr>
                                        <p:cTn id="30" dur="500"/>
                                        <p:tgtEl>
                                          <p:spTgt spid="32849"/>
                                        </p:tgtEl>
                                      </p:cBhvr>
                                    </p:animEffect>
                                  </p:childTnLst>
                                </p:cTn>
                              </p:par>
                            </p:childTnLst>
                          </p:cTn>
                        </p:par>
                        <p:par>
                          <p:cTn id="31" fill="hold" nodeType="afterGroup">
                            <p:stCondLst>
                              <p:cond delay="500"/>
                            </p:stCondLst>
                            <p:childTnLst>
                              <p:par>
                                <p:cTn id="32" presetID="9" presetClass="entr" presetSubtype="0" fill="hold" nodeType="afterEffect">
                                  <p:stCondLst>
                                    <p:cond delay="1000"/>
                                  </p:stCondLst>
                                  <p:childTnLst>
                                    <p:set>
                                      <p:cBhvr>
                                        <p:cTn id="33" dur="1" fill="hold">
                                          <p:stCondLst>
                                            <p:cond delay="0"/>
                                          </p:stCondLst>
                                        </p:cTn>
                                        <p:tgtEl>
                                          <p:spTgt spid="32850"/>
                                        </p:tgtEl>
                                        <p:attrNameLst>
                                          <p:attrName>style.visibility</p:attrName>
                                        </p:attrNameLst>
                                      </p:cBhvr>
                                      <p:to>
                                        <p:strVal val="visible"/>
                                      </p:to>
                                    </p:set>
                                    <p:animEffect transition="in" filter="dissolve">
                                      <p:cBhvr>
                                        <p:cTn id="34" dur="500"/>
                                        <p:tgtEl>
                                          <p:spTgt spid="32850"/>
                                        </p:tgtEl>
                                      </p:cBhvr>
                                    </p:animEffect>
                                  </p:childTnLst>
                                </p:cTn>
                              </p:par>
                            </p:childTnLst>
                          </p:cTn>
                        </p:par>
                        <p:par>
                          <p:cTn id="35" fill="hold" nodeType="afterGroup">
                            <p:stCondLst>
                              <p:cond delay="2000"/>
                            </p:stCondLst>
                            <p:childTnLst>
                              <p:par>
                                <p:cTn id="36" presetID="9" presetClass="entr" presetSubtype="0" fill="hold" nodeType="afterEffect">
                                  <p:stCondLst>
                                    <p:cond delay="1000"/>
                                  </p:stCondLst>
                                  <p:childTnLst>
                                    <p:set>
                                      <p:cBhvr>
                                        <p:cTn id="37" dur="1" fill="hold">
                                          <p:stCondLst>
                                            <p:cond delay="0"/>
                                          </p:stCondLst>
                                        </p:cTn>
                                        <p:tgtEl>
                                          <p:spTgt spid="32847"/>
                                        </p:tgtEl>
                                        <p:attrNameLst>
                                          <p:attrName>style.visibility</p:attrName>
                                        </p:attrNameLst>
                                      </p:cBhvr>
                                      <p:to>
                                        <p:strVal val="visible"/>
                                      </p:to>
                                    </p:set>
                                    <p:animEffect transition="in" filter="dissolve">
                                      <p:cBhvr>
                                        <p:cTn id="38" dur="500"/>
                                        <p:tgtEl>
                                          <p:spTgt spid="32847"/>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9" presetClass="entr" presetSubtype="0" fill="hold" nodeType="clickEffect">
                                  <p:stCondLst>
                                    <p:cond delay="0"/>
                                  </p:stCondLst>
                                  <p:childTnLst>
                                    <p:set>
                                      <p:cBhvr>
                                        <p:cTn id="42" dur="1" fill="hold">
                                          <p:stCondLst>
                                            <p:cond delay="0"/>
                                          </p:stCondLst>
                                        </p:cTn>
                                        <p:tgtEl>
                                          <p:spTgt spid="32842"/>
                                        </p:tgtEl>
                                        <p:attrNameLst>
                                          <p:attrName>style.visibility</p:attrName>
                                        </p:attrNameLst>
                                      </p:cBhvr>
                                      <p:to>
                                        <p:strVal val="visible"/>
                                      </p:to>
                                    </p:set>
                                    <p:animEffect transition="in" filter="dissolve">
                                      <p:cBhvr>
                                        <p:cTn id="43" dur="500"/>
                                        <p:tgtEl>
                                          <p:spTgt spid="32842"/>
                                        </p:tgtEl>
                                      </p:cBhvr>
                                    </p:animEffect>
                                  </p:childTnLst>
                                </p:cTn>
                              </p:par>
                            </p:childTnLst>
                          </p:cTn>
                        </p:par>
                        <p:par>
                          <p:cTn id="44" fill="hold" nodeType="afterGroup">
                            <p:stCondLst>
                              <p:cond delay="500"/>
                            </p:stCondLst>
                            <p:childTnLst>
                              <p:par>
                                <p:cTn id="45" presetID="9" presetClass="entr" presetSubtype="0" fill="hold" nodeType="afterEffect">
                                  <p:stCondLst>
                                    <p:cond delay="1000"/>
                                  </p:stCondLst>
                                  <p:childTnLst>
                                    <p:set>
                                      <p:cBhvr>
                                        <p:cTn id="46" dur="1" fill="hold">
                                          <p:stCondLst>
                                            <p:cond delay="0"/>
                                          </p:stCondLst>
                                        </p:cTn>
                                        <p:tgtEl>
                                          <p:spTgt spid="32841"/>
                                        </p:tgtEl>
                                        <p:attrNameLst>
                                          <p:attrName>style.visibility</p:attrName>
                                        </p:attrNameLst>
                                      </p:cBhvr>
                                      <p:to>
                                        <p:strVal val="visible"/>
                                      </p:to>
                                    </p:set>
                                    <p:animEffect transition="in" filter="dissolve">
                                      <p:cBhvr>
                                        <p:cTn id="47" dur="500"/>
                                        <p:tgtEl>
                                          <p:spTgt spid="32841"/>
                                        </p:tgtEl>
                                      </p:cBhvr>
                                    </p:animEffect>
                                  </p:childTnLst>
                                </p:cTn>
                              </p:par>
                            </p:childTnLst>
                          </p:cTn>
                        </p:par>
                        <p:par>
                          <p:cTn id="48" fill="hold" nodeType="afterGroup">
                            <p:stCondLst>
                              <p:cond delay="2000"/>
                            </p:stCondLst>
                            <p:childTnLst>
                              <p:par>
                                <p:cTn id="49" presetID="9" presetClass="entr" presetSubtype="0" fill="hold" nodeType="afterEffect">
                                  <p:stCondLst>
                                    <p:cond delay="1000"/>
                                  </p:stCondLst>
                                  <p:childTnLst>
                                    <p:set>
                                      <p:cBhvr>
                                        <p:cTn id="50" dur="1" fill="hold">
                                          <p:stCondLst>
                                            <p:cond delay="0"/>
                                          </p:stCondLst>
                                        </p:cTn>
                                        <p:tgtEl>
                                          <p:spTgt spid="32843"/>
                                        </p:tgtEl>
                                        <p:attrNameLst>
                                          <p:attrName>style.visibility</p:attrName>
                                        </p:attrNameLst>
                                      </p:cBhvr>
                                      <p:to>
                                        <p:strVal val="visible"/>
                                      </p:to>
                                    </p:set>
                                    <p:animEffect transition="in" filter="dissolve">
                                      <p:cBhvr>
                                        <p:cTn id="51" dur="500"/>
                                        <p:tgtEl>
                                          <p:spTgt spid="32843"/>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9" presetClass="entr" presetSubtype="0" fill="hold" nodeType="clickEffect">
                                  <p:stCondLst>
                                    <p:cond delay="0"/>
                                  </p:stCondLst>
                                  <p:childTnLst>
                                    <p:set>
                                      <p:cBhvr>
                                        <p:cTn id="55" dur="1" fill="hold">
                                          <p:stCondLst>
                                            <p:cond delay="0"/>
                                          </p:stCondLst>
                                        </p:cTn>
                                        <p:tgtEl>
                                          <p:spTgt spid="32853"/>
                                        </p:tgtEl>
                                        <p:attrNameLst>
                                          <p:attrName>style.visibility</p:attrName>
                                        </p:attrNameLst>
                                      </p:cBhvr>
                                      <p:to>
                                        <p:strVal val="visible"/>
                                      </p:to>
                                    </p:set>
                                    <p:animEffect transition="in" filter="dissolve">
                                      <p:cBhvr>
                                        <p:cTn id="56" dur="500"/>
                                        <p:tgtEl>
                                          <p:spTgt spid="32853"/>
                                        </p:tgtEl>
                                      </p:cBhvr>
                                    </p:animEffect>
                                  </p:childTnLst>
                                </p:cTn>
                              </p:par>
                            </p:childTnLst>
                          </p:cTn>
                        </p:par>
                        <p:par>
                          <p:cTn id="57" fill="hold" nodeType="afterGroup">
                            <p:stCondLst>
                              <p:cond delay="500"/>
                            </p:stCondLst>
                            <p:childTnLst>
                              <p:par>
                                <p:cTn id="58" presetID="9" presetClass="entr" presetSubtype="0" fill="hold" nodeType="afterEffect">
                                  <p:stCondLst>
                                    <p:cond delay="1000"/>
                                  </p:stCondLst>
                                  <p:childTnLst>
                                    <p:set>
                                      <p:cBhvr>
                                        <p:cTn id="59" dur="1" fill="hold">
                                          <p:stCondLst>
                                            <p:cond delay="0"/>
                                          </p:stCondLst>
                                        </p:cTn>
                                        <p:tgtEl>
                                          <p:spTgt spid="32852"/>
                                        </p:tgtEl>
                                        <p:attrNameLst>
                                          <p:attrName>style.visibility</p:attrName>
                                        </p:attrNameLst>
                                      </p:cBhvr>
                                      <p:to>
                                        <p:strVal val="visible"/>
                                      </p:to>
                                    </p:set>
                                    <p:animEffect transition="in" filter="dissolve">
                                      <p:cBhvr>
                                        <p:cTn id="60" dur="500"/>
                                        <p:tgtEl>
                                          <p:spTgt spid="32852"/>
                                        </p:tgtEl>
                                      </p:cBhvr>
                                    </p:animEffect>
                                  </p:childTnLst>
                                </p:cTn>
                              </p:par>
                            </p:childTnLst>
                          </p:cTn>
                        </p:par>
                        <p:par>
                          <p:cTn id="61" fill="hold" nodeType="afterGroup">
                            <p:stCondLst>
                              <p:cond delay="2000"/>
                            </p:stCondLst>
                            <p:childTnLst>
                              <p:par>
                                <p:cTn id="62" presetID="9" presetClass="entr" presetSubtype="0" fill="hold" nodeType="afterEffect">
                                  <p:stCondLst>
                                    <p:cond delay="1000"/>
                                  </p:stCondLst>
                                  <p:childTnLst>
                                    <p:set>
                                      <p:cBhvr>
                                        <p:cTn id="63" dur="1" fill="hold">
                                          <p:stCondLst>
                                            <p:cond delay="0"/>
                                          </p:stCondLst>
                                        </p:cTn>
                                        <p:tgtEl>
                                          <p:spTgt spid="32851"/>
                                        </p:tgtEl>
                                        <p:attrNameLst>
                                          <p:attrName>style.visibility</p:attrName>
                                        </p:attrNameLst>
                                      </p:cBhvr>
                                      <p:to>
                                        <p:strVal val="visible"/>
                                      </p:to>
                                    </p:set>
                                    <p:animEffect transition="in" filter="dissolve">
                                      <p:cBhvr>
                                        <p:cTn id="64" dur="500"/>
                                        <p:tgtEl>
                                          <p:spTgt spid="328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0" grpId="0"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id="{AA03C72B-9606-8B3F-5437-0B289C82D4E6}"/>
              </a:ext>
            </a:extLst>
          </p:cNvPr>
          <p:cNvSpPr>
            <a:spLocks noGrp="1"/>
          </p:cNvSpPr>
          <p:nvPr>
            <p:ph type="title"/>
          </p:nvPr>
        </p:nvSpPr>
        <p:spPr/>
        <p:txBody>
          <a:bodyPr>
            <a:normAutofit/>
          </a:bodyPr>
          <a:lstStyle/>
          <a:p>
            <a:pPr algn="ctr" eaLnBrk="1" hangingPunct="1"/>
            <a:r>
              <a:rPr lang="en-US" altLang="en-US" b="1" dirty="0">
                <a:latin typeface="Times New Roman" panose="02020603050405020304" pitchFamily="18" charset="0"/>
                <a:ea typeface="ＭＳ Ｐゴシック" panose="020B0600070205080204" pitchFamily="34" charset="-128"/>
                <a:cs typeface="Times New Roman" panose="02020603050405020304" pitchFamily="18" charset="0"/>
              </a:rPr>
              <a:t>Outlining</a:t>
            </a:r>
          </a:p>
        </p:txBody>
      </p:sp>
      <p:sp>
        <p:nvSpPr>
          <p:cNvPr id="21507" name="Content Placeholder 2">
            <a:extLst>
              <a:ext uri="{FF2B5EF4-FFF2-40B4-BE49-F238E27FC236}">
                <a16:creationId xmlns:a16="http://schemas.microsoft.com/office/drawing/2014/main" id="{387E8AF4-FFDE-F70E-79C9-6C00A710B70D}"/>
              </a:ext>
            </a:extLst>
          </p:cNvPr>
          <p:cNvSpPr>
            <a:spLocks noGrp="1"/>
          </p:cNvSpPr>
          <p:nvPr>
            <p:ph idx="1"/>
          </p:nvPr>
        </p:nvSpPr>
        <p:spPr/>
        <p:txBody>
          <a:bodyPr>
            <a:noAutofit/>
          </a:bodyPr>
          <a:lstStyle/>
          <a:p>
            <a:pPr eaLnBrk="1" hangingPunct="1">
              <a:lnSpc>
                <a:spcPct val="80000"/>
              </a:lnSpc>
            </a:pPr>
            <a:r>
              <a:rPr lang="en-US" altLang="en-US" sz="2800" dirty="0">
                <a:solidFill>
                  <a:schemeClr val="tx1"/>
                </a:solidFill>
                <a:latin typeface="Times New Roman" panose="02020603050405020304" pitchFamily="18" charset="0"/>
                <a:ea typeface="ＭＳ Ｐゴシック" panose="020B0600070205080204" pitchFamily="34" charset="-128"/>
                <a:cs typeface="Times New Roman" panose="02020603050405020304" pitchFamily="18" charset="0"/>
              </a:rPr>
              <a:t>Outlining is a good way to organize your ideas.  It's best to use an outline after you've done some free-writing, listing or clustering.  </a:t>
            </a:r>
          </a:p>
          <a:p>
            <a:pPr eaLnBrk="1" hangingPunct="1">
              <a:lnSpc>
                <a:spcPct val="80000"/>
              </a:lnSpc>
            </a:pPr>
            <a:endParaRPr lang="en-US" altLang="en-US" sz="2800" dirty="0">
              <a:solidFill>
                <a:schemeClr val="tx1"/>
              </a:solidFill>
              <a:latin typeface="Times New Roman" panose="02020603050405020304" pitchFamily="18" charset="0"/>
              <a:ea typeface="ＭＳ Ｐゴシック" panose="020B0600070205080204" pitchFamily="34" charset="-128"/>
              <a:cs typeface="Times New Roman" panose="02020603050405020304" pitchFamily="18" charset="0"/>
            </a:endParaRPr>
          </a:p>
          <a:p>
            <a:pPr eaLnBrk="1" hangingPunct="1">
              <a:lnSpc>
                <a:spcPct val="80000"/>
              </a:lnSpc>
            </a:pPr>
            <a:r>
              <a:rPr lang="en-US" altLang="en-US" sz="2800" dirty="0">
                <a:solidFill>
                  <a:schemeClr val="tx1"/>
                </a:solidFill>
                <a:latin typeface="Times New Roman" panose="02020603050405020304" pitchFamily="18" charset="0"/>
                <a:ea typeface="ＭＳ Ｐゴシック" panose="020B0600070205080204" pitchFamily="34" charset="-128"/>
                <a:cs typeface="Times New Roman" panose="02020603050405020304" pitchFamily="18" charset="0"/>
              </a:rPr>
              <a:t>It's also good to use an outline after you've written the first draft to help you organize your paragraphs and sentences.</a:t>
            </a:r>
          </a:p>
          <a:p>
            <a:pPr eaLnBrk="1" hangingPunct="1">
              <a:lnSpc>
                <a:spcPct val="80000"/>
              </a:lnSpc>
            </a:pPr>
            <a:endParaRPr lang="en-US" altLang="en-US" sz="2800" dirty="0">
              <a:solidFill>
                <a:schemeClr val="tx1"/>
              </a:solidFill>
              <a:latin typeface="Times New Roman" panose="02020603050405020304" pitchFamily="18" charset="0"/>
              <a:ea typeface="ＭＳ Ｐゴシック" panose="020B0600070205080204" pitchFamily="34" charset="-128"/>
              <a:cs typeface="Times New Roman" panose="02020603050405020304" pitchFamily="18" charset="0"/>
            </a:endParaRPr>
          </a:p>
          <a:p>
            <a:pPr>
              <a:lnSpc>
                <a:spcPct val="80000"/>
              </a:lnSpc>
            </a:pPr>
            <a:r>
              <a:rPr lang="en-US" sz="2800" dirty="0">
                <a:solidFill>
                  <a:schemeClr val="tx1"/>
                </a:solidFill>
                <a:latin typeface="Times New Roman" panose="02020603050405020304" pitchFamily="18" charset="0"/>
                <a:cs typeface="Times New Roman" panose="02020603050405020304" pitchFamily="18" charset="0"/>
              </a:rPr>
              <a:t>Especially for long papers, outlines can be quite detailed, but even a short outline can be helpful in giving the writer ideas and a sense of organization for an essay.</a:t>
            </a:r>
          </a:p>
          <a:p>
            <a:pPr eaLnBrk="1" hangingPunct="1">
              <a:lnSpc>
                <a:spcPct val="80000"/>
              </a:lnSpc>
            </a:pPr>
            <a:endParaRPr lang="en-US" altLang="en-US" sz="2800" dirty="0">
              <a:solidFill>
                <a:schemeClr val="tx1"/>
              </a:solidFill>
              <a:latin typeface="Times New Roman" panose="02020603050405020304" pitchFamily="18" charset="0"/>
              <a:ea typeface="ＭＳ Ｐゴシック" panose="020B0600070205080204" pitchFamily="34" charset="-128"/>
              <a:cs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1A637B23-0A48-6F88-1810-50D8A6224008}"/>
              </a:ext>
            </a:extLst>
          </p:cNvPr>
          <p:cNvSpPr>
            <a:spLocks noGrp="1" noChangeArrowheads="1"/>
          </p:cNvSpPr>
          <p:nvPr>
            <p:ph type="title"/>
          </p:nvPr>
        </p:nvSpPr>
        <p:spPr/>
        <p:txBody>
          <a:bodyPr/>
          <a:lstStyle/>
          <a:p>
            <a:pPr algn="ctr"/>
            <a:r>
              <a:rPr lang="en-US" altLang="en-US" b="1" dirty="0">
                <a:latin typeface="Times New Roman" panose="02020603050405020304" pitchFamily="18" charset="0"/>
                <a:ea typeface="ＭＳ Ｐゴシック" panose="020B0600070205080204" pitchFamily="34" charset="-128"/>
                <a:cs typeface="Times New Roman" panose="02020603050405020304" pitchFamily="18" charset="0"/>
              </a:rPr>
              <a:t>Example of  Outlining</a:t>
            </a:r>
          </a:p>
        </p:txBody>
      </p:sp>
      <p:sp>
        <p:nvSpPr>
          <p:cNvPr id="28675" name="Rectangle 3">
            <a:extLst>
              <a:ext uri="{FF2B5EF4-FFF2-40B4-BE49-F238E27FC236}">
                <a16:creationId xmlns:a16="http://schemas.microsoft.com/office/drawing/2014/main" id="{5E86D4F2-CBCF-6EC3-A3B2-57DF351C6ABF}"/>
              </a:ext>
            </a:extLst>
          </p:cNvPr>
          <p:cNvSpPr>
            <a:spLocks noGrp="1" noChangeArrowheads="1"/>
          </p:cNvSpPr>
          <p:nvPr>
            <p:ph type="body" idx="1"/>
          </p:nvPr>
        </p:nvSpPr>
        <p:spPr/>
        <p:txBody>
          <a:bodyPr/>
          <a:lstStyle/>
          <a:p>
            <a:pPr>
              <a:buFont typeface="Symbol" panose="05050102010706020507" pitchFamily="18" charset="2"/>
              <a:buNone/>
            </a:pPr>
            <a:r>
              <a:rPr lang="en-US" altLang="en-US" sz="2800" dirty="0">
                <a:solidFill>
                  <a:schemeClr val="tx1"/>
                </a:solidFill>
                <a:latin typeface="Times New Roman" panose="02020603050405020304" pitchFamily="18" charset="0"/>
                <a:ea typeface="ＭＳ Ｐゴシック" panose="020B0600070205080204" pitchFamily="34" charset="-128"/>
                <a:cs typeface="Times New Roman" panose="02020603050405020304" pitchFamily="18" charset="0"/>
              </a:rPr>
              <a:t>I. Introduction:  Internet “friendship” has advantages and disadvantages.</a:t>
            </a:r>
          </a:p>
          <a:p>
            <a:pPr>
              <a:buFont typeface="Symbol" panose="05050102010706020507" pitchFamily="18" charset="2"/>
              <a:buNone/>
            </a:pPr>
            <a:r>
              <a:rPr lang="en-US" altLang="en-US" sz="2800" dirty="0">
                <a:solidFill>
                  <a:schemeClr val="tx1"/>
                </a:solidFill>
                <a:latin typeface="Times New Roman" panose="02020603050405020304" pitchFamily="18" charset="0"/>
                <a:ea typeface="ＭＳ Ｐゴシック" panose="020B0600070205080204" pitchFamily="34" charset="-128"/>
                <a:cs typeface="Times New Roman" panose="02020603050405020304" pitchFamily="18" charset="0"/>
              </a:rPr>
              <a:t>II. Advantages</a:t>
            </a:r>
          </a:p>
          <a:p>
            <a:pPr>
              <a:buFont typeface="Symbol" panose="05050102010706020507" pitchFamily="18" charset="2"/>
              <a:buNone/>
            </a:pPr>
            <a:r>
              <a:rPr lang="en-US" altLang="en-US" sz="2800" dirty="0">
                <a:solidFill>
                  <a:schemeClr val="tx1"/>
                </a:solidFill>
                <a:latin typeface="Times New Roman" panose="02020603050405020304" pitchFamily="18" charset="0"/>
                <a:ea typeface="ＭＳ Ｐゴシック" panose="020B0600070205080204" pitchFamily="34" charset="-128"/>
                <a:cs typeface="Times New Roman" panose="02020603050405020304" pitchFamily="18" charset="0"/>
              </a:rPr>
              <a:t>	a) meet people around the world</a:t>
            </a:r>
          </a:p>
          <a:p>
            <a:pPr>
              <a:buFont typeface="Symbol" panose="05050102010706020507" pitchFamily="18" charset="2"/>
              <a:buNone/>
            </a:pPr>
            <a:r>
              <a:rPr lang="en-US" altLang="en-US" sz="2800" dirty="0">
                <a:solidFill>
                  <a:schemeClr val="tx1"/>
                </a:solidFill>
                <a:latin typeface="Times New Roman" panose="02020603050405020304" pitchFamily="18" charset="0"/>
                <a:ea typeface="ＭＳ Ｐゴシック" panose="020B0600070205080204" pitchFamily="34" charset="-128"/>
                <a:cs typeface="Times New Roman" panose="02020603050405020304" pitchFamily="18" charset="0"/>
              </a:rPr>
              <a:t>	b) not based on appearance</a:t>
            </a:r>
          </a:p>
          <a:p>
            <a:pPr>
              <a:buFont typeface="Symbol" panose="05050102010706020507" pitchFamily="18" charset="2"/>
              <a:buNone/>
            </a:pPr>
            <a:r>
              <a:rPr lang="en-US" altLang="en-US" sz="2800" dirty="0">
                <a:solidFill>
                  <a:schemeClr val="tx1"/>
                </a:solidFill>
                <a:latin typeface="Times New Roman" panose="02020603050405020304" pitchFamily="18" charset="0"/>
                <a:ea typeface="ＭＳ Ｐゴシック" panose="020B0600070205080204" pitchFamily="34" charset="-128"/>
                <a:cs typeface="Times New Roman" panose="02020603050405020304" pitchFamily="18" charset="0"/>
              </a:rPr>
              <a:t>III. Disadvantages</a:t>
            </a:r>
          </a:p>
          <a:p>
            <a:pPr>
              <a:buFont typeface="Symbol" panose="05050102010706020507" pitchFamily="18" charset="2"/>
              <a:buNone/>
            </a:pPr>
            <a:r>
              <a:rPr lang="en-US" altLang="en-US" sz="2800" dirty="0">
                <a:solidFill>
                  <a:schemeClr val="tx1"/>
                </a:solidFill>
                <a:latin typeface="Times New Roman" panose="02020603050405020304" pitchFamily="18" charset="0"/>
                <a:ea typeface="ＭＳ Ｐゴシック" panose="020B0600070205080204" pitchFamily="34" charset="-128"/>
                <a:cs typeface="Times New Roman" panose="02020603050405020304" pitchFamily="18" charset="0"/>
              </a:rPr>
              <a:t>	a) can you trust them?</a:t>
            </a:r>
          </a:p>
          <a:p>
            <a:pPr>
              <a:buFont typeface="Symbol" panose="05050102010706020507" pitchFamily="18" charset="2"/>
              <a:buNone/>
            </a:pPr>
            <a:r>
              <a:rPr lang="en-US" altLang="en-US" sz="2800" dirty="0">
                <a:solidFill>
                  <a:schemeClr val="tx1"/>
                </a:solidFill>
                <a:latin typeface="Times New Roman" panose="02020603050405020304" pitchFamily="18" charset="0"/>
                <a:ea typeface="ＭＳ Ｐゴシック" panose="020B0600070205080204" pitchFamily="34" charset="-128"/>
                <a:cs typeface="Times New Roman" panose="02020603050405020304" pitchFamily="18" charset="0"/>
              </a:rPr>
              <a:t>	b) may be too far away to meet in person</a:t>
            </a:r>
          </a:p>
          <a:p>
            <a:pPr>
              <a:buFont typeface="Symbol" panose="05050102010706020507" pitchFamily="18" charset="2"/>
              <a:buNone/>
            </a:pPr>
            <a:r>
              <a:rPr lang="en-US" altLang="en-US" sz="2800" dirty="0">
                <a:solidFill>
                  <a:schemeClr val="tx1"/>
                </a:solidFill>
                <a:latin typeface="Times New Roman" panose="02020603050405020304" pitchFamily="18" charset="0"/>
                <a:ea typeface="ＭＳ Ｐゴシック" panose="020B0600070205080204" pitchFamily="34" charset="-128"/>
                <a:cs typeface="Times New Roman" panose="02020603050405020304" pitchFamily="18" charset="0"/>
              </a:rPr>
              <a:t>IV.  Conclusion:  Some success stories, but too risky</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8674"/>
                                        </p:tgtEl>
                                        <p:attrNameLst>
                                          <p:attrName>style.visibility</p:attrName>
                                        </p:attrNameLst>
                                      </p:cBhvr>
                                      <p:to>
                                        <p:strVal val="visible"/>
                                      </p:to>
                                    </p:set>
                                    <p:animEffect transition="in" filter="wipe(left)">
                                      <p:cBhvr>
                                        <p:cTn id="7" dur="500"/>
                                        <p:tgtEl>
                                          <p:spTgt spid="2867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8675">
                                            <p:txEl>
                                              <p:pRg st="0" end="0"/>
                                            </p:txEl>
                                          </p:spTgt>
                                        </p:tgtEl>
                                        <p:attrNameLst>
                                          <p:attrName>style.visibility</p:attrName>
                                        </p:attrNameLst>
                                      </p:cBhvr>
                                      <p:to>
                                        <p:strVal val="visible"/>
                                      </p:to>
                                    </p:set>
                                    <p:animEffect transition="in" filter="wipe(left)">
                                      <p:cBhvr>
                                        <p:cTn id="12" dur="500"/>
                                        <p:tgtEl>
                                          <p:spTgt spid="28675">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8675">
                                            <p:txEl>
                                              <p:pRg st="1" end="1"/>
                                            </p:txEl>
                                          </p:spTgt>
                                        </p:tgtEl>
                                        <p:attrNameLst>
                                          <p:attrName>style.visibility</p:attrName>
                                        </p:attrNameLst>
                                      </p:cBhvr>
                                      <p:to>
                                        <p:strVal val="visible"/>
                                      </p:to>
                                    </p:set>
                                    <p:animEffect transition="in" filter="wipe(left)">
                                      <p:cBhvr>
                                        <p:cTn id="17" dur="500"/>
                                        <p:tgtEl>
                                          <p:spTgt spid="28675">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8675">
                                            <p:txEl>
                                              <p:pRg st="2" end="2"/>
                                            </p:txEl>
                                          </p:spTgt>
                                        </p:tgtEl>
                                        <p:attrNameLst>
                                          <p:attrName>style.visibility</p:attrName>
                                        </p:attrNameLst>
                                      </p:cBhvr>
                                      <p:to>
                                        <p:strVal val="visible"/>
                                      </p:to>
                                    </p:set>
                                    <p:animEffect transition="in" filter="wipe(left)">
                                      <p:cBhvr>
                                        <p:cTn id="22" dur="500"/>
                                        <p:tgtEl>
                                          <p:spTgt spid="28675">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8675">
                                            <p:txEl>
                                              <p:pRg st="3" end="3"/>
                                            </p:txEl>
                                          </p:spTgt>
                                        </p:tgtEl>
                                        <p:attrNameLst>
                                          <p:attrName>style.visibility</p:attrName>
                                        </p:attrNameLst>
                                      </p:cBhvr>
                                      <p:to>
                                        <p:strVal val="visible"/>
                                      </p:to>
                                    </p:set>
                                    <p:animEffect transition="in" filter="wipe(left)">
                                      <p:cBhvr>
                                        <p:cTn id="27" dur="500"/>
                                        <p:tgtEl>
                                          <p:spTgt spid="28675">
                                            <p:txEl>
                                              <p:pRg st="3" end="3"/>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8675">
                                            <p:txEl>
                                              <p:pRg st="4" end="4"/>
                                            </p:txEl>
                                          </p:spTgt>
                                        </p:tgtEl>
                                        <p:attrNameLst>
                                          <p:attrName>style.visibility</p:attrName>
                                        </p:attrNameLst>
                                      </p:cBhvr>
                                      <p:to>
                                        <p:strVal val="visible"/>
                                      </p:to>
                                    </p:set>
                                    <p:animEffect transition="in" filter="wipe(left)">
                                      <p:cBhvr>
                                        <p:cTn id="32" dur="500"/>
                                        <p:tgtEl>
                                          <p:spTgt spid="28675">
                                            <p:txEl>
                                              <p:pRg st="4" end="4"/>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8675">
                                            <p:txEl>
                                              <p:pRg st="5" end="5"/>
                                            </p:txEl>
                                          </p:spTgt>
                                        </p:tgtEl>
                                        <p:attrNameLst>
                                          <p:attrName>style.visibility</p:attrName>
                                        </p:attrNameLst>
                                      </p:cBhvr>
                                      <p:to>
                                        <p:strVal val="visible"/>
                                      </p:to>
                                    </p:set>
                                    <p:animEffect transition="in" filter="wipe(left)">
                                      <p:cBhvr>
                                        <p:cTn id="37" dur="500"/>
                                        <p:tgtEl>
                                          <p:spTgt spid="28675">
                                            <p:txEl>
                                              <p:pRg st="5" end="5"/>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8675">
                                            <p:txEl>
                                              <p:pRg st="6" end="6"/>
                                            </p:txEl>
                                          </p:spTgt>
                                        </p:tgtEl>
                                        <p:attrNameLst>
                                          <p:attrName>style.visibility</p:attrName>
                                        </p:attrNameLst>
                                      </p:cBhvr>
                                      <p:to>
                                        <p:strVal val="visible"/>
                                      </p:to>
                                    </p:set>
                                    <p:animEffect transition="in" filter="wipe(left)">
                                      <p:cBhvr>
                                        <p:cTn id="42" dur="500"/>
                                        <p:tgtEl>
                                          <p:spTgt spid="28675">
                                            <p:txEl>
                                              <p:pRg st="6" end="6"/>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8675">
                                            <p:txEl>
                                              <p:pRg st="7" end="7"/>
                                            </p:txEl>
                                          </p:spTgt>
                                        </p:tgtEl>
                                        <p:attrNameLst>
                                          <p:attrName>style.visibility</p:attrName>
                                        </p:attrNameLst>
                                      </p:cBhvr>
                                      <p:to>
                                        <p:strVal val="visible"/>
                                      </p:to>
                                    </p:set>
                                    <p:animEffect transition="in" filter="wipe(left)">
                                      <p:cBhvr>
                                        <p:cTn id="47" dur="500"/>
                                        <p:tgtEl>
                                          <p:spTgt spid="2867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4" grpId="0" autoUpdateAnimBg="0"/>
      <p:bldP spid="28675" grpId="0" build="p"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461294" y="365383"/>
            <a:ext cx="10058400" cy="835025"/>
          </a:xfrm>
          <a:solidFill>
            <a:schemeClr val="accent1"/>
          </a:solidFill>
        </p:spPr>
        <p:txBody>
          <a:bodyPr/>
          <a:lstStyle/>
          <a:p>
            <a:pPr algn="ctr"/>
            <a:r>
              <a:rPr lang="en-US" b="1" dirty="0">
                <a:solidFill>
                  <a:schemeClr val="bg1"/>
                </a:solidFill>
                <a:latin typeface="Times New Roman" panose="02020603050405020304" pitchFamily="18" charset="0"/>
                <a:cs typeface="Times New Roman" panose="02020603050405020304" pitchFamily="18" charset="0"/>
              </a:rPr>
              <a:t>Writing your  Thesis Statement</a:t>
            </a:r>
          </a:p>
        </p:txBody>
      </p:sp>
      <p:sp>
        <p:nvSpPr>
          <p:cNvPr id="3" name="Content Placeholder 2"/>
          <p:cNvSpPr>
            <a:spLocks noGrp="1"/>
          </p:cNvSpPr>
          <p:nvPr>
            <p:ph idx="4294967295"/>
          </p:nvPr>
        </p:nvSpPr>
        <p:spPr>
          <a:xfrm>
            <a:off x="672306" y="1200408"/>
            <a:ext cx="11403012" cy="5600700"/>
          </a:xfrm>
        </p:spPr>
        <p:txBody>
          <a:bodyPr>
            <a:noAutofit/>
          </a:bodyPr>
          <a:lstStyle/>
          <a:p>
            <a:pPr>
              <a:buNone/>
            </a:pPr>
            <a:r>
              <a:rPr lang="en-US" sz="2800" dirty="0">
                <a:solidFill>
                  <a:schemeClr val="tx1"/>
                </a:solidFill>
                <a:latin typeface="Times New Roman" panose="02020603050405020304" pitchFamily="18" charset="0"/>
                <a:cs typeface="Times New Roman" panose="02020603050405020304" pitchFamily="18" charset="0"/>
              </a:rPr>
              <a:t>A thesis statement generally consists of two parts: </a:t>
            </a:r>
          </a:p>
          <a:p>
            <a:pPr>
              <a:buNone/>
            </a:pPr>
            <a:r>
              <a:rPr lang="en-US" sz="2800" dirty="0">
                <a:solidFill>
                  <a:schemeClr val="tx1"/>
                </a:solidFill>
                <a:latin typeface="Times New Roman" panose="02020603050405020304" pitchFamily="18" charset="0"/>
                <a:cs typeface="Times New Roman" panose="02020603050405020304" pitchFamily="18" charset="0"/>
              </a:rPr>
              <a:t>your </a:t>
            </a:r>
            <a:r>
              <a:rPr lang="en-US" sz="2800" b="1" dirty="0">
                <a:solidFill>
                  <a:schemeClr val="tx1"/>
                </a:solidFill>
                <a:latin typeface="Times New Roman" panose="02020603050405020304" pitchFamily="18" charset="0"/>
                <a:cs typeface="Times New Roman" panose="02020603050405020304" pitchFamily="18" charset="0"/>
              </a:rPr>
              <a:t>topic</a:t>
            </a:r>
            <a:r>
              <a:rPr lang="en-US" sz="2800" dirty="0">
                <a:solidFill>
                  <a:schemeClr val="tx1"/>
                </a:solidFill>
                <a:latin typeface="Times New Roman" panose="02020603050405020304" pitchFamily="18" charset="0"/>
                <a:cs typeface="Times New Roman" panose="02020603050405020304" pitchFamily="18" charset="0"/>
              </a:rPr>
              <a:t>, and the </a:t>
            </a:r>
            <a:r>
              <a:rPr lang="en-US" sz="2800" b="1" dirty="0">
                <a:solidFill>
                  <a:schemeClr val="tx1"/>
                </a:solidFill>
                <a:latin typeface="Times New Roman" panose="02020603050405020304" pitchFamily="18" charset="0"/>
                <a:cs typeface="Times New Roman" panose="02020603050405020304" pitchFamily="18" charset="0"/>
              </a:rPr>
              <a:t>main point</a:t>
            </a:r>
            <a:r>
              <a:rPr lang="en-US" sz="2800" dirty="0">
                <a:solidFill>
                  <a:schemeClr val="tx1"/>
                </a:solidFill>
                <a:latin typeface="Times New Roman" panose="02020603050405020304" pitchFamily="18" charset="0"/>
                <a:cs typeface="Times New Roman" panose="02020603050405020304" pitchFamily="18" charset="0"/>
              </a:rPr>
              <a:t>: the analysis, explanation(s), or assertion(s) that you are</a:t>
            </a:r>
          </a:p>
          <a:p>
            <a:pPr>
              <a:buNone/>
            </a:pPr>
            <a:r>
              <a:rPr lang="en-US" sz="2800" dirty="0">
                <a:solidFill>
                  <a:schemeClr val="tx1"/>
                </a:solidFill>
                <a:latin typeface="Times New Roman" panose="02020603050405020304" pitchFamily="18" charset="0"/>
                <a:cs typeface="Times New Roman" panose="02020603050405020304" pitchFamily="18" charset="0"/>
              </a:rPr>
              <a:t>making about the topic.</a:t>
            </a:r>
          </a:p>
          <a:p>
            <a:pPr algn="ctr">
              <a:buNone/>
            </a:pPr>
            <a:r>
              <a:rPr lang="en-US" sz="2800" dirty="0">
                <a:solidFill>
                  <a:schemeClr val="tx1"/>
                </a:solidFill>
                <a:latin typeface="Times New Roman" panose="02020603050405020304" pitchFamily="18" charset="0"/>
                <a:cs typeface="Times New Roman" panose="02020603050405020304" pitchFamily="18" charset="0"/>
              </a:rPr>
              <a:t>OR</a:t>
            </a:r>
          </a:p>
          <a:p>
            <a:pPr algn="ctr">
              <a:buNone/>
            </a:pPr>
            <a:r>
              <a:rPr lang="en-US" sz="2800" dirty="0">
                <a:solidFill>
                  <a:schemeClr val="tx1"/>
                </a:solidFill>
                <a:latin typeface="Times New Roman" panose="02020603050405020304" pitchFamily="18" charset="0"/>
                <a:cs typeface="Times New Roman" panose="02020603050405020304" pitchFamily="18" charset="0"/>
              </a:rPr>
              <a:t>Thesis statement = Narrowed topic + main point</a:t>
            </a:r>
          </a:p>
          <a:p>
            <a:pPr algn="ctr">
              <a:buNone/>
            </a:pPr>
            <a:endParaRPr lang="en-US" sz="2800" dirty="0">
              <a:solidFill>
                <a:schemeClr val="tx1"/>
              </a:solidFill>
              <a:latin typeface="Times New Roman" panose="02020603050405020304" pitchFamily="18" charset="0"/>
              <a:cs typeface="Times New Roman" panose="02020603050405020304" pitchFamily="18" charset="0"/>
            </a:endParaRPr>
          </a:p>
          <a:p>
            <a:pPr algn="ctr">
              <a:buNone/>
            </a:pPr>
            <a:endParaRPr lang="en-US" sz="2800" dirty="0">
              <a:solidFill>
                <a:schemeClr val="tx1"/>
              </a:solidFill>
              <a:latin typeface="Times New Roman" panose="02020603050405020304" pitchFamily="18" charset="0"/>
              <a:cs typeface="Times New Roman" panose="02020603050405020304" pitchFamily="18" charset="0"/>
            </a:endParaRPr>
          </a:p>
          <a:p>
            <a:pPr algn="ctr">
              <a:buNone/>
            </a:pPr>
            <a:r>
              <a:rPr lang="en-US" sz="2800" dirty="0">
                <a:solidFill>
                  <a:schemeClr val="tx1"/>
                </a:solidFill>
                <a:latin typeface="Times New Roman" panose="02020603050405020304" pitchFamily="18" charset="0"/>
                <a:cs typeface="Times New Roman" panose="02020603050405020304" pitchFamily="18" charset="0"/>
              </a:rPr>
              <a:t>Euthanasia is suicidal, it should be banned. </a:t>
            </a:r>
          </a:p>
          <a:p>
            <a:pPr algn="ctr">
              <a:buNone/>
            </a:pPr>
            <a:r>
              <a:rPr lang="en-US" sz="2800" dirty="0">
                <a:solidFill>
                  <a:schemeClr val="tx1"/>
                </a:solidFill>
                <a:latin typeface="Times New Roman" panose="02020603050405020304" pitchFamily="18" charset="0"/>
                <a:cs typeface="Times New Roman" panose="02020603050405020304" pitchFamily="18" charset="0"/>
              </a:rPr>
              <a:t>   </a:t>
            </a:r>
            <a:r>
              <a:rPr lang="en-US" sz="2800" b="1" dirty="0">
                <a:solidFill>
                  <a:schemeClr val="tx1"/>
                </a:solidFill>
                <a:latin typeface="Times New Roman" panose="02020603050405020304" pitchFamily="18" charset="0"/>
                <a:cs typeface="Times New Roman" panose="02020603050405020304" pitchFamily="18" charset="0"/>
              </a:rPr>
              <a:t>Narrowed topic          main point </a:t>
            </a:r>
          </a:p>
        </p:txBody>
      </p:sp>
      <p:sp>
        <p:nvSpPr>
          <p:cNvPr id="5" name="Rectangle 4"/>
          <p:cNvSpPr/>
          <p:nvPr/>
        </p:nvSpPr>
        <p:spPr>
          <a:xfrm>
            <a:off x="1835972" y="4788274"/>
            <a:ext cx="1540806" cy="523220"/>
          </a:xfrm>
          <a:prstGeom prst="rect">
            <a:avLst/>
          </a:prstGeom>
        </p:spPr>
        <p:txBody>
          <a:bodyPr wrap="none">
            <a:spAutoFit/>
          </a:bodyPr>
          <a:lstStyle/>
          <a:p>
            <a:r>
              <a:rPr lang="en-US" sz="2800" b="1" dirty="0">
                <a:latin typeface="Times New Roman" panose="02020603050405020304" pitchFamily="18" charset="0"/>
                <a:cs typeface="Times New Roman" panose="02020603050405020304" pitchFamily="18" charset="0"/>
              </a:rPr>
              <a:t>Example</a:t>
            </a:r>
          </a:p>
        </p:txBody>
      </p:sp>
    </p:spTree>
    <p:extLst>
      <p:ext uri="{BB962C8B-B14F-4D97-AF65-F5344CB8AC3E}">
        <p14:creationId xmlns:p14="http://schemas.microsoft.com/office/powerpoint/2010/main" val="19572088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496235" y="0"/>
            <a:ext cx="8136322" cy="6526306"/>
          </a:xfrm>
        </p:spPr>
        <p:txBody>
          <a:bodyPr>
            <a:noAutofit/>
          </a:bodyPr>
          <a:lstStyle/>
          <a:p>
            <a:pPr marL="640080" lvl="1" indent="-457200">
              <a:lnSpc>
                <a:spcPct val="100000"/>
              </a:lnSpc>
              <a:buClrTx/>
              <a:buFont typeface="Arial" panose="020B0604020202020204" pitchFamily="34" charset="0"/>
              <a:buChar char="•"/>
            </a:pPr>
            <a:r>
              <a:rPr lang="en-US" sz="2800" dirty="0">
                <a:solidFill>
                  <a:schemeClr val="tx1"/>
                </a:solidFill>
                <a:latin typeface="Times New Roman" panose="02020603050405020304" pitchFamily="18" charset="0"/>
                <a:cs typeface="Times New Roman" panose="02020603050405020304" pitchFamily="18" charset="0"/>
              </a:rPr>
              <a:t> A </a:t>
            </a:r>
            <a:r>
              <a:rPr lang="en-US" sz="2800" b="1" dirty="0">
                <a:solidFill>
                  <a:schemeClr val="tx1"/>
                </a:solidFill>
                <a:latin typeface="Times New Roman" panose="02020603050405020304" pitchFamily="18" charset="0"/>
                <a:cs typeface="Times New Roman" panose="02020603050405020304" pitchFamily="18" charset="0"/>
              </a:rPr>
              <a:t>3</a:t>
            </a:r>
            <a:r>
              <a:rPr lang="en-US" sz="2800" dirty="0">
                <a:solidFill>
                  <a:schemeClr val="tx1"/>
                </a:solidFill>
                <a:latin typeface="Times New Roman" panose="02020603050405020304" pitchFamily="18" charset="0"/>
                <a:cs typeface="Times New Roman" panose="02020603050405020304" pitchFamily="18" charset="0"/>
              </a:rPr>
              <a:t>-</a:t>
            </a:r>
            <a:r>
              <a:rPr lang="en-US" sz="2800" b="1" dirty="0">
                <a:solidFill>
                  <a:schemeClr val="tx1"/>
                </a:solidFill>
                <a:latin typeface="Times New Roman" panose="02020603050405020304" pitchFamily="18" charset="0"/>
                <a:cs typeface="Times New Roman" panose="02020603050405020304" pitchFamily="18" charset="0"/>
              </a:rPr>
              <a:t>point thesis</a:t>
            </a:r>
            <a:r>
              <a:rPr lang="en-US" sz="2800" dirty="0">
                <a:solidFill>
                  <a:schemeClr val="tx1"/>
                </a:solidFill>
                <a:latin typeface="Times New Roman" panose="02020603050405020304" pitchFamily="18" charset="0"/>
                <a:cs typeface="Times New Roman" panose="02020603050405020304" pitchFamily="18" charset="0"/>
              </a:rPr>
              <a:t> statement is a coherent statement that integrates the </a:t>
            </a:r>
            <a:r>
              <a:rPr lang="en-US" sz="2800" b="1" dirty="0">
                <a:solidFill>
                  <a:schemeClr val="tx1"/>
                </a:solidFill>
                <a:latin typeface="Times New Roman" panose="02020603050405020304" pitchFamily="18" charset="0"/>
                <a:cs typeface="Times New Roman" panose="02020603050405020304" pitchFamily="18" charset="0"/>
              </a:rPr>
              <a:t>three</a:t>
            </a:r>
            <a:r>
              <a:rPr lang="en-US" sz="2800" dirty="0">
                <a:solidFill>
                  <a:schemeClr val="tx1"/>
                </a:solidFill>
                <a:latin typeface="Times New Roman" panose="02020603050405020304" pitchFamily="18" charset="0"/>
                <a:cs typeface="Times New Roman" panose="02020603050405020304" pitchFamily="18" charset="0"/>
              </a:rPr>
              <a:t> essential components of a standard </a:t>
            </a:r>
            <a:r>
              <a:rPr lang="en-US" sz="2800" b="1" dirty="0">
                <a:solidFill>
                  <a:schemeClr val="tx1"/>
                </a:solidFill>
                <a:latin typeface="Times New Roman" panose="02020603050405020304" pitchFamily="18" charset="0"/>
                <a:cs typeface="Times New Roman" panose="02020603050405020304" pitchFamily="18" charset="0"/>
              </a:rPr>
              <a:t>thesis</a:t>
            </a:r>
            <a:r>
              <a:rPr lang="en-US" sz="2800" dirty="0">
                <a:solidFill>
                  <a:schemeClr val="tx1"/>
                </a:solidFill>
                <a:latin typeface="Times New Roman" panose="02020603050405020304" pitchFamily="18" charset="0"/>
                <a:cs typeface="Times New Roman" panose="02020603050405020304" pitchFamily="18" charset="0"/>
              </a:rPr>
              <a:t> statement.</a:t>
            </a:r>
          </a:p>
          <a:p>
            <a:pPr marL="640080" lvl="1" indent="-457200">
              <a:lnSpc>
                <a:spcPct val="100000"/>
              </a:lnSpc>
              <a:buClrTx/>
              <a:buFont typeface="Arial" panose="020B0604020202020204" pitchFamily="34" charset="0"/>
              <a:buChar char="•"/>
            </a:pPr>
            <a:endParaRPr lang="en-US" sz="2800" dirty="0">
              <a:solidFill>
                <a:schemeClr val="tx1"/>
              </a:solidFill>
              <a:latin typeface="Times New Roman" panose="02020603050405020304" pitchFamily="18" charset="0"/>
              <a:cs typeface="Times New Roman" panose="02020603050405020304" pitchFamily="18" charset="0"/>
            </a:endParaRPr>
          </a:p>
          <a:p>
            <a:pPr marL="640080" lvl="1" indent="-457200">
              <a:lnSpc>
                <a:spcPct val="100000"/>
              </a:lnSpc>
              <a:buClrTx/>
              <a:buFont typeface="Arial" panose="020B0604020202020204" pitchFamily="34" charset="0"/>
              <a:buChar char="•"/>
            </a:pPr>
            <a:r>
              <a:rPr lang="en-US" sz="2800" dirty="0">
                <a:solidFill>
                  <a:schemeClr val="tx1"/>
                </a:solidFill>
                <a:latin typeface="Times New Roman" panose="02020603050405020304" pitchFamily="18" charset="0"/>
                <a:cs typeface="Times New Roman" panose="02020603050405020304" pitchFamily="18" charset="0"/>
              </a:rPr>
              <a:t>includes a topic, an assertion, and reasons justifying the claim. </a:t>
            </a:r>
          </a:p>
          <a:p>
            <a:pPr marL="640080" lvl="1" indent="-457200">
              <a:lnSpc>
                <a:spcPct val="100000"/>
              </a:lnSpc>
              <a:buClrTx/>
              <a:buFont typeface="Arial" panose="020B0604020202020204" pitchFamily="34" charset="0"/>
              <a:buChar char="•"/>
            </a:pPr>
            <a:endParaRPr lang="en-US" sz="2800" dirty="0">
              <a:solidFill>
                <a:schemeClr val="tx1"/>
              </a:solidFill>
              <a:latin typeface="Times New Roman" panose="02020603050405020304" pitchFamily="18" charset="0"/>
              <a:cs typeface="Times New Roman" panose="02020603050405020304" pitchFamily="18" charset="0"/>
            </a:endParaRPr>
          </a:p>
          <a:p>
            <a:pPr marL="640080" lvl="1" indent="-457200">
              <a:lnSpc>
                <a:spcPct val="100000"/>
              </a:lnSpc>
              <a:buClrTx/>
              <a:buFont typeface="Arial" panose="020B0604020202020204" pitchFamily="34" charset="0"/>
              <a:buChar char="•"/>
            </a:pPr>
            <a:r>
              <a:rPr lang="en-US" sz="2800" dirty="0">
                <a:solidFill>
                  <a:schemeClr val="tx1"/>
                </a:solidFill>
                <a:latin typeface="Times New Roman" panose="02020603050405020304" pitchFamily="18" charset="0"/>
                <a:cs typeface="Times New Roman" panose="02020603050405020304" pitchFamily="18" charset="0"/>
              </a:rPr>
              <a:t>Thesis statement = Narrowed topic + Main point + First supporting reason/idea + Second supporting reason/idea + Third supporting reason/idea</a:t>
            </a:r>
          </a:p>
        </p:txBody>
      </p:sp>
      <p:sp>
        <p:nvSpPr>
          <p:cNvPr id="2" name="TextBox 1"/>
          <p:cNvSpPr txBox="1"/>
          <p:nvPr/>
        </p:nvSpPr>
        <p:spPr>
          <a:xfrm>
            <a:off x="428263" y="108259"/>
            <a:ext cx="11204294" cy="707886"/>
          </a:xfrm>
          <a:prstGeom prst="rect">
            <a:avLst/>
          </a:prstGeom>
          <a:noFill/>
        </p:spPr>
        <p:txBody>
          <a:bodyPr wrap="square" rtlCol="0">
            <a:spAutoFit/>
          </a:bodyPr>
          <a:lstStyle/>
          <a:p>
            <a:pPr algn="ctr"/>
            <a:r>
              <a:rPr lang="en-US" sz="4000" b="1" dirty="0">
                <a:latin typeface="Times New Roman" panose="02020603050405020304" pitchFamily="18" charset="0"/>
                <a:cs typeface="Times New Roman" panose="02020603050405020304" pitchFamily="18" charset="0"/>
              </a:rPr>
              <a:t>Three Point Thesis Statement </a:t>
            </a:r>
          </a:p>
        </p:txBody>
      </p:sp>
      <p:sp>
        <p:nvSpPr>
          <p:cNvPr id="4" name="Rectangle 3"/>
          <p:cNvSpPr/>
          <p:nvPr/>
        </p:nvSpPr>
        <p:spPr>
          <a:xfrm>
            <a:off x="428263" y="2955236"/>
            <a:ext cx="1928733" cy="646331"/>
          </a:xfrm>
          <a:prstGeom prst="rect">
            <a:avLst/>
          </a:prstGeom>
        </p:spPr>
        <p:txBody>
          <a:bodyPr wrap="none">
            <a:spAutoFit/>
          </a:bodyPr>
          <a:lstStyle/>
          <a:p>
            <a:r>
              <a:rPr lang="en-US" sz="3600" b="1" dirty="0">
                <a:solidFill>
                  <a:schemeClr val="bg1"/>
                </a:solidFill>
                <a:latin typeface="Times New Roman" panose="02020603050405020304" pitchFamily="18" charset="0"/>
                <a:cs typeface="Times New Roman" panose="02020603050405020304" pitchFamily="18" charset="0"/>
              </a:rPr>
              <a:t>Example</a:t>
            </a:r>
          </a:p>
        </p:txBody>
      </p:sp>
    </p:spTree>
    <p:extLst>
      <p:ext uri="{BB962C8B-B14F-4D97-AF65-F5344CB8AC3E}">
        <p14:creationId xmlns:p14="http://schemas.microsoft.com/office/powerpoint/2010/main" val="14089022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Diagram, text&#10;&#10;Description automatically generated">
            <a:extLst>
              <a:ext uri="{FF2B5EF4-FFF2-40B4-BE49-F238E27FC236}">
                <a16:creationId xmlns:a16="http://schemas.microsoft.com/office/drawing/2014/main" id="{01277F43-524C-41A5-AD3A-42178F1E51BD}"/>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r="2" b="350"/>
          <a:stretch/>
        </p:blipFill>
        <p:spPr>
          <a:xfrm>
            <a:off x="0" y="0"/>
            <a:ext cx="12191999" cy="6858000"/>
          </a:xfrm>
          <a:prstGeom prst="rect">
            <a:avLst/>
          </a:prstGeom>
        </p:spPr>
      </p:pic>
    </p:spTree>
    <p:extLst>
      <p:ext uri="{BB962C8B-B14F-4D97-AF65-F5344CB8AC3E}">
        <p14:creationId xmlns:p14="http://schemas.microsoft.com/office/powerpoint/2010/main" val="4512347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165100"/>
            <a:ext cx="10515600" cy="536575"/>
          </a:xfrm>
        </p:spPr>
        <p:txBody>
          <a:bodyPr>
            <a:normAutofit fontScale="90000"/>
          </a:bodyPr>
          <a:lstStyle/>
          <a:p>
            <a:r>
              <a:rPr lang="en-US" b="1" dirty="0"/>
              <a:t>Practice</a:t>
            </a:r>
          </a:p>
        </p:txBody>
      </p:sp>
      <p:sp>
        <p:nvSpPr>
          <p:cNvPr id="3" name="Content Placeholder 2"/>
          <p:cNvSpPr>
            <a:spLocks noGrp="1"/>
          </p:cNvSpPr>
          <p:nvPr>
            <p:ph idx="4294967295"/>
          </p:nvPr>
        </p:nvSpPr>
        <p:spPr>
          <a:xfrm>
            <a:off x="0" y="701675"/>
            <a:ext cx="11811000" cy="5538788"/>
          </a:xfrm>
        </p:spPr>
        <p:txBody>
          <a:bodyPr>
            <a:noAutofit/>
          </a:bodyPr>
          <a:lstStyle/>
          <a:p>
            <a:pPr marL="0" indent="0">
              <a:buNone/>
            </a:pPr>
            <a:r>
              <a:rPr lang="en-US" sz="2800" dirty="0">
                <a:solidFill>
                  <a:schemeClr val="tx1"/>
                </a:solidFill>
                <a:latin typeface="Times New Roman" panose="02020603050405020304" pitchFamily="18" charset="0"/>
                <a:cs typeface="Times New Roman" panose="02020603050405020304" pitchFamily="18" charset="0"/>
              </a:rPr>
              <a:t>Writing Prompt:</a:t>
            </a:r>
          </a:p>
          <a:p>
            <a:pPr marL="514350" indent="-514350">
              <a:buClrTx/>
              <a:buFont typeface="+mj-lt"/>
              <a:buAutoNum type="arabicPeriod"/>
            </a:pPr>
            <a:r>
              <a:rPr lang="en-US" sz="2800" b="1" i="1" dirty="0">
                <a:solidFill>
                  <a:schemeClr val="tx1"/>
                </a:solidFill>
                <a:latin typeface="Times New Roman" panose="02020603050405020304" pitchFamily="18" charset="0"/>
                <a:cs typeface="Times New Roman" panose="02020603050405020304" pitchFamily="18" charset="0"/>
              </a:rPr>
              <a:t>Should students be allowed to eat snacks in the classroom? Why or why not?</a:t>
            </a:r>
          </a:p>
          <a:p>
            <a:r>
              <a:rPr lang="en-US" sz="2800" dirty="0">
                <a:solidFill>
                  <a:schemeClr val="tx1"/>
                </a:solidFill>
                <a:latin typeface="Times New Roman" panose="02020603050405020304" pitchFamily="18" charset="0"/>
                <a:cs typeface="Times New Roman" panose="02020603050405020304" pitchFamily="18" charset="0"/>
              </a:rPr>
              <a:t>Thesis Statement:</a:t>
            </a:r>
          </a:p>
          <a:p>
            <a:r>
              <a:rPr lang="en-US" sz="2800" dirty="0">
                <a:solidFill>
                  <a:schemeClr val="tx1"/>
                </a:solidFill>
                <a:latin typeface="Times New Roman" panose="02020603050405020304" pitchFamily="18" charset="0"/>
                <a:cs typeface="Times New Roman" panose="02020603050405020304" pitchFamily="18" charset="0"/>
              </a:rPr>
              <a:t>Students (should / should not) be allowed to eat snacks in the classroom because</a:t>
            </a:r>
          </a:p>
          <a:p>
            <a:r>
              <a:rPr lang="en-US" sz="2800" dirty="0">
                <a:solidFill>
                  <a:schemeClr val="tx1"/>
                </a:solidFill>
                <a:latin typeface="Times New Roman" panose="02020603050405020304" pitchFamily="18" charset="0"/>
                <a:cs typeface="Times New Roman" panose="02020603050405020304" pitchFamily="18" charset="0"/>
              </a:rPr>
              <a:t>______, _________, and ________.</a:t>
            </a:r>
          </a:p>
          <a:p>
            <a:pPr marL="0" indent="0">
              <a:buNone/>
            </a:pPr>
            <a:r>
              <a:rPr lang="en-US" sz="2800" dirty="0">
                <a:solidFill>
                  <a:schemeClr val="tx1"/>
                </a:solidFill>
                <a:latin typeface="Times New Roman" panose="02020603050405020304" pitchFamily="18" charset="0"/>
                <a:cs typeface="Times New Roman" panose="02020603050405020304" pitchFamily="18" charset="0"/>
              </a:rPr>
              <a:t>Writing Prompt:</a:t>
            </a:r>
          </a:p>
          <a:p>
            <a:pPr marL="0" indent="0">
              <a:buNone/>
            </a:pPr>
            <a:r>
              <a:rPr lang="en-US" sz="2800" b="1" dirty="0">
                <a:solidFill>
                  <a:schemeClr val="tx1"/>
                </a:solidFill>
                <a:latin typeface="Times New Roman" panose="02020603050405020304" pitchFamily="18" charset="0"/>
                <a:cs typeface="Times New Roman" panose="02020603050405020304" pitchFamily="18" charset="0"/>
              </a:rPr>
              <a:t>2. Write an essay explaining why a decision you made was the right one?</a:t>
            </a:r>
          </a:p>
          <a:p>
            <a:r>
              <a:rPr lang="en-US" sz="2800" dirty="0">
                <a:solidFill>
                  <a:schemeClr val="tx1"/>
                </a:solidFill>
                <a:latin typeface="Times New Roman" panose="02020603050405020304" pitchFamily="18" charset="0"/>
                <a:cs typeface="Times New Roman" panose="02020603050405020304" pitchFamily="18" charset="0"/>
              </a:rPr>
              <a:t>Thesis Statement:</a:t>
            </a:r>
          </a:p>
          <a:p>
            <a:r>
              <a:rPr lang="en-US" sz="2800" dirty="0">
                <a:solidFill>
                  <a:schemeClr val="tx1"/>
                </a:solidFill>
                <a:latin typeface="Times New Roman" panose="02020603050405020304" pitchFamily="18" charset="0"/>
                <a:cs typeface="Times New Roman" panose="02020603050405020304" pitchFamily="18" charset="0"/>
              </a:rPr>
              <a:t>My decision to______________ was the right one because___________,</a:t>
            </a:r>
          </a:p>
          <a:p>
            <a:r>
              <a:rPr lang="en-US" sz="2800" dirty="0">
                <a:solidFill>
                  <a:schemeClr val="tx1"/>
                </a:solidFill>
                <a:latin typeface="Times New Roman" panose="02020603050405020304" pitchFamily="18" charset="0"/>
                <a:cs typeface="Times New Roman" panose="02020603050405020304" pitchFamily="18" charset="0"/>
              </a:rPr>
              <a:t>___________, and ____________.</a:t>
            </a:r>
          </a:p>
        </p:txBody>
      </p:sp>
    </p:spTree>
    <p:extLst>
      <p:ext uri="{BB962C8B-B14F-4D97-AF65-F5344CB8AC3E}">
        <p14:creationId xmlns:p14="http://schemas.microsoft.com/office/powerpoint/2010/main" val="38727988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5037" y="956502"/>
            <a:ext cx="10058400" cy="710923"/>
          </a:xfrm>
        </p:spPr>
        <p:txBody>
          <a:bodyPr>
            <a:normAutofit/>
          </a:bodyPr>
          <a:lstStyle/>
          <a:p>
            <a:r>
              <a:rPr lang="en-US" b="1" dirty="0">
                <a:latin typeface="Times New Roman" panose="02020603050405020304" pitchFamily="18" charset="0"/>
                <a:cs typeface="Times New Roman" panose="02020603050405020304" pitchFamily="18" charset="0"/>
              </a:rPr>
              <a:t>Practice  </a:t>
            </a:r>
            <a:endParaRPr lang="en-US" dirty="0"/>
          </a:p>
        </p:txBody>
      </p:sp>
      <p:sp>
        <p:nvSpPr>
          <p:cNvPr id="3" name="Content Placeholder 2"/>
          <p:cNvSpPr>
            <a:spLocks noGrp="1"/>
          </p:cNvSpPr>
          <p:nvPr>
            <p:ph idx="1"/>
          </p:nvPr>
        </p:nvSpPr>
        <p:spPr>
          <a:xfrm>
            <a:off x="3514914" y="533400"/>
            <a:ext cx="8226512" cy="5885329"/>
          </a:xfrm>
        </p:spPr>
        <p:txBody>
          <a:bodyPr>
            <a:normAutofit/>
          </a:bodyPr>
          <a:lstStyle/>
          <a:p>
            <a:r>
              <a:rPr lang="en-US" sz="2800" b="1" dirty="0">
                <a:solidFill>
                  <a:schemeClr val="tx1"/>
                </a:solidFill>
                <a:latin typeface="Times New Roman" panose="02020603050405020304" pitchFamily="18" charset="0"/>
                <a:cs typeface="Times New Roman" panose="02020603050405020304" pitchFamily="18" charset="0"/>
              </a:rPr>
              <a:t>Instructions: Read the points and write a three point thesis statement.</a:t>
            </a:r>
          </a:p>
          <a:p>
            <a:pPr fontAlgn="base"/>
            <a:r>
              <a:rPr lang="en-US" sz="2800" b="1" dirty="0">
                <a:solidFill>
                  <a:schemeClr val="tx1"/>
                </a:solidFill>
                <a:latin typeface="Times New Roman" panose="02020603050405020304" pitchFamily="18" charset="0"/>
                <a:cs typeface="Times New Roman" panose="02020603050405020304" pitchFamily="18" charset="0"/>
              </a:rPr>
              <a:t>Topic: </a:t>
            </a:r>
            <a:r>
              <a:rPr lang="en-US" sz="2800" dirty="0">
                <a:solidFill>
                  <a:schemeClr val="tx1"/>
                </a:solidFill>
                <a:latin typeface="Times New Roman" panose="02020603050405020304" pitchFamily="18" charset="0"/>
                <a:cs typeface="Times New Roman" panose="02020603050405020304" pitchFamily="18" charset="0"/>
              </a:rPr>
              <a:t>Young people should pay attention to politics. </a:t>
            </a:r>
          </a:p>
          <a:p>
            <a:pPr marL="514350" indent="-514350" fontAlgn="base">
              <a:buClrTx/>
              <a:buFont typeface="+mj-lt"/>
              <a:buAutoNum type="alphaUcPeriod"/>
            </a:pPr>
            <a:r>
              <a:rPr lang="en-US" sz="2800" dirty="0">
                <a:solidFill>
                  <a:schemeClr val="tx1"/>
                </a:solidFill>
                <a:latin typeface="Times New Roman" panose="02020603050405020304" pitchFamily="18" charset="0"/>
                <a:cs typeface="Times New Roman" panose="02020603050405020304" pitchFamily="18" charset="0"/>
              </a:rPr>
              <a:t>Young people are intelligent enough to understand what’s going on.</a:t>
            </a:r>
          </a:p>
          <a:p>
            <a:pPr marL="514350" indent="-514350" fontAlgn="base">
              <a:buClrTx/>
              <a:buFont typeface="+mj-lt"/>
              <a:buAutoNum type="alphaUcPeriod"/>
            </a:pPr>
            <a:r>
              <a:rPr lang="en-US" sz="2800" dirty="0">
                <a:solidFill>
                  <a:schemeClr val="tx1"/>
                </a:solidFill>
                <a:latin typeface="Times New Roman" panose="02020603050405020304" pitchFamily="18" charset="0"/>
                <a:cs typeface="Times New Roman" panose="02020603050405020304" pitchFamily="18" charset="0"/>
              </a:rPr>
              <a:t>Politics affects everyone’s lives, including young people’s. </a:t>
            </a:r>
          </a:p>
          <a:p>
            <a:pPr marL="514350" indent="-514350" fontAlgn="base">
              <a:buClrTx/>
              <a:buFont typeface="+mj-lt"/>
              <a:buAutoNum type="alphaUcPeriod"/>
            </a:pPr>
            <a:r>
              <a:rPr lang="en-US" sz="2800" dirty="0">
                <a:solidFill>
                  <a:schemeClr val="tx1"/>
                </a:solidFill>
                <a:latin typeface="Times New Roman" panose="02020603050405020304" pitchFamily="18" charset="0"/>
                <a:cs typeface="Times New Roman" panose="02020603050405020304" pitchFamily="18" charset="0"/>
              </a:rPr>
              <a:t>Paying attention to politics now will help young people to be informed citizens when they are old enough to vote. </a:t>
            </a:r>
          </a:p>
          <a:p>
            <a:endParaRPr lang="en-US" sz="2800" dirty="0">
              <a:solidFill>
                <a:schemeClr val="tx1"/>
              </a:solidFill>
              <a:latin typeface="Times New Roman" panose="02020603050405020304" pitchFamily="18" charset="0"/>
              <a:cs typeface="Times New Roman" panose="02020603050405020304" pitchFamily="18" charset="0"/>
            </a:endParaRPr>
          </a:p>
        </p:txBody>
      </p:sp>
      <p:sp>
        <p:nvSpPr>
          <p:cNvPr id="4" name="Rectangle 3"/>
          <p:cNvSpPr/>
          <p:nvPr/>
        </p:nvSpPr>
        <p:spPr>
          <a:xfrm>
            <a:off x="195037" y="2724449"/>
            <a:ext cx="3100208" cy="1200329"/>
          </a:xfrm>
          <a:prstGeom prst="rect">
            <a:avLst/>
          </a:prstGeom>
        </p:spPr>
        <p:txBody>
          <a:bodyPr wrap="none">
            <a:spAutoFit/>
          </a:bodyPr>
          <a:lstStyle/>
          <a:p>
            <a:r>
              <a:rPr lang="en-US" sz="3600" b="1" dirty="0">
                <a:solidFill>
                  <a:schemeClr val="bg1"/>
                </a:solidFill>
                <a:latin typeface="Times New Roman" panose="02020603050405020304" pitchFamily="18" charset="0"/>
                <a:cs typeface="Times New Roman" panose="02020603050405020304" pitchFamily="18" charset="0"/>
              </a:rPr>
              <a:t> 3-Point Thesis</a:t>
            </a:r>
          </a:p>
          <a:p>
            <a:r>
              <a:rPr lang="en-US" sz="3600" b="1" dirty="0">
                <a:solidFill>
                  <a:schemeClr val="bg1"/>
                </a:solidFill>
                <a:latin typeface="Times New Roman" panose="02020603050405020304" pitchFamily="18" charset="0"/>
                <a:cs typeface="Times New Roman" panose="02020603050405020304" pitchFamily="18" charset="0"/>
              </a:rPr>
              <a:t>Statement</a:t>
            </a:r>
          </a:p>
        </p:txBody>
      </p:sp>
    </p:spTree>
    <p:extLst>
      <p:ext uri="{BB962C8B-B14F-4D97-AF65-F5344CB8AC3E}">
        <p14:creationId xmlns:p14="http://schemas.microsoft.com/office/powerpoint/2010/main" val="41606426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ChangeArrowheads="1"/>
          </p:cNvSpPr>
          <p:nvPr/>
        </p:nvSpPr>
        <p:spPr bwMode="auto">
          <a:xfrm>
            <a:off x="0" y="0"/>
            <a:ext cx="12192000" cy="7894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50000"/>
              </a:spcBef>
            </a:pPr>
            <a:r>
              <a:rPr lang="en-US" sz="2600" b="1" dirty="0">
                <a:latin typeface="Times New Roman" panose="02020603050405020304" pitchFamily="18" charset="0"/>
                <a:cs typeface="Times New Roman" panose="02020603050405020304" pitchFamily="18" charset="0"/>
              </a:rPr>
              <a:t>II. Drafting </a:t>
            </a:r>
            <a:r>
              <a:rPr lang="en-US" sz="2600" dirty="0">
                <a:latin typeface="Times New Roman" panose="02020603050405020304" pitchFamily="18" charset="0"/>
                <a:cs typeface="Times New Roman" panose="02020603050405020304" pitchFamily="18" charset="0"/>
              </a:rPr>
              <a:t>- Putting your ideas and thoughts together in sentences and paragraphs.</a:t>
            </a:r>
          </a:p>
          <a:p>
            <a:pPr>
              <a:spcBef>
                <a:spcPct val="50000"/>
              </a:spcBef>
            </a:pPr>
            <a:endParaRPr lang="en-US" sz="26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organize all of your notes from your pre-writing into separate paragraphs. </a:t>
            </a:r>
          </a:p>
          <a:p>
            <a:pPr marL="457200" indent="-457200">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The paragraphs should support your introduction and your thesis statement.</a:t>
            </a:r>
          </a:p>
          <a:p>
            <a:pPr marL="457200" indent="-457200">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Everything needs to flow smoothly. </a:t>
            </a:r>
          </a:p>
          <a:p>
            <a:pPr marL="457200" indent="-457200">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The conclusion, or "end", of your essay should sum up what you have said, without repeating. It should give the reader some final thoughts on the topic you are writing about. </a:t>
            </a:r>
          </a:p>
          <a:p>
            <a:endParaRPr lang="en-US" sz="2600" dirty="0">
              <a:latin typeface="Times New Roman" panose="02020603050405020304" pitchFamily="18" charset="0"/>
              <a:cs typeface="Times New Roman" panose="02020603050405020304" pitchFamily="18" charset="0"/>
            </a:endParaRPr>
          </a:p>
          <a:p>
            <a:r>
              <a:rPr lang="en-US" sz="2600" b="1" dirty="0">
                <a:latin typeface="Times New Roman" panose="02020603050405020304" pitchFamily="18" charset="0"/>
                <a:cs typeface="Times New Roman" panose="02020603050405020304" pitchFamily="18" charset="0"/>
              </a:rPr>
              <a:t>III. Revising</a:t>
            </a:r>
            <a:r>
              <a:rPr lang="en-US" sz="2600" dirty="0">
                <a:latin typeface="Times New Roman" panose="02020603050405020304" pitchFamily="18" charset="0"/>
                <a:cs typeface="Times New Roman" panose="02020603050405020304" pitchFamily="18" charset="0"/>
              </a:rPr>
              <a:t> is rewriting or rearranging sentences to make sense.</a:t>
            </a:r>
          </a:p>
          <a:p>
            <a:endParaRPr lang="en-US" sz="26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making decisions about how you want to improve your writing</a:t>
            </a:r>
          </a:p>
          <a:p>
            <a:pPr marL="457200" indent="-457200">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looking at your writing from a different point of view</a:t>
            </a:r>
          </a:p>
          <a:p>
            <a:pPr marL="457200" indent="-457200">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picking places where your writing could be clearer, more interesting, more informative and more convincing.</a:t>
            </a:r>
          </a:p>
          <a:p>
            <a:endParaRPr lang="en-US" sz="2600" dirty="0">
              <a:latin typeface="Times New Roman" panose="02020603050405020304" pitchFamily="18" charset="0"/>
              <a:cs typeface="Times New Roman" panose="02020603050405020304" pitchFamily="18" charset="0"/>
            </a:endParaRPr>
          </a:p>
          <a:p>
            <a:pPr algn="ctr">
              <a:spcBef>
                <a:spcPct val="50000"/>
              </a:spcBef>
            </a:pPr>
            <a:endParaRPr lang="en-US" sz="2600" b="1" dirty="0">
              <a:solidFill>
                <a:srgbClr val="00B0F0"/>
              </a:solidFill>
              <a:latin typeface="Times New Roman" panose="02020603050405020304" pitchFamily="18" charset="0"/>
              <a:cs typeface="Times New Roman" panose="02020603050405020304" pitchFamily="18" charset="0"/>
            </a:endParaRPr>
          </a:p>
          <a:p>
            <a:pPr>
              <a:spcBef>
                <a:spcPct val="50000"/>
              </a:spcBef>
            </a:pPr>
            <a:endParaRPr lang="en-US" sz="2600" b="1" dirty="0">
              <a:solidFill>
                <a:srgbClr val="0099FF"/>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64065862"/>
      </p:ext>
    </p:extLst>
  </p:cSld>
  <p:clrMapOvr>
    <a:masterClrMapping/>
  </p:clrMapOvr>
</p:sld>
</file>

<file path=ppt/theme/theme1.xml><?xml version="1.0" encoding="utf-8"?>
<a:theme xmlns:a="http://schemas.openxmlformats.org/drawingml/2006/main" name="Frame">
  <a:themeElements>
    <a:clrScheme name="Frame">
      <a:dk1>
        <a:srgbClr val="000000"/>
      </a:dk1>
      <a:lt1>
        <a:srgbClr val="FFFFFF"/>
      </a:lt1>
      <a:dk2>
        <a:srgbClr val="545454"/>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Frame">
      <a:maj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Frame">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20000"/>
                <a:lumMod val="102000"/>
              </a:schemeClr>
            </a:gs>
            <a:gs pos="48000">
              <a:schemeClr val="phClr">
                <a:tint val="98000"/>
                <a:shade val="90000"/>
                <a:satMod val="110000"/>
                <a:lumMod val="103000"/>
              </a:schemeClr>
            </a:gs>
            <a:gs pos="100000">
              <a:schemeClr val="phClr">
                <a:tint val="98000"/>
                <a:shade val="8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Frame" id="{F226E7A2-7162-461C-9490-D27D9DC04E43}" vid="{629A0216-3BBD-45C0-B63F-2683BEA18F6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Frame</Template>
  <TotalTime>3203</TotalTime>
  <Words>1688</Words>
  <Application>Microsoft Office PowerPoint</Application>
  <PresentationFormat>Widescreen</PresentationFormat>
  <Paragraphs>221</Paragraphs>
  <Slides>27</Slides>
  <Notes>6</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27</vt:i4>
      </vt:variant>
    </vt:vector>
  </HeadingPairs>
  <TitlesOfParts>
    <vt:vector size="37" baseType="lpstr">
      <vt:lpstr>Arial</vt:lpstr>
      <vt:lpstr>Calibri</vt:lpstr>
      <vt:lpstr>Corbel</vt:lpstr>
      <vt:lpstr>Courier New</vt:lpstr>
      <vt:lpstr>Symbol</vt:lpstr>
      <vt:lpstr>Times</vt:lpstr>
      <vt:lpstr>Times New Roman</vt:lpstr>
      <vt:lpstr>Wingdings</vt:lpstr>
      <vt:lpstr>Wingdings 2</vt:lpstr>
      <vt:lpstr>Frame</vt:lpstr>
      <vt:lpstr>The Writing Process </vt:lpstr>
      <vt:lpstr>Writing Process</vt:lpstr>
      <vt:lpstr>I. Prewriting</vt:lpstr>
      <vt:lpstr>PowerPoint Presentation</vt:lpstr>
      <vt:lpstr>Narrow Down Your Topic</vt:lpstr>
      <vt:lpstr>PowerPoint Presentation</vt:lpstr>
      <vt:lpstr>Explore Your Topic</vt:lpstr>
      <vt:lpstr>Free-Writing</vt:lpstr>
      <vt:lpstr>Example of Free Writing</vt:lpstr>
      <vt:lpstr>Practice</vt:lpstr>
      <vt:lpstr>Brainstorming</vt:lpstr>
      <vt:lpstr>Brainstorming</vt:lpstr>
      <vt:lpstr>Example of Brainstorming</vt:lpstr>
      <vt:lpstr>Topics for Practice</vt:lpstr>
      <vt:lpstr>Listing</vt:lpstr>
      <vt:lpstr>Example of Listing</vt:lpstr>
      <vt:lpstr>Clustering</vt:lpstr>
      <vt:lpstr>Clustering</vt:lpstr>
      <vt:lpstr>Example of Clustering</vt:lpstr>
      <vt:lpstr>Outlining</vt:lpstr>
      <vt:lpstr>Example of  Outlining</vt:lpstr>
      <vt:lpstr>Writing your  Thesis Statement</vt:lpstr>
      <vt:lpstr>PowerPoint Presentation</vt:lpstr>
      <vt:lpstr>PowerPoint Presentation</vt:lpstr>
      <vt:lpstr>Practice</vt:lpstr>
      <vt:lpstr>Practice  </vt:lpstr>
      <vt:lpstr>PowerPoint Presentation</vt:lpstr>
    </vt:vector>
  </TitlesOfParts>
  <Company>Razer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Muhammad sultan</dc:creator>
  <cp:lastModifiedBy>Nokhaiz Zahra</cp:lastModifiedBy>
  <cp:revision>43</cp:revision>
  <dcterms:created xsi:type="dcterms:W3CDTF">2021-08-31T12:59:28Z</dcterms:created>
  <dcterms:modified xsi:type="dcterms:W3CDTF">2025-01-17T14:16:20Z</dcterms:modified>
</cp:coreProperties>
</file>