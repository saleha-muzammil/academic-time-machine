
<file path=[Content_Types].xml><?xml version="1.0" encoding="utf-8"?>
<Types xmlns="http://schemas.openxmlformats.org/package/2006/content-types">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Lst>
  <p:notesMasterIdLst>
    <p:notesMasterId r:id="rId10"/>
  </p:notesMasterIdLst>
  <p:sldIdLst>
    <p:sldId id="281" r:id="rId3"/>
    <p:sldId id="282" r:id="rId4"/>
    <p:sldId id="283" r:id="rId5"/>
    <p:sldId id="284" r:id="rId6"/>
    <p:sldId id="286" r:id="rId7"/>
    <p:sldId id="287" r:id="rId8"/>
    <p:sldId id="288" r:id="rId9"/>
  </p:sldIdLst>
  <p:sldSz cx="12192000" cy="6858000"/>
  <p:notesSz cx="6858000" cy="9144000"/>
  <p:embeddedFontLst>
    <p:embeddedFont>
      <p:font typeface="Calibri" panose="020F0502020204030204" pitchFamily="34" charset="0"/>
      <p:regular r:id="rId11"/>
      <p:bold r:id="rId12"/>
      <p:italic r:id="rId13"/>
      <p:boldItalic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1" roundtripDataSignature="AMtx7mhWr1krZIfpm4uyMbfxlAmDI4NcF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717E90F-E698-4B33-9E52-126117C820A9}">
  <a:tblStyle styleId="{2717E90F-E698-4B33-9E52-126117C820A9}"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0E37483E-F29A-4D65-B024-2D64B3A38A6A}"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75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3.fntdata"/><Relationship Id="rId3" Type="http://schemas.openxmlformats.org/officeDocument/2006/relationships/slide" Target="slides/slide1.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font" Target="fonts/font2.fntdata"/><Relationship Id="rId33"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font" Target="fonts/font1.fntdata"/><Relationship Id="rId32"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notesMaster" Target="notesMasters/notesMaster1.xml"/><Relationship Id="rId31" Type="http://customschemas.google.com/relationships/presentationmetadata" Target="meta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4.fntdata"/><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9" name="Google Shape;199;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0" name="Google Shape;200;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7958125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 name="Google Shape;206;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129123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111316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6" name="Google Shape;23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764312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 name="Google Shape;11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754172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18" name="Google Shape;118;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Discuss About</a:t>
            </a:r>
            <a:endParaRPr/>
          </a:p>
          <a:p>
            <a:pPr marL="0" lvl="0" indent="0" algn="l" rtl="0">
              <a:spcBef>
                <a:spcPts val="0"/>
              </a:spcBef>
              <a:spcAft>
                <a:spcPts val="0"/>
              </a:spcAft>
              <a:buNone/>
            </a:pPr>
            <a:r>
              <a:rPr lang="en-US"/>
              <a:t>Use of Requesting Vocabulary</a:t>
            </a:r>
            <a:endParaRPr/>
          </a:p>
          <a:p>
            <a:pPr marL="0" lvl="0" indent="0" algn="l" rtl="0">
              <a:spcBef>
                <a:spcPts val="0"/>
              </a:spcBef>
              <a:spcAft>
                <a:spcPts val="0"/>
              </a:spcAft>
              <a:buNone/>
            </a:pPr>
            <a:r>
              <a:rPr lang="en-US"/>
              <a:t>Positive and Polite tone</a:t>
            </a:r>
            <a:endParaRPr/>
          </a:p>
        </p:txBody>
      </p:sp>
      <p:sp>
        <p:nvSpPr>
          <p:cNvPr id="119" name="Google Shape;119;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6</a:t>
            </a:fld>
            <a:endParaRPr kumimoji="0" sz="12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7445813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802186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3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3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1"/>
          <p:cNvSpPr>
            <a:spLocks noGrp="1"/>
          </p:cNvSpPr>
          <p:nvPr>
            <p:ph type="pic" idx="2"/>
          </p:nvPr>
        </p:nvSpPr>
        <p:spPr>
          <a:xfrm>
            <a:off x="5183188" y="987425"/>
            <a:ext cx="6172200" cy="4873625"/>
          </a:xfrm>
          <a:prstGeom prst="rect">
            <a:avLst/>
          </a:prstGeom>
          <a:noFill/>
          <a:ln>
            <a:noFill/>
          </a:ln>
        </p:spPr>
      </p:sp>
      <p:sp>
        <p:nvSpPr>
          <p:cNvPr id="64" name="Google Shape;64;p3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1"/>
        <p:cNvGrpSpPr/>
        <p:nvPr/>
      </p:nvGrpSpPr>
      <p:grpSpPr>
        <a:xfrm>
          <a:off x="0" y="0"/>
          <a:ext cx="0" cy="0"/>
          <a:chOff x="0" y="0"/>
          <a:chExt cx="0" cy="0"/>
        </a:xfrm>
      </p:grpSpPr>
      <p:sp>
        <p:nvSpPr>
          <p:cNvPr id="22" name="Google Shape;22;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6669060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
        <p:cNvGrpSpPr/>
        <p:nvPr/>
      </p:nvGrpSpPr>
      <p:grpSpPr>
        <a:xfrm>
          <a:off x="0" y="0"/>
          <a:ext cx="0" cy="0"/>
          <a:chOff x="0" y="0"/>
          <a:chExt cx="0" cy="0"/>
        </a:xfrm>
      </p:grpSpPr>
      <p:sp>
        <p:nvSpPr>
          <p:cNvPr id="28" name="Google Shape;28;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2570649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1"/>
        <p:cNvGrpSpPr/>
        <p:nvPr/>
      </p:nvGrpSpPr>
      <p:grpSpPr>
        <a:xfrm>
          <a:off x="0" y="0"/>
          <a:ext cx="0" cy="0"/>
          <a:chOff x="0" y="0"/>
          <a:chExt cx="0" cy="0"/>
        </a:xfrm>
      </p:grpSpPr>
      <p:sp>
        <p:nvSpPr>
          <p:cNvPr id="32" name="Google Shape;32;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1056508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9" name="Google Shape;39;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7412366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42"/>
        <p:cNvGrpSpPr/>
        <p:nvPr/>
      </p:nvGrpSpPr>
      <p:grpSpPr>
        <a:xfrm>
          <a:off x="0" y="0"/>
          <a:ext cx="0" cy="0"/>
          <a:chOff x="0" y="0"/>
          <a:chExt cx="0" cy="0"/>
        </a:xfrm>
      </p:grpSpPr>
      <p:sp>
        <p:nvSpPr>
          <p:cNvPr id="43" name="Google Shape;43;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2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2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2566842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9"/>
        <p:cNvGrpSpPr/>
        <p:nvPr/>
      </p:nvGrpSpPr>
      <p:grpSpPr>
        <a:xfrm>
          <a:off x="0" y="0"/>
          <a:ext cx="0" cy="0"/>
          <a:chOff x="0" y="0"/>
          <a:chExt cx="0" cy="0"/>
        </a:xfrm>
      </p:grpSpPr>
      <p:sp>
        <p:nvSpPr>
          <p:cNvPr id="50" name="Google Shape;50;p2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2" name="Google Shape;52;p2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2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2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9675827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8"/>
        <p:cNvGrpSpPr/>
        <p:nvPr/>
      </p:nvGrpSpPr>
      <p:grpSpPr>
        <a:xfrm>
          <a:off x="0" y="0"/>
          <a:ext cx="0" cy="0"/>
          <a:chOff x="0" y="0"/>
          <a:chExt cx="0" cy="0"/>
        </a:xfrm>
      </p:grpSpPr>
      <p:sp>
        <p:nvSpPr>
          <p:cNvPr id="59" name="Google Shape;5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556578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5"/>
        <p:cNvGrpSpPr/>
        <p:nvPr/>
      </p:nvGrpSpPr>
      <p:grpSpPr>
        <a:xfrm>
          <a:off x="0" y="0"/>
          <a:ext cx="0" cy="0"/>
          <a:chOff x="0" y="0"/>
          <a:chExt cx="0" cy="0"/>
        </a:xfrm>
      </p:grpSpPr>
      <p:sp>
        <p:nvSpPr>
          <p:cNvPr id="66" name="Google Shape;6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30"/>
          <p:cNvSpPr>
            <a:spLocks noGrp="1"/>
          </p:cNvSpPr>
          <p:nvPr>
            <p:ph type="pic" idx="2"/>
          </p:nvPr>
        </p:nvSpPr>
        <p:spPr>
          <a:xfrm>
            <a:off x="5183188" y="987425"/>
            <a:ext cx="6172200" cy="4873625"/>
          </a:xfrm>
          <a:prstGeom prst="rect">
            <a:avLst/>
          </a:prstGeom>
          <a:noFill/>
          <a:ln>
            <a:noFill/>
          </a:ln>
        </p:spPr>
      </p:sp>
      <p:sp>
        <p:nvSpPr>
          <p:cNvPr id="68" name="Google Shape;6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280998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2"/>
        <p:cNvGrpSpPr/>
        <p:nvPr/>
      </p:nvGrpSpPr>
      <p:grpSpPr>
        <a:xfrm>
          <a:off x="0" y="0"/>
          <a:ext cx="0" cy="0"/>
          <a:chOff x="0" y="0"/>
          <a:chExt cx="0" cy="0"/>
        </a:xfrm>
      </p:grpSpPr>
      <p:sp>
        <p:nvSpPr>
          <p:cNvPr id="73" name="Google Shape;7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1139957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8"/>
        <p:cNvGrpSpPr/>
        <p:nvPr/>
      </p:nvGrpSpPr>
      <p:grpSpPr>
        <a:xfrm>
          <a:off x="0" y="0"/>
          <a:ext cx="0" cy="0"/>
          <a:chOff x="0" y="0"/>
          <a:chExt cx="0" cy="0"/>
        </a:xfrm>
      </p:grpSpPr>
      <p:sp>
        <p:nvSpPr>
          <p:cNvPr id="79" name="Google Shape;7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6338154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heme" Target="../theme/theme2.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35628891"/>
      </p:ext>
    </p:extLst>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6"/>
          <p:cNvSpPr/>
          <p:nvPr/>
        </p:nvSpPr>
        <p:spPr>
          <a:xfrm>
            <a:off x="1954924" y="2766218"/>
            <a:ext cx="8639504" cy="1325563"/>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03" name="Google Shape;203;p16"/>
          <p:cNvSpPr txBox="1">
            <a:spLocks noGrp="1"/>
          </p:cNvSpPr>
          <p:nvPr>
            <p:ph type="title"/>
          </p:nvPr>
        </p:nvSpPr>
        <p:spPr>
          <a:xfrm>
            <a:off x="838200" y="2766218"/>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b="1">
                <a:latin typeface="Times New Roman"/>
                <a:ea typeface="Times New Roman"/>
                <a:cs typeface="Times New Roman"/>
                <a:sym typeface="Times New Roman"/>
              </a:rPr>
              <a:t>Application Writing</a:t>
            </a:r>
            <a:endParaRPr b="1">
              <a:latin typeface="Times New Roman"/>
              <a:ea typeface="Times New Roman"/>
              <a:cs typeface="Times New Roman"/>
              <a:sym typeface="Times New Roman"/>
            </a:endParaRPr>
          </a:p>
        </p:txBody>
      </p:sp>
    </p:spTree>
    <p:extLst>
      <p:ext uri="{BB962C8B-B14F-4D97-AF65-F5344CB8AC3E}">
        <p14:creationId xmlns:p14="http://schemas.microsoft.com/office/powerpoint/2010/main" val="29139527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17"/>
          <p:cNvSpPr txBox="1"/>
          <p:nvPr/>
        </p:nvSpPr>
        <p:spPr>
          <a:xfrm>
            <a:off x="1524000" y="4343401"/>
            <a:ext cx="9144000" cy="1325563"/>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3000"/>
              <a:buFont typeface="Arial"/>
              <a:buNone/>
              <a:tabLst/>
              <a:defRPr/>
            </a:pPr>
            <a:r>
              <a:rPr kumimoji="0" lang="en-US" sz="30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Is my tone appropriate to my purpose and my intended audience?</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9" name="Google Shape;209;p17"/>
          <p:cNvSpPr txBox="1"/>
          <p:nvPr/>
        </p:nvSpPr>
        <p:spPr>
          <a:xfrm>
            <a:off x="1524000" y="2765426"/>
            <a:ext cx="8610600" cy="1325563"/>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3000"/>
              <a:buFont typeface="Arial"/>
              <a:buNone/>
              <a:tabLst/>
              <a:defRPr/>
            </a:pPr>
            <a:r>
              <a:rPr kumimoji="0" lang="en-US" sz="30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Who will read what I have written?</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0" name="Google Shape;210;p17"/>
          <p:cNvSpPr txBox="1">
            <a:spLocks noGrp="1"/>
          </p:cNvSpPr>
          <p:nvPr>
            <p:ph type="title"/>
          </p:nvPr>
        </p:nvSpPr>
        <p:spPr>
          <a:xfrm>
            <a:off x="1524000" y="457200"/>
            <a:ext cx="9144000" cy="20574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000"/>
              <a:buFont typeface="Times New Roman"/>
              <a:buNone/>
            </a:pPr>
            <a:r>
              <a:rPr lang="en-US" sz="3000" b="1">
                <a:latin typeface="Times New Roman"/>
                <a:ea typeface="Times New Roman"/>
                <a:cs typeface="Times New Roman"/>
                <a:sym typeface="Times New Roman"/>
              </a:rPr>
              <a:t>Purpose?</a:t>
            </a:r>
            <a:r>
              <a:rPr lang="en-US" sz="3000">
                <a:latin typeface="Times New Roman"/>
                <a:ea typeface="Times New Roman"/>
                <a:cs typeface="Times New Roman"/>
                <a:sym typeface="Times New Roman"/>
              </a:rPr>
              <a:t/>
            </a:r>
            <a:br>
              <a:rPr lang="en-US" sz="3000">
                <a:latin typeface="Times New Roman"/>
                <a:ea typeface="Times New Roman"/>
                <a:cs typeface="Times New Roman"/>
                <a:sym typeface="Times New Roman"/>
              </a:rPr>
            </a:br>
            <a:r>
              <a:rPr lang="en-US" sz="3000">
                <a:latin typeface="Times New Roman"/>
                <a:ea typeface="Times New Roman"/>
                <a:cs typeface="Times New Roman"/>
                <a:sym typeface="Times New Roman"/>
              </a:rPr>
              <a:t/>
            </a:r>
            <a:br>
              <a:rPr lang="en-US" sz="3000">
                <a:latin typeface="Times New Roman"/>
                <a:ea typeface="Times New Roman"/>
                <a:cs typeface="Times New Roman"/>
                <a:sym typeface="Times New Roman"/>
              </a:rPr>
            </a:br>
            <a:r>
              <a:rPr lang="en-US" sz="3000">
                <a:latin typeface="Times New Roman"/>
                <a:ea typeface="Times New Roman"/>
                <a:cs typeface="Times New Roman"/>
                <a:sym typeface="Times New Roman"/>
              </a:rPr>
              <a:t>Am I writing primarily to create a record or provide information, to request or to persuade?</a:t>
            </a:r>
            <a:endParaRPr/>
          </a:p>
        </p:txBody>
      </p:sp>
    </p:spTree>
    <p:extLst>
      <p:ext uri="{BB962C8B-B14F-4D97-AF65-F5344CB8AC3E}">
        <p14:creationId xmlns:p14="http://schemas.microsoft.com/office/powerpoint/2010/main" val="964942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0"/>
                                        </p:tgtEl>
                                        <p:attrNameLst>
                                          <p:attrName>style.visibility</p:attrName>
                                        </p:attrNameLst>
                                      </p:cBhvr>
                                      <p:to>
                                        <p:strVal val="visible"/>
                                      </p:to>
                                    </p:set>
                                    <p:animEffect transition="in" filter="fade">
                                      <p:cBhvr>
                                        <p:cTn id="7" dur="1000"/>
                                        <p:tgtEl>
                                          <p:spTgt spid="2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9"/>
                                        </p:tgtEl>
                                        <p:attrNameLst>
                                          <p:attrName>style.visibility</p:attrName>
                                        </p:attrNameLst>
                                      </p:cBhvr>
                                      <p:to>
                                        <p:strVal val="visible"/>
                                      </p:to>
                                    </p:set>
                                    <p:animEffect transition="in" filter="fade">
                                      <p:cBhvr>
                                        <p:cTn id="12" dur="1000"/>
                                        <p:tgtEl>
                                          <p:spTgt spid="20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8"/>
                                        </p:tgtEl>
                                        <p:attrNameLst>
                                          <p:attrName>style.visibility</p:attrName>
                                        </p:attrNameLst>
                                      </p:cBhvr>
                                      <p:to>
                                        <p:strVal val="visible"/>
                                      </p:to>
                                    </p:set>
                                    <p:animEffect transition="in" filter="fade">
                                      <p:cBhvr>
                                        <p:cTn id="17" dur="500"/>
                                        <p:tgtEl>
                                          <p:spTgt spid="2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9"/>
          <p:cNvSpPr txBox="1"/>
          <p:nvPr/>
        </p:nvSpPr>
        <p:spPr>
          <a:xfrm>
            <a:off x="3810000" y="1"/>
            <a:ext cx="6858000" cy="6124575"/>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February 4, 2024.</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Dr.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Summaira</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Sarfraz</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Director   (</a:t>
            </a:r>
            <a:r>
              <a:rPr kumimoji="0" lang="en-US" sz="1400" b="0"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Always mention Designation</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FAST-NUCES,</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Lahore.</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Subject:  Application for Leave   (</a:t>
            </a:r>
            <a:r>
              <a:rPr kumimoji="0" lang="en-US" sz="1400" b="0"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First letter of each word is capital)</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Dear Dr. </a:t>
            </a:r>
            <a:r>
              <a:rPr kumimoji="0" lang="en-US" sz="1400" b="0" i="0" u="none" strike="noStrike" kern="0" cap="none" spc="0" normalizeH="0" baseline="0" noProof="0" dirty="0" err="1" smtClean="0">
                <a:ln>
                  <a:noFill/>
                </a:ln>
                <a:solidFill>
                  <a:srgbClr val="000000"/>
                </a:solidFill>
                <a:effectLst/>
                <a:uLnTx/>
                <a:uFillTx/>
                <a:latin typeface="Times New Roman"/>
                <a:ea typeface="Times New Roman"/>
                <a:cs typeface="Times New Roman"/>
                <a:sym typeface="Times New Roman"/>
              </a:rPr>
              <a:t>Sarfraz</a:t>
            </a:r>
            <a:r>
              <a:rPr lang="en-US" dirty="0">
                <a:latin typeface="Times New Roman"/>
                <a:ea typeface="Times New Roman"/>
                <a:cs typeface="Times New Roman"/>
                <a:sym typeface="Times New Roman"/>
              </a:rPr>
              <a:t>,</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I am a student of Fatima Jinnah College and would like to apply for </a:t>
            </a:r>
            <a:r>
              <a:rPr kumimoji="0" lang="en-US" sz="1400" b="0" i="0" u="sng"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leave from the college.</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sng"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My mother has been recently diagnosed with epilepsy. The doctors have advised her to leave for the United States immediately. </a:t>
            </a:r>
            <a:r>
              <a:rPr kumimoji="0" lang="en-US" sz="1400" b="0" i="0" u="sng"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Since my mother has no relatives in the United States, it is imperative  that I accompany her when she goes </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as it is necessary for someone to be with her for moral and physical support.</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I shall be grateful if you would sanction me leave from the college </a:t>
            </a:r>
            <a:r>
              <a:rPr kumimoji="0" lang="en-US" sz="1400" b="0" i="0" u="sng"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for three weeks, that is 5 Feb. to 7 Feb. 2024.  </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sng"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r>
              <a:rPr kumimoji="0" lang="en-US" sz="1400" b="0"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Instigate action</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400" b="0" i="0" u="sng"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I would appreciate your viewing my application </a:t>
            </a:r>
            <a:r>
              <a:rPr kumimoji="0" lang="en-US" sz="1400" b="0" i="0" u="sng"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favourably</a:t>
            </a:r>
            <a:r>
              <a:rPr kumimoji="0" lang="en-US" sz="1400" b="0" i="0" u="sng"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Yours sincerely,</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Signature</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Name</a:t>
            </a:r>
            <a:endParaRPr kumimoji="0" sz="1400" b="0"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Section &amp; Roll Number</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Phone Number</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222" name="Google Shape;222;p19"/>
          <p:cNvSpPr/>
          <p:nvPr/>
        </p:nvSpPr>
        <p:spPr>
          <a:xfrm flipH="1">
            <a:off x="1752600" y="2243137"/>
            <a:ext cx="1981200" cy="457200"/>
          </a:xfrm>
          <a:prstGeom prst="wedgeEllipseCallout">
            <a:avLst>
              <a:gd name="adj1" fmla="val -20833"/>
              <a:gd name="adj2" fmla="val 62500"/>
            </a:avLst>
          </a:prstGeom>
          <a:solidFill>
            <a:srgbClr val="F2F2F2"/>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23" name="Google Shape;223;p19"/>
          <p:cNvSpPr txBox="1"/>
          <p:nvPr/>
        </p:nvSpPr>
        <p:spPr>
          <a:xfrm>
            <a:off x="1981200" y="2281072"/>
            <a:ext cx="1676400" cy="338138"/>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1" i="0" u="none" strike="noStrike" kern="0" cap="none" spc="0" normalizeH="0" baseline="0" noProof="0">
                <a:ln>
                  <a:noFill/>
                </a:ln>
                <a:solidFill>
                  <a:srgbClr val="000000"/>
                </a:solidFill>
                <a:effectLst/>
                <a:uLnTx/>
                <a:uFillTx/>
                <a:latin typeface="Calibri"/>
                <a:ea typeface="Calibri"/>
                <a:cs typeface="Calibri"/>
                <a:sym typeface="Calibri"/>
              </a:rPr>
              <a:t>Explain Purpose</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4" name="Google Shape;224;p19"/>
          <p:cNvSpPr/>
          <p:nvPr/>
        </p:nvSpPr>
        <p:spPr>
          <a:xfrm flipH="1">
            <a:off x="1676400" y="2944811"/>
            <a:ext cx="2057400" cy="457200"/>
          </a:xfrm>
          <a:prstGeom prst="wedgeEllipseCallout">
            <a:avLst>
              <a:gd name="adj1" fmla="val -20833"/>
              <a:gd name="adj2" fmla="val 62500"/>
            </a:avLst>
          </a:prstGeom>
          <a:solidFill>
            <a:srgbClr val="F2F2F2"/>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25" name="Google Shape;225;p19"/>
          <p:cNvSpPr txBox="1"/>
          <p:nvPr/>
        </p:nvSpPr>
        <p:spPr>
          <a:xfrm>
            <a:off x="1676400" y="3005137"/>
            <a:ext cx="2057400" cy="338137"/>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1" i="0" u="none" strike="noStrike" kern="0" cap="none" spc="0" normalizeH="0" baseline="0" noProof="0">
                <a:ln>
                  <a:noFill/>
                </a:ln>
                <a:solidFill>
                  <a:srgbClr val="000000"/>
                </a:solidFill>
                <a:effectLst/>
                <a:uLnTx/>
                <a:uFillTx/>
                <a:latin typeface="Calibri"/>
                <a:ea typeface="Calibri"/>
                <a:cs typeface="Calibri"/>
                <a:sym typeface="Calibri"/>
              </a:rPr>
              <a:t>Give reason for leave</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6" name="Google Shape;226;p19"/>
          <p:cNvSpPr/>
          <p:nvPr/>
        </p:nvSpPr>
        <p:spPr>
          <a:xfrm flipH="1">
            <a:off x="1493520" y="3572391"/>
            <a:ext cx="2209800" cy="658294"/>
          </a:xfrm>
          <a:prstGeom prst="wedgeEllipseCallout">
            <a:avLst>
              <a:gd name="adj1" fmla="val -20833"/>
              <a:gd name="adj2" fmla="val 62500"/>
            </a:avLst>
          </a:prstGeom>
          <a:solidFill>
            <a:srgbClr val="F2F2F2"/>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27" name="Google Shape;227;p19"/>
          <p:cNvSpPr txBox="1"/>
          <p:nvPr/>
        </p:nvSpPr>
        <p:spPr>
          <a:xfrm>
            <a:off x="1798320" y="3646485"/>
            <a:ext cx="2057400" cy="5842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1" i="0" u="none" strike="noStrike" kern="0" cap="none" spc="0" normalizeH="0" baseline="0" noProof="0">
                <a:ln>
                  <a:noFill/>
                </a:ln>
                <a:solidFill>
                  <a:srgbClr val="000000"/>
                </a:solidFill>
                <a:effectLst/>
                <a:uLnTx/>
                <a:uFillTx/>
                <a:latin typeface="Calibri"/>
                <a:ea typeface="Calibri"/>
                <a:cs typeface="Calibri"/>
                <a:sym typeface="Calibri"/>
              </a:rPr>
              <a:t>Details of leave including dates.</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8" name="Google Shape;228;p19"/>
          <p:cNvSpPr/>
          <p:nvPr/>
        </p:nvSpPr>
        <p:spPr>
          <a:xfrm flipH="1">
            <a:off x="1524000" y="4402435"/>
            <a:ext cx="2209800" cy="457200"/>
          </a:xfrm>
          <a:prstGeom prst="wedgeEllipseCallout">
            <a:avLst>
              <a:gd name="adj1" fmla="val -20833"/>
              <a:gd name="adj2" fmla="val 62500"/>
            </a:avLst>
          </a:prstGeom>
          <a:solidFill>
            <a:srgbClr val="F2F2F2"/>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29" name="Google Shape;229;p19"/>
          <p:cNvSpPr txBox="1"/>
          <p:nvPr/>
        </p:nvSpPr>
        <p:spPr>
          <a:xfrm>
            <a:off x="1524000" y="4478635"/>
            <a:ext cx="2468880" cy="33855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1" i="0" u="none" strike="noStrike" kern="0" cap="none" spc="0" normalizeH="0" baseline="0" noProof="0">
                <a:ln>
                  <a:noFill/>
                </a:ln>
                <a:solidFill>
                  <a:srgbClr val="000000"/>
                </a:solidFill>
                <a:effectLst/>
                <a:uLnTx/>
                <a:uFillTx/>
                <a:latin typeface="Calibri"/>
                <a:ea typeface="Calibri"/>
                <a:cs typeface="Calibri"/>
                <a:sym typeface="Calibri"/>
              </a:rPr>
              <a:t>Complementary Closure</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0" name="Google Shape;230;p19"/>
          <p:cNvSpPr/>
          <p:nvPr/>
        </p:nvSpPr>
        <p:spPr>
          <a:xfrm>
            <a:off x="1691640" y="231458"/>
            <a:ext cx="2057400" cy="1033462"/>
          </a:xfrm>
          <a:prstGeom prst="wedgeRectCallout">
            <a:avLst>
              <a:gd name="adj1" fmla="val -20833"/>
              <a:gd name="adj2" fmla="val 62500"/>
            </a:avLst>
          </a:prstGeom>
          <a:solidFill>
            <a:srgbClr val="F2F2F2"/>
          </a:solidFill>
          <a:ln w="12700" cap="flat" cmpd="sng">
            <a:solidFill>
              <a:schemeClr val="accent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1" i="0" u="none" strike="noStrike" kern="0" cap="none" spc="0" normalizeH="0" baseline="0" noProof="0">
                <a:ln>
                  <a:noFill/>
                </a:ln>
                <a:solidFill>
                  <a:srgbClr val="000000"/>
                </a:solidFill>
                <a:effectLst/>
                <a:uLnTx/>
                <a:uFillTx/>
                <a:latin typeface="Calibri"/>
                <a:ea typeface="Calibri"/>
                <a:cs typeface="Calibri"/>
                <a:sym typeface="Calibri"/>
              </a:rPr>
              <a:t>Recipients Designation &amp; Address</a:t>
            </a:r>
            <a:endParaRPr kumimoji="0" sz="2400" b="1"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1" name="Google Shape;231;p19"/>
          <p:cNvSpPr/>
          <p:nvPr/>
        </p:nvSpPr>
        <p:spPr>
          <a:xfrm>
            <a:off x="1744980" y="4987569"/>
            <a:ext cx="2057400" cy="1033462"/>
          </a:xfrm>
          <a:prstGeom prst="wedgeRectCallout">
            <a:avLst>
              <a:gd name="adj1" fmla="val -20833"/>
              <a:gd name="adj2" fmla="val 62500"/>
            </a:avLst>
          </a:prstGeom>
          <a:solidFill>
            <a:srgbClr val="F2F2F2"/>
          </a:solidFill>
          <a:ln w="12700" cap="flat" cmpd="sng">
            <a:solidFill>
              <a:schemeClr val="accent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1" i="0" u="none" strike="noStrike" kern="0" cap="none" spc="0" normalizeH="0" baseline="0" noProof="0">
                <a:ln>
                  <a:noFill/>
                </a:ln>
                <a:solidFill>
                  <a:srgbClr val="000000"/>
                </a:solidFill>
                <a:effectLst/>
                <a:uLnTx/>
                <a:uFillTx/>
                <a:latin typeface="Calibri"/>
                <a:ea typeface="Calibri"/>
                <a:cs typeface="Calibri"/>
                <a:sym typeface="Calibri"/>
              </a:rPr>
              <a:t>Subscription</a:t>
            </a:r>
            <a:endParaRPr kumimoji="0" sz="2400" b="1"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2" name="Google Shape;232;p19"/>
          <p:cNvSpPr/>
          <p:nvPr/>
        </p:nvSpPr>
        <p:spPr>
          <a:xfrm flipH="1">
            <a:off x="1752600" y="1437327"/>
            <a:ext cx="1981200" cy="457200"/>
          </a:xfrm>
          <a:prstGeom prst="wedgeEllipseCallout">
            <a:avLst>
              <a:gd name="adj1" fmla="val -20833"/>
              <a:gd name="adj2" fmla="val 62500"/>
            </a:avLst>
          </a:prstGeom>
          <a:solidFill>
            <a:srgbClr val="F2F2F2"/>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33" name="Google Shape;233;p19"/>
          <p:cNvSpPr txBox="1"/>
          <p:nvPr/>
        </p:nvSpPr>
        <p:spPr>
          <a:xfrm>
            <a:off x="1933902" y="1506794"/>
            <a:ext cx="1676400" cy="338138"/>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1" i="0" u="none" strike="noStrike" kern="0" cap="none" spc="0" normalizeH="0" baseline="0" noProof="0">
                <a:ln>
                  <a:noFill/>
                </a:ln>
                <a:solidFill>
                  <a:srgbClr val="000000"/>
                </a:solidFill>
                <a:effectLst/>
                <a:uLnTx/>
                <a:uFillTx/>
                <a:latin typeface="Calibri"/>
                <a:ea typeface="Calibri"/>
                <a:cs typeface="Calibri"/>
                <a:sym typeface="Calibri"/>
              </a:rPr>
              <a:t>Salutation</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2993233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0"/>
                                        </p:tgtEl>
                                        <p:attrNameLst>
                                          <p:attrName>style.visibility</p:attrName>
                                        </p:attrNameLst>
                                      </p:cBhvr>
                                      <p:to>
                                        <p:strVal val="visible"/>
                                      </p:to>
                                    </p:set>
                                    <p:animEffect transition="in" filter="fade">
                                      <p:cBhvr>
                                        <p:cTn id="7" dur="500"/>
                                        <p:tgtEl>
                                          <p:spTgt spid="2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3"/>
                                        </p:tgtEl>
                                        <p:attrNameLst>
                                          <p:attrName>style.visibility</p:attrName>
                                        </p:attrNameLst>
                                      </p:cBhvr>
                                      <p:to>
                                        <p:strVal val="visible"/>
                                      </p:to>
                                    </p:set>
                                    <p:animEffect transition="in" filter="fade">
                                      <p:cBhvr>
                                        <p:cTn id="12" dur="500"/>
                                        <p:tgtEl>
                                          <p:spTgt spid="233"/>
                                        </p:tgtEl>
                                      </p:cBhvr>
                                    </p:animEffect>
                                  </p:childTnLst>
                                </p:cTn>
                              </p:par>
                              <p:par>
                                <p:cTn id="13" presetID="10" presetClass="entr" presetSubtype="0" fill="hold" nodeType="withEffect">
                                  <p:stCondLst>
                                    <p:cond delay="0"/>
                                  </p:stCondLst>
                                  <p:childTnLst>
                                    <p:set>
                                      <p:cBhvr>
                                        <p:cTn id="14" dur="1" fill="hold">
                                          <p:stCondLst>
                                            <p:cond delay="0"/>
                                          </p:stCondLst>
                                        </p:cTn>
                                        <p:tgtEl>
                                          <p:spTgt spid="232"/>
                                        </p:tgtEl>
                                        <p:attrNameLst>
                                          <p:attrName>style.visibility</p:attrName>
                                        </p:attrNameLst>
                                      </p:cBhvr>
                                      <p:to>
                                        <p:strVal val="visible"/>
                                      </p:to>
                                    </p:set>
                                    <p:animEffect transition="in" filter="fade">
                                      <p:cBhvr>
                                        <p:cTn id="15" dur="500"/>
                                        <p:tgtEl>
                                          <p:spTgt spid="23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22"/>
                                        </p:tgtEl>
                                        <p:attrNameLst>
                                          <p:attrName>style.visibility</p:attrName>
                                        </p:attrNameLst>
                                      </p:cBhvr>
                                      <p:to>
                                        <p:strVal val="visible"/>
                                      </p:to>
                                    </p:set>
                                    <p:animEffect transition="in" filter="fade">
                                      <p:cBhvr>
                                        <p:cTn id="20" dur="500"/>
                                        <p:tgtEl>
                                          <p:spTgt spid="222"/>
                                        </p:tgtEl>
                                      </p:cBhvr>
                                    </p:animEffect>
                                  </p:childTnLst>
                                </p:cTn>
                              </p:par>
                              <p:par>
                                <p:cTn id="21" presetID="10" presetClass="entr" presetSubtype="0" fill="hold" nodeType="withEffect">
                                  <p:stCondLst>
                                    <p:cond delay="0"/>
                                  </p:stCondLst>
                                  <p:childTnLst>
                                    <p:set>
                                      <p:cBhvr>
                                        <p:cTn id="22" dur="1" fill="hold">
                                          <p:stCondLst>
                                            <p:cond delay="0"/>
                                          </p:stCondLst>
                                        </p:cTn>
                                        <p:tgtEl>
                                          <p:spTgt spid="223"/>
                                        </p:tgtEl>
                                        <p:attrNameLst>
                                          <p:attrName>style.visibility</p:attrName>
                                        </p:attrNameLst>
                                      </p:cBhvr>
                                      <p:to>
                                        <p:strVal val="visible"/>
                                      </p:to>
                                    </p:set>
                                    <p:animEffect transition="in" filter="fade">
                                      <p:cBhvr>
                                        <p:cTn id="23" dur="500"/>
                                        <p:tgtEl>
                                          <p:spTgt spid="22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24"/>
                                        </p:tgtEl>
                                        <p:attrNameLst>
                                          <p:attrName>style.visibility</p:attrName>
                                        </p:attrNameLst>
                                      </p:cBhvr>
                                      <p:to>
                                        <p:strVal val="visible"/>
                                      </p:to>
                                    </p:set>
                                    <p:animEffect transition="in" filter="fade">
                                      <p:cBhvr>
                                        <p:cTn id="28" dur="500"/>
                                        <p:tgtEl>
                                          <p:spTgt spid="224"/>
                                        </p:tgtEl>
                                      </p:cBhvr>
                                    </p:animEffect>
                                  </p:childTnLst>
                                </p:cTn>
                              </p:par>
                              <p:par>
                                <p:cTn id="29" presetID="10" presetClass="entr" presetSubtype="0" fill="hold" nodeType="withEffect">
                                  <p:stCondLst>
                                    <p:cond delay="0"/>
                                  </p:stCondLst>
                                  <p:childTnLst>
                                    <p:set>
                                      <p:cBhvr>
                                        <p:cTn id="30" dur="1" fill="hold">
                                          <p:stCondLst>
                                            <p:cond delay="0"/>
                                          </p:stCondLst>
                                        </p:cTn>
                                        <p:tgtEl>
                                          <p:spTgt spid="225"/>
                                        </p:tgtEl>
                                        <p:attrNameLst>
                                          <p:attrName>style.visibility</p:attrName>
                                        </p:attrNameLst>
                                      </p:cBhvr>
                                      <p:to>
                                        <p:strVal val="visible"/>
                                      </p:to>
                                    </p:set>
                                    <p:animEffect transition="in" filter="fade">
                                      <p:cBhvr>
                                        <p:cTn id="31" dur="500"/>
                                        <p:tgtEl>
                                          <p:spTgt spid="225"/>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26"/>
                                        </p:tgtEl>
                                        <p:attrNameLst>
                                          <p:attrName>style.visibility</p:attrName>
                                        </p:attrNameLst>
                                      </p:cBhvr>
                                      <p:to>
                                        <p:strVal val="visible"/>
                                      </p:to>
                                    </p:set>
                                    <p:animEffect transition="in" filter="fade">
                                      <p:cBhvr>
                                        <p:cTn id="36" dur="500"/>
                                        <p:tgtEl>
                                          <p:spTgt spid="226"/>
                                        </p:tgtEl>
                                      </p:cBhvr>
                                    </p:animEffect>
                                  </p:childTnLst>
                                </p:cTn>
                              </p:par>
                              <p:par>
                                <p:cTn id="37" presetID="10" presetClass="entr" presetSubtype="0" fill="hold" nodeType="withEffect">
                                  <p:stCondLst>
                                    <p:cond delay="0"/>
                                  </p:stCondLst>
                                  <p:childTnLst>
                                    <p:set>
                                      <p:cBhvr>
                                        <p:cTn id="38" dur="1" fill="hold">
                                          <p:stCondLst>
                                            <p:cond delay="0"/>
                                          </p:stCondLst>
                                        </p:cTn>
                                        <p:tgtEl>
                                          <p:spTgt spid="227"/>
                                        </p:tgtEl>
                                        <p:attrNameLst>
                                          <p:attrName>style.visibility</p:attrName>
                                        </p:attrNameLst>
                                      </p:cBhvr>
                                      <p:to>
                                        <p:strVal val="visible"/>
                                      </p:to>
                                    </p:set>
                                    <p:animEffect transition="in" filter="fade">
                                      <p:cBhvr>
                                        <p:cTn id="39" dur="500"/>
                                        <p:tgtEl>
                                          <p:spTgt spid="227"/>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228"/>
                                        </p:tgtEl>
                                        <p:attrNameLst>
                                          <p:attrName>style.visibility</p:attrName>
                                        </p:attrNameLst>
                                      </p:cBhvr>
                                      <p:to>
                                        <p:strVal val="visible"/>
                                      </p:to>
                                    </p:set>
                                    <p:animEffect transition="in" filter="fade">
                                      <p:cBhvr>
                                        <p:cTn id="44" dur="500"/>
                                        <p:tgtEl>
                                          <p:spTgt spid="228"/>
                                        </p:tgtEl>
                                      </p:cBhvr>
                                    </p:animEffect>
                                  </p:childTnLst>
                                </p:cTn>
                              </p:par>
                              <p:par>
                                <p:cTn id="45" presetID="10" presetClass="entr" presetSubtype="0" fill="hold" nodeType="withEffect">
                                  <p:stCondLst>
                                    <p:cond delay="0"/>
                                  </p:stCondLst>
                                  <p:childTnLst>
                                    <p:set>
                                      <p:cBhvr>
                                        <p:cTn id="46" dur="1" fill="hold">
                                          <p:stCondLst>
                                            <p:cond delay="0"/>
                                          </p:stCondLst>
                                        </p:cTn>
                                        <p:tgtEl>
                                          <p:spTgt spid="229"/>
                                        </p:tgtEl>
                                        <p:attrNameLst>
                                          <p:attrName>style.visibility</p:attrName>
                                        </p:attrNameLst>
                                      </p:cBhvr>
                                      <p:to>
                                        <p:strVal val="visible"/>
                                      </p:to>
                                    </p:set>
                                    <p:animEffect transition="in" filter="fade">
                                      <p:cBhvr>
                                        <p:cTn id="47" dur="500"/>
                                        <p:tgtEl>
                                          <p:spTgt spid="229"/>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31"/>
                                        </p:tgtEl>
                                        <p:attrNameLst>
                                          <p:attrName>style.visibility</p:attrName>
                                        </p:attrNameLst>
                                      </p:cBhvr>
                                      <p:to>
                                        <p:strVal val="visible"/>
                                      </p:to>
                                    </p:set>
                                    <p:animEffect transition="in" filter="fade">
                                      <p:cBhvr>
                                        <p:cTn id="52" dur="500"/>
                                        <p:tgtEl>
                                          <p:spTgt spid="2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US" b="1" dirty="0" smtClean="0">
                <a:latin typeface="Times New Roman"/>
                <a:ea typeface="Times New Roman"/>
                <a:cs typeface="Times New Roman"/>
                <a:sym typeface="Times New Roman"/>
              </a:rPr>
              <a:t>Rubric</a:t>
            </a:r>
            <a:endParaRPr b="1" dirty="0">
              <a:latin typeface="Times New Roman"/>
              <a:ea typeface="Times New Roman"/>
              <a:cs typeface="Times New Roman"/>
              <a:sym typeface="Times New Roman"/>
            </a:endParaRPr>
          </a:p>
        </p:txBody>
      </p:sp>
      <p:sp>
        <p:nvSpPr>
          <p:cNvPr id="239" name="Google Shape;239;p20"/>
          <p:cNvSpPr txBox="1"/>
          <p:nvPr/>
        </p:nvSpPr>
        <p:spPr>
          <a:xfrm>
            <a:off x="331075" y="1094746"/>
            <a:ext cx="11288111" cy="1662112"/>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3600"/>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graphicFrame>
        <p:nvGraphicFramePr>
          <p:cNvPr id="240" name="Google Shape;240;p20"/>
          <p:cNvGraphicFramePr/>
          <p:nvPr/>
        </p:nvGraphicFramePr>
        <p:xfrm>
          <a:off x="1752600" y="2706524"/>
          <a:ext cx="8686800" cy="2789250"/>
        </p:xfrm>
        <a:graphic>
          <a:graphicData uri="http://schemas.openxmlformats.org/drawingml/2006/table">
            <a:tbl>
              <a:tblPr>
                <a:noFill/>
              </a:tblPr>
              <a:tblGrid>
                <a:gridCol w="1295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1676400">
                  <a:extLst>
                    <a:ext uri="{9D8B030D-6E8A-4147-A177-3AD203B41FA5}">
                      <a16:colId xmlns:a16="http://schemas.microsoft.com/office/drawing/2014/main" val="20006"/>
                    </a:ext>
                  </a:extLst>
                </a:gridCol>
                <a:gridCol w="685800">
                  <a:extLst>
                    <a:ext uri="{9D8B030D-6E8A-4147-A177-3AD203B41FA5}">
                      <a16:colId xmlns:a16="http://schemas.microsoft.com/office/drawing/2014/main" val="20007"/>
                    </a:ext>
                  </a:extLst>
                </a:gridCol>
              </a:tblGrid>
              <a:tr h="2186300">
                <a:tc>
                  <a:txBody>
                    <a:bodyPr/>
                    <a:lstStyle/>
                    <a:p>
                      <a:pPr marL="0" marR="0" lvl="0" indent="0" algn="l" rtl="0">
                        <a:lnSpc>
                          <a:spcPct val="107000"/>
                        </a:lnSpc>
                        <a:spcBef>
                          <a:spcPts val="0"/>
                        </a:spcBef>
                        <a:spcAft>
                          <a:spcPts val="0"/>
                        </a:spcAft>
                        <a:buNone/>
                      </a:pPr>
                      <a:r>
                        <a:rPr lang="en-US" sz="1800" b="1" u="none" strike="noStrike" cap="none">
                          <a:latin typeface="Times New Roman"/>
                          <a:ea typeface="Times New Roman"/>
                          <a:cs typeface="Times New Roman"/>
                          <a:sym typeface="Times New Roman"/>
                        </a:rPr>
                        <a:t>Designation &amp; address</a:t>
                      </a:r>
                      <a:endParaRPr sz="1800" u="none" strike="noStrike" cap="none">
                        <a:latin typeface="Times New Roman"/>
                        <a:ea typeface="Times New Roman"/>
                        <a:cs typeface="Times New Roman"/>
                        <a:sym typeface="Times New Roman"/>
                      </a:endParaRPr>
                    </a:p>
                  </a:txBody>
                  <a:tcPr marL="68575" marR="68575" marT="952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7000"/>
                        </a:lnSpc>
                        <a:spcBef>
                          <a:spcPts val="0"/>
                        </a:spcBef>
                        <a:spcAft>
                          <a:spcPts val="0"/>
                        </a:spcAft>
                        <a:buNone/>
                      </a:pPr>
                      <a:r>
                        <a:rPr lang="en-US" sz="1800" b="1" u="none" strike="noStrike" cap="none">
                          <a:latin typeface="Times New Roman"/>
                          <a:ea typeface="Times New Roman"/>
                          <a:cs typeface="Times New Roman"/>
                          <a:sym typeface="Times New Roman"/>
                        </a:rPr>
                        <a:t>Subject </a:t>
                      </a:r>
                      <a:endParaRPr sz="1800" u="none" strike="noStrike" cap="none">
                        <a:latin typeface="Times New Roman"/>
                        <a:ea typeface="Times New Roman"/>
                        <a:cs typeface="Times New Roman"/>
                        <a:sym typeface="Times New Roman"/>
                      </a:endParaRPr>
                    </a:p>
                  </a:txBody>
                  <a:tcPr marL="68575" marR="68575" marT="952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7000"/>
                        </a:lnSpc>
                        <a:spcBef>
                          <a:spcPts val="0"/>
                        </a:spcBef>
                        <a:spcAft>
                          <a:spcPts val="0"/>
                        </a:spcAft>
                        <a:buNone/>
                      </a:pPr>
                      <a:r>
                        <a:rPr lang="en-US" sz="1800" b="1" u="none" strike="noStrike" cap="none">
                          <a:latin typeface="Times New Roman"/>
                          <a:ea typeface="Times New Roman"/>
                          <a:cs typeface="Times New Roman"/>
                          <a:sym typeface="Times New Roman"/>
                        </a:rPr>
                        <a:t>Purpose</a:t>
                      </a:r>
                      <a:endParaRPr sz="1800" u="none" strike="noStrike" cap="none">
                        <a:latin typeface="Times New Roman"/>
                        <a:ea typeface="Times New Roman"/>
                        <a:cs typeface="Times New Roman"/>
                        <a:sym typeface="Times New Roman"/>
                      </a:endParaRPr>
                    </a:p>
                  </a:txBody>
                  <a:tcPr marL="68575" marR="68575" marT="952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7000"/>
                        </a:lnSpc>
                        <a:spcBef>
                          <a:spcPts val="0"/>
                        </a:spcBef>
                        <a:spcAft>
                          <a:spcPts val="0"/>
                        </a:spcAft>
                        <a:buNone/>
                      </a:pPr>
                      <a:r>
                        <a:rPr lang="en-US" sz="1800" b="1" u="none" strike="noStrike" cap="none">
                          <a:latin typeface="Times New Roman"/>
                          <a:ea typeface="Times New Roman"/>
                          <a:cs typeface="Times New Roman"/>
                          <a:sym typeface="Times New Roman"/>
                        </a:rPr>
                        <a:t>Reasons</a:t>
                      </a:r>
                      <a:endParaRPr sz="1800" u="none" strike="noStrike" cap="none">
                        <a:latin typeface="Times New Roman"/>
                        <a:ea typeface="Times New Roman"/>
                        <a:cs typeface="Times New Roman"/>
                        <a:sym typeface="Times New Roman"/>
                      </a:endParaRPr>
                    </a:p>
                  </a:txBody>
                  <a:tcPr marL="68575" marR="68575" marT="952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7000"/>
                        </a:lnSpc>
                        <a:spcBef>
                          <a:spcPts val="0"/>
                        </a:spcBef>
                        <a:spcAft>
                          <a:spcPts val="0"/>
                        </a:spcAft>
                        <a:buNone/>
                      </a:pPr>
                      <a:r>
                        <a:rPr lang="en-US" sz="1800" b="1" u="none" strike="noStrike" cap="none">
                          <a:latin typeface="Times New Roman"/>
                          <a:ea typeface="Times New Roman"/>
                          <a:cs typeface="Times New Roman"/>
                          <a:sym typeface="Times New Roman"/>
                        </a:rPr>
                        <a:t>Details including dates &amp; </a:t>
                      </a:r>
                      <a:endParaRPr/>
                    </a:p>
                    <a:p>
                      <a:pPr marL="0" marR="0" lvl="0" indent="0" algn="l" rtl="0">
                        <a:lnSpc>
                          <a:spcPct val="107000"/>
                        </a:lnSpc>
                        <a:spcBef>
                          <a:spcPts val="800"/>
                        </a:spcBef>
                        <a:spcAft>
                          <a:spcPts val="0"/>
                        </a:spcAft>
                        <a:buNone/>
                      </a:pPr>
                      <a:r>
                        <a:rPr lang="en-US" sz="1800" b="1" u="none" strike="noStrike" cap="none">
                          <a:latin typeface="Times New Roman"/>
                          <a:ea typeface="Times New Roman"/>
                          <a:cs typeface="Times New Roman"/>
                          <a:sym typeface="Times New Roman"/>
                        </a:rPr>
                        <a:t>Suggested </a:t>
                      </a:r>
                      <a:endParaRPr/>
                    </a:p>
                    <a:p>
                      <a:pPr marL="0" marR="0" lvl="0" indent="0" algn="l" rtl="0">
                        <a:lnSpc>
                          <a:spcPct val="107000"/>
                        </a:lnSpc>
                        <a:spcBef>
                          <a:spcPts val="800"/>
                        </a:spcBef>
                        <a:spcAft>
                          <a:spcPts val="0"/>
                        </a:spcAft>
                        <a:buNone/>
                      </a:pPr>
                      <a:r>
                        <a:rPr lang="en-US" sz="1800" b="1" u="none" strike="noStrike" cap="none">
                          <a:latin typeface="Times New Roman"/>
                          <a:ea typeface="Times New Roman"/>
                          <a:cs typeface="Times New Roman"/>
                          <a:sym typeface="Times New Roman"/>
                        </a:rPr>
                        <a:t>Action</a:t>
                      </a:r>
                      <a:endParaRPr sz="1800" u="none" strike="noStrike" cap="none">
                        <a:latin typeface="Times New Roman"/>
                        <a:ea typeface="Times New Roman"/>
                        <a:cs typeface="Times New Roman"/>
                        <a:sym typeface="Times New Roman"/>
                      </a:endParaRPr>
                    </a:p>
                  </a:txBody>
                  <a:tcPr marL="68575" marR="68575" marT="952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7000"/>
                        </a:lnSpc>
                        <a:spcBef>
                          <a:spcPts val="0"/>
                        </a:spcBef>
                        <a:spcAft>
                          <a:spcPts val="0"/>
                        </a:spcAft>
                        <a:buNone/>
                      </a:pPr>
                      <a:r>
                        <a:rPr lang="en-US" sz="1800" b="1" u="none" strike="noStrike" cap="none">
                          <a:latin typeface="Times New Roman"/>
                          <a:ea typeface="Times New Roman"/>
                          <a:cs typeface="Times New Roman"/>
                          <a:sym typeface="Times New Roman"/>
                        </a:rPr>
                        <a:t>Closing</a:t>
                      </a:r>
                      <a:endParaRPr sz="1800" u="none" strike="noStrike" cap="none">
                        <a:latin typeface="Times New Roman"/>
                        <a:ea typeface="Times New Roman"/>
                        <a:cs typeface="Times New Roman"/>
                        <a:sym typeface="Times New Roman"/>
                      </a:endParaRPr>
                    </a:p>
                  </a:txBody>
                  <a:tcPr marL="68575" marR="68575" marT="952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7000"/>
                        </a:lnSpc>
                        <a:spcBef>
                          <a:spcPts val="0"/>
                        </a:spcBef>
                        <a:spcAft>
                          <a:spcPts val="0"/>
                        </a:spcAft>
                        <a:buNone/>
                      </a:pPr>
                      <a:r>
                        <a:rPr lang="en-US" sz="1800" b="1" u="none" strike="noStrike" cap="none">
                          <a:latin typeface="Times New Roman"/>
                          <a:ea typeface="Times New Roman"/>
                          <a:cs typeface="Times New Roman"/>
                          <a:sym typeface="Times New Roman"/>
                        </a:rPr>
                        <a:t>Mechanics </a:t>
                      </a:r>
                      <a:endParaRPr/>
                    </a:p>
                    <a:p>
                      <a:pPr marL="120650" marR="0" lvl="0" indent="-120650" algn="l" rtl="0">
                        <a:lnSpc>
                          <a:spcPct val="107000"/>
                        </a:lnSpc>
                        <a:spcBef>
                          <a:spcPts val="800"/>
                        </a:spcBef>
                        <a:spcAft>
                          <a:spcPts val="0"/>
                        </a:spcAft>
                        <a:buClr>
                          <a:schemeClr val="dk1"/>
                        </a:buClr>
                        <a:buSzPts val="1800"/>
                        <a:buFont typeface="Arial"/>
                        <a:buChar char="•"/>
                      </a:pPr>
                      <a:r>
                        <a:rPr lang="en-US" sz="1800" b="1" u="none" strike="noStrike" cap="none">
                          <a:latin typeface="Times New Roman"/>
                          <a:ea typeface="Times New Roman"/>
                          <a:cs typeface="Times New Roman"/>
                          <a:sym typeface="Times New Roman"/>
                        </a:rPr>
                        <a:t>Sentence structure</a:t>
                      </a:r>
                      <a:endParaRPr/>
                    </a:p>
                    <a:p>
                      <a:pPr marL="120650" marR="0" lvl="0" indent="-120650" algn="l" rtl="0">
                        <a:lnSpc>
                          <a:spcPct val="107000"/>
                        </a:lnSpc>
                        <a:spcBef>
                          <a:spcPts val="800"/>
                        </a:spcBef>
                        <a:spcAft>
                          <a:spcPts val="0"/>
                        </a:spcAft>
                        <a:buClr>
                          <a:schemeClr val="dk1"/>
                        </a:buClr>
                        <a:buSzPts val="1800"/>
                        <a:buFont typeface="Arial"/>
                        <a:buChar char="•"/>
                      </a:pPr>
                      <a:r>
                        <a:rPr lang="en-US" sz="1800" b="1" u="none" strike="noStrike" cap="none">
                          <a:latin typeface="Times New Roman"/>
                          <a:ea typeface="Times New Roman"/>
                          <a:cs typeface="Times New Roman"/>
                          <a:sym typeface="Times New Roman"/>
                        </a:rPr>
                        <a:t>punctuation</a:t>
                      </a:r>
                      <a:endParaRPr/>
                    </a:p>
                    <a:p>
                      <a:pPr marL="120650" marR="0" lvl="0" indent="-120650" algn="l" rtl="0">
                        <a:lnSpc>
                          <a:spcPct val="107000"/>
                        </a:lnSpc>
                        <a:spcBef>
                          <a:spcPts val="800"/>
                        </a:spcBef>
                        <a:spcAft>
                          <a:spcPts val="0"/>
                        </a:spcAft>
                        <a:buClr>
                          <a:schemeClr val="dk1"/>
                        </a:buClr>
                        <a:buSzPts val="1800"/>
                        <a:buFont typeface="Arial"/>
                        <a:buChar char="•"/>
                      </a:pPr>
                      <a:r>
                        <a:rPr lang="en-US" sz="1800" b="1" u="none" strike="noStrike" cap="none">
                          <a:latin typeface="Times New Roman"/>
                          <a:ea typeface="Times New Roman"/>
                          <a:cs typeface="Times New Roman"/>
                          <a:sym typeface="Times New Roman"/>
                        </a:rPr>
                        <a:t>Tone/Vocab</a:t>
                      </a:r>
                      <a:endParaRPr/>
                    </a:p>
                    <a:p>
                      <a:pPr marL="120650" marR="0" lvl="0" indent="-120650" algn="l" rtl="0">
                        <a:lnSpc>
                          <a:spcPct val="107000"/>
                        </a:lnSpc>
                        <a:spcBef>
                          <a:spcPts val="800"/>
                        </a:spcBef>
                        <a:spcAft>
                          <a:spcPts val="0"/>
                        </a:spcAft>
                        <a:buClr>
                          <a:schemeClr val="dk1"/>
                        </a:buClr>
                        <a:buSzPts val="1800"/>
                        <a:buFont typeface="Arial"/>
                        <a:buChar char="•"/>
                      </a:pPr>
                      <a:r>
                        <a:rPr lang="en-US" sz="1800" b="1" u="none" strike="noStrike" cap="none">
                          <a:latin typeface="Times New Roman"/>
                          <a:ea typeface="Times New Roman"/>
                          <a:cs typeface="Times New Roman"/>
                          <a:sym typeface="Times New Roman"/>
                        </a:rPr>
                        <a:t>Cohesion</a:t>
                      </a:r>
                      <a:endParaRPr sz="1800" u="none" strike="noStrike" cap="none">
                        <a:latin typeface="Times New Roman"/>
                        <a:ea typeface="Times New Roman"/>
                        <a:cs typeface="Times New Roman"/>
                        <a:sym typeface="Times New Roman"/>
                      </a:endParaRPr>
                    </a:p>
                  </a:txBody>
                  <a:tcPr marL="68575" marR="68575" marT="952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7000"/>
                        </a:lnSpc>
                        <a:spcBef>
                          <a:spcPts val="0"/>
                        </a:spcBef>
                        <a:spcAft>
                          <a:spcPts val="0"/>
                        </a:spcAft>
                        <a:buNone/>
                      </a:pPr>
                      <a:r>
                        <a:rPr lang="en-US" sz="1800" b="1" u="none" strike="noStrike" cap="none">
                          <a:latin typeface="Times New Roman"/>
                          <a:ea typeface="Times New Roman"/>
                          <a:cs typeface="Times New Roman"/>
                          <a:sym typeface="Times New Roman"/>
                        </a:rPr>
                        <a:t>Total </a:t>
                      </a:r>
                      <a:endParaRPr sz="1800" u="none" strike="noStrike" cap="none">
                        <a:latin typeface="Times New Roman"/>
                        <a:ea typeface="Times New Roman"/>
                        <a:cs typeface="Times New Roman"/>
                        <a:sym typeface="Times New Roman"/>
                      </a:endParaRPr>
                    </a:p>
                  </a:txBody>
                  <a:tcPr marL="68575" marR="68575" marT="952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602950">
                <a:tc>
                  <a:txBody>
                    <a:bodyPr/>
                    <a:lstStyle/>
                    <a:p>
                      <a:pPr marL="0" marR="0" lvl="0" indent="0" algn="ctr" rtl="0">
                        <a:lnSpc>
                          <a:spcPct val="107000"/>
                        </a:lnSpc>
                        <a:spcBef>
                          <a:spcPts val="0"/>
                        </a:spcBef>
                        <a:spcAft>
                          <a:spcPts val="0"/>
                        </a:spcAft>
                        <a:buNone/>
                      </a:pPr>
                      <a:r>
                        <a:rPr lang="en-US" sz="2000" b="1" u="none" strike="noStrike" cap="none">
                          <a:latin typeface="Times New Roman"/>
                          <a:ea typeface="Times New Roman"/>
                          <a:cs typeface="Times New Roman"/>
                          <a:sym typeface="Times New Roman"/>
                        </a:rPr>
                        <a:t>0-2</a:t>
                      </a:r>
                      <a:endParaRPr/>
                    </a:p>
                  </a:txBody>
                  <a:tcPr marL="68575" marR="68575" marT="952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7000"/>
                        </a:lnSpc>
                        <a:spcBef>
                          <a:spcPts val="0"/>
                        </a:spcBef>
                        <a:spcAft>
                          <a:spcPts val="0"/>
                        </a:spcAft>
                        <a:buNone/>
                      </a:pPr>
                      <a:r>
                        <a:rPr lang="en-US" sz="2000" b="1" u="none" strike="noStrike" cap="none">
                          <a:latin typeface="Times New Roman"/>
                          <a:ea typeface="Times New Roman"/>
                          <a:cs typeface="Times New Roman"/>
                          <a:sym typeface="Times New Roman"/>
                        </a:rPr>
                        <a:t>0-1</a:t>
                      </a:r>
                      <a:endParaRPr/>
                    </a:p>
                  </a:txBody>
                  <a:tcPr marL="68575" marR="68575" marT="952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7000"/>
                        </a:lnSpc>
                        <a:spcBef>
                          <a:spcPts val="0"/>
                        </a:spcBef>
                        <a:spcAft>
                          <a:spcPts val="0"/>
                        </a:spcAft>
                        <a:buNone/>
                      </a:pPr>
                      <a:r>
                        <a:rPr lang="en-US" sz="2000" b="1" u="none" strike="noStrike" cap="none">
                          <a:latin typeface="Times New Roman"/>
                          <a:ea typeface="Times New Roman"/>
                          <a:cs typeface="Times New Roman"/>
                          <a:sym typeface="Times New Roman"/>
                        </a:rPr>
                        <a:t>0-2</a:t>
                      </a:r>
                      <a:endParaRPr/>
                    </a:p>
                  </a:txBody>
                  <a:tcPr marL="68575" marR="68575" marT="952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7000"/>
                        </a:lnSpc>
                        <a:spcBef>
                          <a:spcPts val="0"/>
                        </a:spcBef>
                        <a:spcAft>
                          <a:spcPts val="0"/>
                        </a:spcAft>
                        <a:buNone/>
                      </a:pPr>
                      <a:r>
                        <a:rPr lang="en-US" sz="2000" b="1" u="none" strike="noStrike" cap="none">
                          <a:latin typeface="Times New Roman"/>
                          <a:ea typeface="Times New Roman"/>
                          <a:cs typeface="Times New Roman"/>
                          <a:sym typeface="Times New Roman"/>
                        </a:rPr>
                        <a:t>0-3</a:t>
                      </a:r>
                      <a:endParaRPr/>
                    </a:p>
                  </a:txBody>
                  <a:tcPr marL="68575" marR="68575" marT="952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7000"/>
                        </a:lnSpc>
                        <a:spcBef>
                          <a:spcPts val="0"/>
                        </a:spcBef>
                        <a:spcAft>
                          <a:spcPts val="0"/>
                        </a:spcAft>
                        <a:buNone/>
                      </a:pPr>
                      <a:r>
                        <a:rPr lang="en-US" sz="2000" b="1" u="none" strike="noStrike" cap="none">
                          <a:latin typeface="Times New Roman"/>
                          <a:ea typeface="Times New Roman"/>
                          <a:cs typeface="Times New Roman"/>
                          <a:sym typeface="Times New Roman"/>
                        </a:rPr>
                        <a:t>0-2</a:t>
                      </a:r>
                      <a:endParaRPr/>
                    </a:p>
                  </a:txBody>
                  <a:tcPr marL="68575" marR="68575" marT="952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7000"/>
                        </a:lnSpc>
                        <a:spcBef>
                          <a:spcPts val="0"/>
                        </a:spcBef>
                        <a:spcAft>
                          <a:spcPts val="0"/>
                        </a:spcAft>
                        <a:buNone/>
                      </a:pPr>
                      <a:r>
                        <a:rPr lang="en-US" sz="2000" b="1" u="none" strike="noStrike" cap="none">
                          <a:latin typeface="Times New Roman"/>
                          <a:ea typeface="Times New Roman"/>
                          <a:cs typeface="Times New Roman"/>
                          <a:sym typeface="Times New Roman"/>
                        </a:rPr>
                        <a:t>0-3</a:t>
                      </a:r>
                      <a:endParaRPr/>
                    </a:p>
                  </a:txBody>
                  <a:tcPr marL="68575" marR="68575" marT="952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7000"/>
                        </a:lnSpc>
                        <a:spcBef>
                          <a:spcPts val="0"/>
                        </a:spcBef>
                        <a:spcAft>
                          <a:spcPts val="0"/>
                        </a:spcAft>
                        <a:buNone/>
                      </a:pPr>
                      <a:r>
                        <a:rPr lang="en-US" sz="2000" b="1" u="none" strike="noStrike" cap="none">
                          <a:latin typeface="Times New Roman"/>
                          <a:ea typeface="Times New Roman"/>
                          <a:cs typeface="Times New Roman"/>
                          <a:sym typeface="Times New Roman"/>
                        </a:rPr>
                        <a:t>2</a:t>
                      </a:r>
                      <a:endParaRPr/>
                    </a:p>
                  </a:txBody>
                  <a:tcPr marL="68575" marR="68575" marT="952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7000"/>
                        </a:lnSpc>
                        <a:spcBef>
                          <a:spcPts val="0"/>
                        </a:spcBef>
                        <a:spcAft>
                          <a:spcPts val="0"/>
                        </a:spcAft>
                        <a:buNone/>
                      </a:pPr>
                      <a:r>
                        <a:rPr lang="en-US" sz="2000" b="1" u="none" strike="noStrike" cap="none">
                          <a:latin typeface="Times New Roman"/>
                          <a:ea typeface="Times New Roman"/>
                          <a:cs typeface="Times New Roman"/>
                          <a:sym typeface="Times New Roman"/>
                        </a:rPr>
                        <a:t>15</a:t>
                      </a:r>
                      <a:endParaRPr/>
                    </a:p>
                  </a:txBody>
                  <a:tcPr marL="68575" marR="68575" marT="952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bl>
          </a:graphicData>
        </a:graphic>
      </p:graphicFrame>
      <p:sp>
        <p:nvSpPr>
          <p:cNvPr id="241" name="Google Shape;241;p20"/>
          <p:cNvSpPr txBox="1"/>
          <p:nvPr/>
        </p:nvSpPr>
        <p:spPr>
          <a:xfrm>
            <a:off x="4064574" y="5763254"/>
            <a:ext cx="3821111" cy="461665"/>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Time Duration: 15- 20 mins</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21067145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5"/>
          <p:cNvSpPr txBox="1">
            <a:spLocks noGrp="1"/>
          </p:cNvSpPr>
          <p:nvPr>
            <p:ph type="title"/>
          </p:nvPr>
        </p:nvSpPr>
        <p:spPr>
          <a:xfrm>
            <a:off x="860777" y="2656769"/>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6600"/>
              <a:buFont typeface="Times New Roman"/>
              <a:buNone/>
            </a:pPr>
            <a:r>
              <a:rPr lang="en-US" sz="6600" b="1">
                <a:latin typeface="Times New Roman"/>
                <a:ea typeface="Times New Roman"/>
                <a:cs typeface="Times New Roman"/>
                <a:sym typeface="Times New Roman"/>
              </a:rPr>
              <a:t>Email Writing</a:t>
            </a:r>
            <a:endParaRPr/>
          </a:p>
        </p:txBody>
      </p:sp>
    </p:spTree>
    <p:extLst>
      <p:ext uri="{BB962C8B-B14F-4D97-AF65-F5344CB8AC3E}">
        <p14:creationId xmlns:p14="http://schemas.microsoft.com/office/powerpoint/2010/main" val="403584704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7"/>
          <p:cNvSpPr txBox="1">
            <a:spLocks noGrp="1"/>
          </p:cNvSpPr>
          <p:nvPr>
            <p:ph type="body" idx="1"/>
          </p:nvPr>
        </p:nvSpPr>
        <p:spPr>
          <a:xfrm>
            <a:off x="2849880" y="198120"/>
            <a:ext cx="9067800" cy="6705600"/>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chemeClr val="dk1"/>
              </a:buClr>
              <a:buSzPts val="1900"/>
              <a:buNone/>
            </a:pPr>
            <a:r>
              <a:rPr lang="en-US" sz="1900" dirty="0">
                <a:latin typeface="Times New Roman"/>
                <a:ea typeface="Times New Roman"/>
                <a:cs typeface="Times New Roman"/>
                <a:sym typeface="Times New Roman"/>
              </a:rPr>
              <a:t>Subject: Suggestions for English Language Lab</a:t>
            </a:r>
            <a:endParaRPr dirty="0"/>
          </a:p>
          <a:p>
            <a:pPr marL="0" lvl="0" indent="0" algn="just" rtl="0">
              <a:lnSpc>
                <a:spcPct val="90000"/>
              </a:lnSpc>
              <a:spcBef>
                <a:spcPts val="0"/>
              </a:spcBef>
              <a:spcAft>
                <a:spcPts val="0"/>
              </a:spcAft>
              <a:buClr>
                <a:schemeClr val="dk1"/>
              </a:buClr>
              <a:buSzPts val="1900"/>
              <a:buNone/>
            </a:pPr>
            <a:r>
              <a:rPr lang="en-US" sz="1900" dirty="0">
                <a:latin typeface="Times New Roman"/>
                <a:ea typeface="Times New Roman"/>
                <a:cs typeface="Times New Roman"/>
                <a:sym typeface="Times New Roman"/>
              </a:rPr>
              <a:t>Dear Mr. </a:t>
            </a:r>
            <a:r>
              <a:rPr lang="en-US" sz="1900" dirty="0" err="1" smtClean="0">
                <a:latin typeface="Times New Roman"/>
                <a:ea typeface="Times New Roman"/>
                <a:cs typeface="Times New Roman"/>
                <a:sym typeface="Times New Roman"/>
              </a:rPr>
              <a:t>Rizwan</a:t>
            </a:r>
            <a:r>
              <a:rPr lang="en-US" sz="1900" dirty="0" smtClean="0">
                <a:latin typeface="Times New Roman"/>
                <a:ea typeface="Times New Roman"/>
                <a:cs typeface="Times New Roman"/>
                <a:sym typeface="Times New Roman"/>
              </a:rPr>
              <a:t>, </a:t>
            </a:r>
            <a:r>
              <a:rPr lang="en-US" sz="1900" b="1" dirty="0" smtClean="0">
                <a:latin typeface="Times New Roman"/>
                <a:ea typeface="Times New Roman"/>
                <a:cs typeface="Times New Roman"/>
                <a:sym typeface="Times New Roman"/>
              </a:rPr>
              <a:t>(Salutation-Last </a:t>
            </a:r>
            <a:r>
              <a:rPr lang="en-US" sz="1900" b="1" dirty="0">
                <a:latin typeface="Times New Roman"/>
                <a:ea typeface="Times New Roman"/>
                <a:cs typeface="Times New Roman"/>
                <a:sym typeface="Times New Roman"/>
              </a:rPr>
              <a:t>Name)</a:t>
            </a:r>
            <a:endParaRPr dirty="0"/>
          </a:p>
          <a:p>
            <a:pPr marL="0" lvl="0" indent="0" algn="just" rtl="0">
              <a:lnSpc>
                <a:spcPct val="90000"/>
              </a:lnSpc>
              <a:spcBef>
                <a:spcPts val="1000"/>
              </a:spcBef>
              <a:spcAft>
                <a:spcPts val="0"/>
              </a:spcAft>
              <a:buClr>
                <a:schemeClr val="dk1"/>
              </a:buClr>
              <a:buSzPts val="1900"/>
              <a:buNone/>
            </a:pPr>
            <a:endParaRPr sz="1900" dirty="0">
              <a:latin typeface="Times New Roman"/>
              <a:ea typeface="Times New Roman"/>
              <a:cs typeface="Times New Roman"/>
              <a:sym typeface="Times New Roman"/>
            </a:endParaRPr>
          </a:p>
          <a:p>
            <a:pPr marL="0" lvl="0" indent="0" algn="just" rtl="0">
              <a:lnSpc>
                <a:spcPct val="90000"/>
              </a:lnSpc>
              <a:spcBef>
                <a:spcPts val="0"/>
              </a:spcBef>
              <a:spcAft>
                <a:spcPts val="0"/>
              </a:spcAft>
              <a:buClr>
                <a:schemeClr val="dk1"/>
              </a:buClr>
              <a:buSzPts val="1900"/>
              <a:buNone/>
            </a:pPr>
            <a:r>
              <a:rPr lang="en-US" sz="1900" dirty="0">
                <a:latin typeface="Times New Roman"/>
                <a:ea typeface="Times New Roman"/>
                <a:cs typeface="Times New Roman"/>
                <a:sym typeface="Times New Roman"/>
              </a:rPr>
              <a:t>I am writing this email to suggest different strategies that can be adapted in English lab sessions for better learning of language and communication skills. (</a:t>
            </a:r>
            <a:r>
              <a:rPr lang="en-US" sz="1900" b="1" dirty="0">
                <a:latin typeface="Times New Roman"/>
                <a:ea typeface="Times New Roman"/>
                <a:cs typeface="Times New Roman"/>
                <a:sym typeface="Times New Roman"/>
              </a:rPr>
              <a:t>Purpose</a:t>
            </a:r>
            <a:r>
              <a:rPr lang="en-US" sz="1900" dirty="0">
                <a:latin typeface="Times New Roman"/>
                <a:ea typeface="Times New Roman"/>
                <a:cs typeface="Times New Roman"/>
                <a:sym typeface="Times New Roman"/>
              </a:rPr>
              <a:t>).</a:t>
            </a:r>
            <a:endParaRPr dirty="0"/>
          </a:p>
          <a:p>
            <a:pPr marL="0" lvl="0" indent="0" algn="just" rtl="0">
              <a:lnSpc>
                <a:spcPct val="90000"/>
              </a:lnSpc>
              <a:spcBef>
                <a:spcPts val="1000"/>
              </a:spcBef>
              <a:spcAft>
                <a:spcPts val="0"/>
              </a:spcAft>
              <a:buClr>
                <a:schemeClr val="dk1"/>
              </a:buClr>
              <a:buSzPts val="1900"/>
              <a:buNone/>
            </a:pPr>
            <a:endParaRPr sz="1900" dirty="0">
              <a:latin typeface="Times New Roman"/>
              <a:ea typeface="Times New Roman"/>
              <a:cs typeface="Times New Roman"/>
              <a:sym typeface="Times New Roman"/>
            </a:endParaRPr>
          </a:p>
          <a:p>
            <a:pPr marL="0" lvl="0" indent="0" algn="just" rtl="0">
              <a:lnSpc>
                <a:spcPct val="90000"/>
              </a:lnSpc>
              <a:spcBef>
                <a:spcPts val="0"/>
              </a:spcBef>
              <a:spcAft>
                <a:spcPts val="0"/>
              </a:spcAft>
              <a:buClr>
                <a:schemeClr val="dk1"/>
              </a:buClr>
              <a:buSzPts val="1900"/>
              <a:buNone/>
            </a:pPr>
            <a:r>
              <a:rPr lang="en-US" sz="1900" dirty="0">
                <a:latin typeface="Times New Roman"/>
                <a:ea typeface="Times New Roman"/>
                <a:cs typeface="Times New Roman"/>
                <a:sym typeface="Times New Roman"/>
              </a:rPr>
              <a:t>English lab sessions have been very helpful from the beginning of semester. All the new things and concepts that we learn in the course become easy, because in lab sessions we get the opportunity to implement them practically. However, all the students do not belong to a common background, therefore it gets difficult for some students to adapt to such high level English course very quickly</a:t>
            </a:r>
            <a:r>
              <a:rPr lang="en-US" sz="1900" b="1" dirty="0">
                <a:latin typeface="Times New Roman"/>
                <a:ea typeface="Times New Roman"/>
                <a:cs typeface="Times New Roman"/>
                <a:sym typeface="Times New Roman"/>
              </a:rPr>
              <a:t>. (Reasons)</a:t>
            </a:r>
            <a:endParaRPr dirty="0"/>
          </a:p>
          <a:p>
            <a:pPr marL="0" lvl="0" indent="0" algn="just" rtl="0">
              <a:lnSpc>
                <a:spcPct val="90000"/>
              </a:lnSpc>
              <a:spcBef>
                <a:spcPts val="1000"/>
              </a:spcBef>
              <a:spcAft>
                <a:spcPts val="0"/>
              </a:spcAft>
              <a:buClr>
                <a:schemeClr val="dk1"/>
              </a:buClr>
              <a:buSzPts val="1900"/>
              <a:buNone/>
            </a:pPr>
            <a:endParaRPr sz="1900" b="1" dirty="0">
              <a:latin typeface="Times New Roman"/>
              <a:ea typeface="Times New Roman"/>
              <a:cs typeface="Times New Roman"/>
              <a:sym typeface="Times New Roman"/>
            </a:endParaRPr>
          </a:p>
          <a:p>
            <a:pPr marL="0" lvl="0" indent="0" algn="just" rtl="0">
              <a:lnSpc>
                <a:spcPct val="90000"/>
              </a:lnSpc>
              <a:spcBef>
                <a:spcPts val="0"/>
              </a:spcBef>
              <a:spcAft>
                <a:spcPts val="0"/>
              </a:spcAft>
              <a:buClr>
                <a:schemeClr val="dk1"/>
              </a:buClr>
              <a:buSzPts val="1900"/>
              <a:buNone/>
            </a:pPr>
            <a:r>
              <a:rPr lang="en-US" sz="1900" dirty="0">
                <a:latin typeface="Times New Roman"/>
                <a:ea typeface="Times New Roman"/>
                <a:cs typeface="Times New Roman"/>
                <a:sym typeface="Times New Roman"/>
              </a:rPr>
              <a:t>Therefore, it is suggested to give more time so that students can understand the concept more thoroughly, and hence be able to meet the difficulty criteria. It is also proposed to provide guidelines for preparing PowerPoint slides for formal presentations</a:t>
            </a:r>
            <a:r>
              <a:rPr lang="en-US" sz="1900" b="1" dirty="0">
                <a:latin typeface="Times New Roman"/>
                <a:ea typeface="Times New Roman"/>
                <a:cs typeface="Times New Roman"/>
                <a:sym typeface="Times New Roman"/>
              </a:rPr>
              <a:t>. (Action/request)</a:t>
            </a:r>
            <a:endParaRPr dirty="0"/>
          </a:p>
          <a:p>
            <a:pPr marL="0" lvl="0" indent="0" algn="just" rtl="0">
              <a:lnSpc>
                <a:spcPct val="90000"/>
              </a:lnSpc>
              <a:spcBef>
                <a:spcPts val="1000"/>
              </a:spcBef>
              <a:spcAft>
                <a:spcPts val="0"/>
              </a:spcAft>
              <a:buClr>
                <a:schemeClr val="dk1"/>
              </a:buClr>
              <a:buSzPts val="1900"/>
              <a:buNone/>
            </a:pPr>
            <a:endParaRPr sz="1900" dirty="0">
              <a:latin typeface="Times New Roman"/>
              <a:ea typeface="Times New Roman"/>
              <a:cs typeface="Times New Roman"/>
              <a:sym typeface="Times New Roman"/>
            </a:endParaRPr>
          </a:p>
          <a:p>
            <a:pPr marL="0" lvl="0" indent="0" algn="just" rtl="0">
              <a:lnSpc>
                <a:spcPct val="90000"/>
              </a:lnSpc>
              <a:spcBef>
                <a:spcPts val="0"/>
              </a:spcBef>
              <a:spcAft>
                <a:spcPts val="0"/>
              </a:spcAft>
              <a:buClr>
                <a:schemeClr val="dk1"/>
              </a:buClr>
              <a:buSzPts val="1900"/>
              <a:buNone/>
            </a:pPr>
            <a:r>
              <a:rPr lang="en-US" sz="1900" dirty="0">
                <a:latin typeface="Times New Roman"/>
                <a:ea typeface="Times New Roman"/>
                <a:cs typeface="Times New Roman"/>
                <a:sym typeface="Times New Roman"/>
              </a:rPr>
              <a:t>Thank you for your time, I hope you will find these suggestions worth adopting. </a:t>
            </a:r>
            <a:r>
              <a:rPr lang="en-US" sz="1900" b="1" dirty="0">
                <a:latin typeface="Times New Roman"/>
                <a:ea typeface="Times New Roman"/>
                <a:cs typeface="Times New Roman"/>
                <a:sym typeface="Times New Roman"/>
              </a:rPr>
              <a:t>(Closing)</a:t>
            </a:r>
            <a:endParaRPr dirty="0"/>
          </a:p>
          <a:p>
            <a:pPr marL="0" lvl="0" indent="0" algn="just" rtl="0">
              <a:lnSpc>
                <a:spcPct val="150000"/>
              </a:lnSpc>
              <a:spcBef>
                <a:spcPts val="1000"/>
              </a:spcBef>
              <a:spcAft>
                <a:spcPts val="0"/>
              </a:spcAft>
              <a:buClr>
                <a:schemeClr val="dk1"/>
              </a:buClr>
              <a:buSzPts val="1900"/>
              <a:buNone/>
            </a:pPr>
            <a:r>
              <a:rPr lang="en-US" sz="1900" dirty="0">
                <a:latin typeface="Times New Roman"/>
                <a:ea typeface="Times New Roman"/>
                <a:cs typeface="Times New Roman"/>
                <a:sym typeface="Times New Roman"/>
              </a:rPr>
              <a:t>Regards,</a:t>
            </a:r>
            <a:endParaRPr dirty="0"/>
          </a:p>
          <a:p>
            <a:pPr marL="0" lvl="0" indent="0" algn="just" rtl="0">
              <a:lnSpc>
                <a:spcPct val="90000"/>
              </a:lnSpc>
              <a:spcBef>
                <a:spcPts val="0"/>
              </a:spcBef>
              <a:spcAft>
                <a:spcPts val="0"/>
              </a:spcAft>
              <a:buClr>
                <a:schemeClr val="dk1"/>
              </a:buClr>
              <a:buSzPts val="1900"/>
              <a:buNone/>
            </a:pPr>
            <a:r>
              <a:rPr lang="en-US" sz="1900" dirty="0">
                <a:latin typeface="Times New Roman"/>
                <a:ea typeface="Times New Roman"/>
                <a:cs typeface="Times New Roman"/>
                <a:sym typeface="Times New Roman"/>
              </a:rPr>
              <a:t>XYZ</a:t>
            </a:r>
            <a:endParaRPr dirty="0"/>
          </a:p>
          <a:p>
            <a:pPr marL="0" lvl="0" indent="0" algn="just" rtl="0">
              <a:lnSpc>
                <a:spcPct val="90000"/>
              </a:lnSpc>
              <a:spcBef>
                <a:spcPts val="0"/>
              </a:spcBef>
              <a:spcAft>
                <a:spcPts val="0"/>
              </a:spcAft>
              <a:buClr>
                <a:schemeClr val="dk1"/>
              </a:buClr>
              <a:buSzPts val="1900"/>
              <a:buNone/>
            </a:pPr>
            <a:r>
              <a:rPr lang="en-US" sz="1900" dirty="0">
                <a:latin typeface="Times New Roman"/>
                <a:ea typeface="Times New Roman"/>
                <a:cs typeface="Times New Roman"/>
                <a:sym typeface="Times New Roman"/>
              </a:rPr>
              <a:t>Section:			Roll no.:</a:t>
            </a:r>
            <a:endParaRPr dirty="0"/>
          </a:p>
        </p:txBody>
      </p:sp>
      <p:sp>
        <p:nvSpPr>
          <p:cNvPr id="122" name="Google Shape;122;p7"/>
          <p:cNvSpPr/>
          <p:nvPr/>
        </p:nvSpPr>
        <p:spPr>
          <a:xfrm flipH="1">
            <a:off x="601980" y="1195235"/>
            <a:ext cx="1981200" cy="457200"/>
          </a:xfrm>
          <a:prstGeom prst="wedgeEllipseCallout">
            <a:avLst>
              <a:gd name="adj1" fmla="val -20833"/>
              <a:gd name="adj2" fmla="val 62500"/>
            </a:avLst>
          </a:prstGeom>
          <a:solidFill>
            <a:srgbClr val="F2F2F2"/>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123" name="Google Shape;123;p7"/>
          <p:cNvSpPr txBox="1"/>
          <p:nvPr/>
        </p:nvSpPr>
        <p:spPr>
          <a:xfrm>
            <a:off x="830580" y="1233170"/>
            <a:ext cx="1676400" cy="338138"/>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1" i="0" u="none" strike="noStrike" kern="0" cap="none" spc="0" normalizeH="0" baseline="0" noProof="0">
                <a:ln>
                  <a:noFill/>
                </a:ln>
                <a:solidFill>
                  <a:srgbClr val="000000"/>
                </a:solidFill>
                <a:effectLst/>
                <a:uLnTx/>
                <a:uFillTx/>
                <a:latin typeface="Calibri"/>
                <a:ea typeface="Calibri"/>
                <a:cs typeface="Calibri"/>
                <a:sym typeface="Calibri"/>
              </a:rPr>
              <a:t>Explain Purpose</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4" name="Google Shape;124;p7"/>
          <p:cNvSpPr/>
          <p:nvPr/>
        </p:nvSpPr>
        <p:spPr>
          <a:xfrm flipH="1">
            <a:off x="640080" y="2393713"/>
            <a:ext cx="2057400" cy="457200"/>
          </a:xfrm>
          <a:prstGeom prst="wedgeEllipseCallout">
            <a:avLst>
              <a:gd name="adj1" fmla="val -20833"/>
              <a:gd name="adj2" fmla="val 62500"/>
            </a:avLst>
          </a:prstGeom>
          <a:solidFill>
            <a:srgbClr val="F2F2F2"/>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125" name="Google Shape;125;p7"/>
          <p:cNvSpPr txBox="1"/>
          <p:nvPr/>
        </p:nvSpPr>
        <p:spPr>
          <a:xfrm>
            <a:off x="716280" y="2454039"/>
            <a:ext cx="1981200" cy="338137"/>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1" i="0" u="none" strike="noStrike" kern="0" cap="none" spc="0" normalizeH="0" baseline="0" noProof="0">
                <a:ln>
                  <a:noFill/>
                </a:ln>
                <a:solidFill>
                  <a:srgbClr val="000000"/>
                </a:solidFill>
                <a:effectLst/>
                <a:uLnTx/>
                <a:uFillTx/>
                <a:latin typeface="Calibri"/>
                <a:ea typeface="Calibri"/>
                <a:cs typeface="Calibri"/>
                <a:sym typeface="Calibri"/>
              </a:rPr>
              <a:t>Give reason for leave</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6" name="Google Shape;126;p7"/>
          <p:cNvSpPr/>
          <p:nvPr/>
        </p:nvSpPr>
        <p:spPr>
          <a:xfrm flipH="1">
            <a:off x="426720" y="3607953"/>
            <a:ext cx="2423160" cy="979809"/>
          </a:xfrm>
          <a:prstGeom prst="wedgeEllipseCallout">
            <a:avLst>
              <a:gd name="adj1" fmla="val -20833"/>
              <a:gd name="adj2" fmla="val 62500"/>
            </a:avLst>
          </a:prstGeom>
          <a:solidFill>
            <a:srgbClr val="F2F2F2"/>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127" name="Google Shape;127;p7"/>
          <p:cNvSpPr txBox="1"/>
          <p:nvPr/>
        </p:nvSpPr>
        <p:spPr>
          <a:xfrm>
            <a:off x="299412" y="3686151"/>
            <a:ext cx="2644140" cy="786754"/>
          </a:xfrm>
          <a:prstGeom prst="rect">
            <a:avLst/>
          </a:prstGeom>
          <a:noFill/>
          <a:ln>
            <a:noFill/>
          </a:ln>
        </p:spPr>
        <p:txBody>
          <a:bodyPr spcFirstLastPara="1" wrap="square" lIns="91425" tIns="45700" rIns="91425" bIns="45700" anchor="t" anchorCtr="0">
            <a:spAutoFit/>
          </a:bodyPr>
          <a:lstStyle/>
          <a:p>
            <a:pPr marL="457200" marR="0" lvl="1" indent="0" algn="l" defTabSz="914400" rtl="0" eaLnBrk="1" fontAlgn="auto" latinLnBrk="0" hangingPunct="1">
              <a:lnSpc>
                <a:spcPct val="150000"/>
              </a:lnSpc>
              <a:spcBef>
                <a:spcPts val="0"/>
              </a:spcBef>
              <a:spcAft>
                <a:spcPts val="0"/>
              </a:spcAft>
              <a:buClr>
                <a:srgbClr val="000000"/>
              </a:buClr>
              <a:buSzPts val="1600"/>
              <a:buFont typeface="Arial"/>
              <a:buNone/>
              <a:tabLst/>
              <a:defRPr/>
            </a:pPr>
            <a:r>
              <a:rPr kumimoji="0" lang="en-US" sz="16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Details &amp; Suggested Action/Request</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 name="Google Shape;128;p7"/>
          <p:cNvSpPr/>
          <p:nvPr/>
        </p:nvSpPr>
        <p:spPr>
          <a:xfrm flipH="1">
            <a:off x="716280" y="4987884"/>
            <a:ext cx="2057400" cy="457200"/>
          </a:xfrm>
          <a:prstGeom prst="wedgeEllipseCallout">
            <a:avLst>
              <a:gd name="adj1" fmla="val -20833"/>
              <a:gd name="adj2" fmla="val 62500"/>
            </a:avLst>
          </a:prstGeom>
          <a:solidFill>
            <a:srgbClr val="F2F2F2"/>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129" name="Google Shape;129;p7"/>
          <p:cNvSpPr txBox="1"/>
          <p:nvPr/>
        </p:nvSpPr>
        <p:spPr>
          <a:xfrm>
            <a:off x="640080" y="5064084"/>
            <a:ext cx="2430780" cy="33855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1" i="0" u="none" strike="noStrike" kern="0" cap="none" spc="0" normalizeH="0" baseline="0" noProof="0">
                <a:ln>
                  <a:noFill/>
                </a:ln>
                <a:solidFill>
                  <a:srgbClr val="000000"/>
                </a:solidFill>
                <a:effectLst/>
                <a:uLnTx/>
                <a:uFillTx/>
                <a:latin typeface="Calibri"/>
                <a:ea typeface="Calibri"/>
                <a:cs typeface="Calibri"/>
                <a:sym typeface="Calibri"/>
              </a:rPr>
              <a:t>Complementary Closure</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 name="Google Shape;130;p7"/>
          <p:cNvSpPr/>
          <p:nvPr/>
        </p:nvSpPr>
        <p:spPr>
          <a:xfrm>
            <a:off x="426720" y="198120"/>
            <a:ext cx="2270760" cy="588963"/>
          </a:xfrm>
          <a:prstGeom prst="wedgeRectCallout">
            <a:avLst>
              <a:gd name="adj1" fmla="val -20833"/>
              <a:gd name="adj2" fmla="val 62500"/>
            </a:avLst>
          </a:prstGeom>
          <a:solidFill>
            <a:srgbClr val="F2F2F2"/>
          </a:solidFill>
          <a:ln w="12700" cap="flat" cmpd="sng">
            <a:solidFill>
              <a:schemeClr val="accent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1" i="0" u="none" strike="noStrike" kern="0" cap="none" spc="0" normalizeH="0" baseline="0" noProof="0">
                <a:ln>
                  <a:noFill/>
                </a:ln>
                <a:solidFill>
                  <a:srgbClr val="000000"/>
                </a:solidFill>
                <a:effectLst/>
                <a:uLnTx/>
                <a:uFillTx/>
                <a:latin typeface="Calibri"/>
                <a:ea typeface="Calibri"/>
                <a:cs typeface="Calibri"/>
                <a:sym typeface="Calibri"/>
              </a:rPr>
              <a:t>Subject &amp; </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1" i="0" u="none" strike="noStrike" kern="0" cap="none" spc="0" normalizeH="0" baseline="0" noProof="0">
                <a:ln>
                  <a:noFill/>
                </a:ln>
                <a:solidFill>
                  <a:srgbClr val="000000"/>
                </a:solidFill>
                <a:effectLst/>
                <a:uLnTx/>
                <a:uFillTx/>
                <a:latin typeface="Calibri"/>
                <a:ea typeface="Calibri"/>
                <a:cs typeface="Calibri"/>
                <a:sym typeface="Calibri"/>
              </a:rPr>
              <a:t>Salutation</a:t>
            </a:r>
            <a:endParaRPr kumimoji="0" sz="2400" b="1"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1" name="Google Shape;131;p7"/>
          <p:cNvSpPr/>
          <p:nvPr/>
        </p:nvSpPr>
        <p:spPr>
          <a:xfrm flipH="1">
            <a:off x="723900" y="5829774"/>
            <a:ext cx="2057400" cy="457200"/>
          </a:xfrm>
          <a:prstGeom prst="wedgeEllipseCallout">
            <a:avLst>
              <a:gd name="adj1" fmla="val -20833"/>
              <a:gd name="adj2" fmla="val 62500"/>
            </a:avLst>
          </a:prstGeom>
          <a:solidFill>
            <a:srgbClr val="F2F2F2"/>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132" name="Google Shape;132;p7"/>
          <p:cNvSpPr txBox="1"/>
          <p:nvPr/>
        </p:nvSpPr>
        <p:spPr>
          <a:xfrm>
            <a:off x="876300" y="5905974"/>
            <a:ext cx="1676400" cy="338138"/>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1" i="0" u="none" strike="noStrike" kern="0" cap="none" spc="0" normalizeH="0" baseline="0" noProof="0">
                <a:ln>
                  <a:noFill/>
                </a:ln>
                <a:solidFill>
                  <a:srgbClr val="000000"/>
                </a:solidFill>
                <a:effectLst/>
                <a:uLnTx/>
                <a:uFillTx/>
                <a:latin typeface="Calibri"/>
                <a:ea typeface="Calibri"/>
                <a:cs typeface="Calibri"/>
                <a:sym typeface="Calibri"/>
              </a:rPr>
              <a:t>Subscription</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2673043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0"/>
                                        </p:tgtEl>
                                        <p:attrNameLst>
                                          <p:attrName>style.visibility</p:attrName>
                                        </p:attrNameLst>
                                      </p:cBhvr>
                                      <p:to>
                                        <p:strVal val="visible"/>
                                      </p:to>
                                    </p:set>
                                    <p:animEffect transition="in" filter="fade">
                                      <p:cBhvr>
                                        <p:cTn id="7" dur="500"/>
                                        <p:tgtEl>
                                          <p:spTgt spid="1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2"/>
                                        </p:tgtEl>
                                        <p:attrNameLst>
                                          <p:attrName>style.visibility</p:attrName>
                                        </p:attrNameLst>
                                      </p:cBhvr>
                                      <p:to>
                                        <p:strVal val="visible"/>
                                      </p:to>
                                    </p:set>
                                    <p:animEffect transition="in" filter="fade">
                                      <p:cBhvr>
                                        <p:cTn id="12" dur="500"/>
                                        <p:tgtEl>
                                          <p:spTgt spid="122"/>
                                        </p:tgtEl>
                                      </p:cBhvr>
                                    </p:animEffect>
                                  </p:childTnLst>
                                </p:cTn>
                              </p:par>
                              <p:par>
                                <p:cTn id="13" presetID="10" presetClass="entr" presetSubtype="0" fill="hold" nodeType="withEffect">
                                  <p:stCondLst>
                                    <p:cond delay="0"/>
                                  </p:stCondLst>
                                  <p:childTnLst>
                                    <p:set>
                                      <p:cBhvr>
                                        <p:cTn id="14" dur="1" fill="hold">
                                          <p:stCondLst>
                                            <p:cond delay="0"/>
                                          </p:stCondLst>
                                        </p:cTn>
                                        <p:tgtEl>
                                          <p:spTgt spid="123"/>
                                        </p:tgtEl>
                                        <p:attrNameLst>
                                          <p:attrName>style.visibility</p:attrName>
                                        </p:attrNameLst>
                                      </p:cBhvr>
                                      <p:to>
                                        <p:strVal val="visible"/>
                                      </p:to>
                                    </p:set>
                                    <p:animEffect transition="in" filter="fade">
                                      <p:cBhvr>
                                        <p:cTn id="15" dur="500"/>
                                        <p:tgtEl>
                                          <p:spTgt spid="12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24"/>
                                        </p:tgtEl>
                                        <p:attrNameLst>
                                          <p:attrName>style.visibility</p:attrName>
                                        </p:attrNameLst>
                                      </p:cBhvr>
                                      <p:to>
                                        <p:strVal val="visible"/>
                                      </p:to>
                                    </p:set>
                                    <p:animEffect transition="in" filter="fade">
                                      <p:cBhvr>
                                        <p:cTn id="20" dur="500"/>
                                        <p:tgtEl>
                                          <p:spTgt spid="124"/>
                                        </p:tgtEl>
                                      </p:cBhvr>
                                    </p:animEffect>
                                  </p:childTnLst>
                                </p:cTn>
                              </p:par>
                              <p:par>
                                <p:cTn id="21" presetID="10" presetClass="entr" presetSubtype="0" fill="hold" nodeType="withEffect">
                                  <p:stCondLst>
                                    <p:cond delay="0"/>
                                  </p:stCondLst>
                                  <p:childTnLst>
                                    <p:set>
                                      <p:cBhvr>
                                        <p:cTn id="22" dur="1" fill="hold">
                                          <p:stCondLst>
                                            <p:cond delay="0"/>
                                          </p:stCondLst>
                                        </p:cTn>
                                        <p:tgtEl>
                                          <p:spTgt spid="125"/>
                                        </p:tgtEl>
                                        <p:attrNameLst>
                                          <p:attrName>style.visibility</p:attrName>
                                        </p:attrNameLst>
                                      </p:cBhvr>
                                      <p:to>
                                        <p:strVal val="visible"/>
                                      </p:to>
                                    </p:set>
                                    <p:animEffect transition="in" filter="fade">
                                      <p:cBhvr>
                                        <p:cTn id="23" dur="500"/>
                                        <p:tgtEl>
                                          <p:spTgt spid="12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26"/>
                                        </p:tgtEl>
                                        <p:attrNameLst>
                                          <p:attrName>style.visibility</p:attrName>
                                        </p:attrNameLst>
                                      </p:cBhvr>
                                      <p:to>
                                        <p:strVal val="visible"/>
                                      </p:to>
                                    </p:set>
                                    <p:animEffect transition="in" filter="fade">
                                      <p:cBhvr>
                                        <p:cTn id="28" dur="500"/>
                                        <p:tgtEl>
                                          <p:spTgt spid="126"/>
                                        </p:tgtEl>
                                      </p:cBhvr>
                                    </p:animEffect>
                                  </p:childTnLst>
                                </p:cTn>
                              </p:par>
                              <p:par>
                                <p:cTn id="29" presetID="10" presetClass="entr" presetSubtype="0" fill="hold" nodeType="withEffect">
                                  <p:stCondLst>
                                    <p:cond delay="0"/>
                                  </p:stCondLst>
                                  <p:childTnLst>
                                    <p:set>
                                      <p:cBhvr>
                                        <p:cTn id="30" dur="1" fill="hold">
                                          <p:stCondLst>
                                            <p:cond delay="0"/>
                                          </p:stCondLst>
                                        </p:cTn>
                                        <p:tgtEl>
                                          <p:spTgt spid="127"/>
                                        </p:tgtEl>
                                        <p:attrNameLst>
                                          <p:attrName>style.visibility</p:attrName>
                                        </p:attrNameLst>
                                      </p:cBhvr>
                                      <p:to>
                                        <p:strVal val="visible"/>
                                      </p:to>
                                    </p:set>
                                    <p:animEffect transition="in" filter="fade">
                                      <p:cBhvr>
                                        <p:cTn id="31" dur="500"/>
                                        <p:tgtEl>
                                          <p:spTgt spid="127"/>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28"/>
                                        </p:tgtEl>
                                        <p:attrNameLst>
                                          <p:attrName>style.visibility</p:attrName>
                                        </p:attrNameLst>
                                      </p:cBhvr>
                                      <p:to>
                                        <p:strVal val="visible"/>
                                      </p:to>
                                    </p:set>
                                    <p:animEffect transition="in" filter="fade">
                                      <p:cBhvr>
                                        <p:cTn id="36" dur="500"/>
                                        <p:tgtEl>
                                          <p:spTgt spid="128"/>
                                        </p:tgtEl>
                                      </p:cBhvr>
                                    </p:animEffect>
                                  </p:childTnLst>
                                </p:cTn>
                              </p:par>
                              <p:par>
                                <p:cTn id="37" presetID="10" presetClass="entr" presetSubtype="0" fill="hold" nodeType="withEffect">
                                  <p:stCondLst>
                                    <p:cond delay="0"/>
                                  </p:stCondLst>
                                  <p:childTnLst>
                                    <p:set>
                                      <p:cBhvr>
                                        <p:cTn id="38" dur="1" fill="hold">
                                          <p:stCondLst>
                                            <p:cond delay="0"/>
                                          </p:stCondLst>
                                        </p:cTn>
                                        <p:tgtEl>
                                          <p:spTgt spid="129"/>
                                        </p:tgtEl>
                                        <p:attrNameLst>
                                          <p:attrName>style.visibility</p:attrName>
                                        </p:attrNameLst>
                                      </p:cBhvr>
                                      <p:to>
                                        <p:strVal val="visible"/>
                                      </p:to>
                                    </p:set>
                                    <p:animEffect transition="in" filter="fade">
                                      <p:cBhvr>
                                        <p:cTn id="39" dur="500"/>
                                        <p:tgtEl>
                                          <p:spTgt spid="129"/>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31"/>
                                        </p:tgtEl>
                                        <p:attrNameLst>
                                          <p:attrName>style.visibility</p:attrName>
                                        </p:attrNameLst>
                                      </p:cBhvr>
                                      <p:to>
                                        <p:strVal val="visible"/>
                                      </p:to>
                                    </p:set>
                                    <p:animEffect transition="in" filter="fade">
                                      <p:cBhvr>
                                        <p:cTn id="44" dur="500"/>
                                        <p:tgtEl>
                                          <p:spTgt spid="131"/>
                                        </p:tgtEl>
                                      </p:cBhvr>
                                    </p:animEffect>
                                  </p:childTnLst>
                                </p:cTn>
                              </p:par>
                              <p:par>
                                <p:cTn id="45" presetID="10" presetClass="entr" presetSubtype="0" fill="hold" nodeType="withEffect">
                                  <p:stCondLst>
                                    <p:cond delay="0"/>
                                  </p:stCondLst>
                                  <p:childTnLst>
                                    <p:set>
                                      <p:cBhvr>
                                        <p:cTn id="46" dur="1" fill="hold">
                                          <p:stCondLst>
                                            <p:cond delay="0"/>
                                          </p:stCondLst>
                                        </p:cTn>
                                        <p:tgtEl>
                                          <p:spTgt spid="132"/>
                                        </p:tgtEl>
                                        <p:attrNameLst>
                                          <p:attrName>style.visibility</p:attrName>
                                        </p:attrNameLst>
                                      </p:cBhvr>
                                      <p:to>
                                        <p:strVal val="visible"/>
                                      </p:to>
                                    </p:set>
                                    <p:animEffect transition="in" filter="fade">
                                      <p:cBhvr>
                                        <p:cTn id="47" dur="500"/>
                                        <p:tgtEl>
                                          <p:spTgt spid="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graphicFrame>
        <p:nvGraphicFramePr>
          <p:cNvPr id="137" name="Google Shape;137;p8"/>
          <p:cNvGraphicFramePr/>
          <p:nvPr/>
        </p:nvGraphicFramePr>
        <p:xfrm>
          <a:off x="1981200" y="381000"/>
          <a:ext cx="8305800" cy="6427800"/>
        </p:xfrm>
        <a:graphic>
          <a:graphicData uri="http://schemas.openxmlformats.org/drawingml/2006/table">
            <a:tbl>
              <a:tblPr>
                <a:noFill/>
              </a:tblPr>
              <a:tblGrid>
                <a:gridCol w="1691925">
                  <a:extLst>
                    <a:ext uri="{9D8B030D-6E8A-4147-A177-3AD203B41FA5}">
                      <a16:colId xmlns:a16="http://schemas.microsoft.com/office/drawing/2014/main" val="20000"/>
                    </a:ext>
                  </a:extLst>
                </a:gridCol>
                <a:gridCol w="5654825">
                  <a:extLst>
                    <a:ext uri="{9D8B030D-6E8A-4147-A177-3AD203B41FA5}">
                      <a16:colId xmlns:a16="http://schemas.microsoft.com/office/drawing/2014/main" val="20001"/>
                    </a:ext>
                  </a:extLst>
                </a:gridCol>
                <a:gridCol w="959050">
                  <a:extLst>
                    <a:ext uri="{9D8B030D-6E8A-4147-A177-3AD203B41FA5}">
                      <a16:colId xmlns:a16="http://schemas.microsoft.com/office/drawing/2014/main" val="20002"/>
                    </a:ext>
                  </a:extLst>
                </a:gridCol>
              </a:tblGrid>
              <a:tr h="1388575">
                <a:tc>
                  <a:txBody>
                    <a:bodyPr/>
                    <a:lstStyle/>
                    <a:p>
                      <a:pPr marL="0" marR="0" lvl="0" indent="0" algn="ctr" rtl="0">
                        <a:lnSpc>
                          <a:spcPct val="107000"/>
                        </a:lnSpc>
                        <a:spcBef>
                          <a:spcPts val="0"/>
                        </a:spcBef>
                        <a:spcAft>
                          <a:spcPts val="0"/>
                        </a:spcAft>
                        <a:buNone/>
                      </a:pPr>
                      <a:r>
                        <a:rPr lang="en-US" sz="2000" u="none" strike="noStrike" cap="none">
                          <a:latin typeface="Times New Roman"/>
                          <a:ea typeface="Times New Roman"/>
                          <a:cs typeface="Times New Roman"/>
                          <a:sym typeface="Times New Roman"/>
                        </a:rPr>
                        <a:t>FORMAT</a:t>
                      </a:r>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None/>
                      </a:pPr>
                      <a:r>
                        <a:rPr lang="en-US" sz="2000" u="none" strike="noStrike" cap="none">
                          <a:latin typeface="Times New Roman"/>
                          <a:ea typeface="Times New Roman"/>
                          <a:cs typeface="Times New Roman"/>
                          <a:sym typeface="Times New Roman"/>
                        </a:rPr>
                        <a:t>Specific Subject</a:t>
                      </a:r>
                      <a:endParaRPr/>
                    </a:p>
                    <a:p>
                      <a:pPr marL="0" marR="0" lvl="0" indent="0" algn="l" rtl="0">
                        <a:lnSpc>
                          <a:spcPct val="107000"/>
                        </a:lnSpc>
                        <a:spcBef>
                          <a:spcPts val="0"/>
                        </a:spcBef>
                        <a:spcAft>
                          <a:spcPts val="0"/>
                        </a:spcAft>
                        <a:buNone/>
                      </a:pPr>
                      <a:r>
                        <a:rPr lang="en-US" sz="2000" u="none" strike="noStrike" cap="none">
                          <a:latin typeface="Times New Roman"/>
                          <a:ea typeface="Times New Roman"/>
                          <a:cs typeface="Times New Roman"/>
                          <a:sym typeface="Times New Roman"/>
                        </a:rPr>
                        <a:t>Salutation</a:t>
                      </a:r>
                      <a:endParaRPr/>
                    </a:p>
                    <a:p>
                      <a:pPr marL="0" marR="0" lvl="0" indent="0" algn="l" rtl="0">
                        <a:lnSpc>
                          <a:spcPct val="107000"/>
                        </a:lnSpc>
                        <a:spcBef>
                          <a:spcPts val="0"/>
                        </a:spcBef>
                        <a:spcAft>
                          <a:spcPts val="0"/>
                        </a:spcAft>
                        <a:buNone/>
                      </a:pPr>
                      <a:r>
                        <a:rPr lang="en-US" sz="2000" u="none" strike="noStrike" cap="none">
                          <a:latin typeface="Times New Roman"/>
                          <a:ea typeface="Times New Roman"/>
                          <a:cs typeface="Times New Roman"/>
                          <a:sym typeface="Times New Roman"/>
                        </a:rPr>
                        <a:t>( introduction, body and conclusion)</a:t>
                      </a:r>
                      <a:endParaRPr/>
                    </a:p>
                    <a:p>
                      <a:pPr marL="0" marR="0" lvl="0" indent="0" algn="l" rtl="0">
                        <a:lnSpc>
                          <a:spcPct val="107000"/>
                        </a:lnSpc>
                        <a:spcBef>
                          <a:spcPts val="0"/>
                        </a:spcBef>
                        <a:spcAft>
                          <a:spcPts val="0"/>
                        </a:spcAft>
                        <a:buNone/>
                      </a:pPr>
                      <a:r>
                        <a:rPr lang="en-US" sz="2000" u="none" strike="noStrike" cap="none">
                          <a:latin typeface="Times New Roman"/>
                          <a:ea typeface="Times New Roman"/>
                          <a:cs typeface="Times New Roman"/>
                          <a:sym typeface="Times New Roman"/>
                        </a:rPr>
                        <a:t>Closing</a:t>
                      </a:r>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US" sz="2000" u="none" strike="noStrike" cap="none">
                          <a:latin typeface="Times New Roman"/>
                          <a:ea typeface="Times New Roman"/>
                          <a:cs typeface="Times New Roman"/>
                          <a:sym typeface="Times New Roman"/>
                        </a:rPr>
                        <a:t>0 – 3</a:t>
                      </a:r>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879125">
                <a:tc rowSpan="3">
                  <a:txBody>
                    <a:bodyPr/>
                    <a:lstStyle/>
                    <a:p>
                      <a:pPr marL="0" marR="0" lvl="0" indent="0" algn="ctr" rtl="0">
                        <a:lnSpc>
                          <a:spcPct val="107000"/>
                        </a:lnSpc>
                        <a:spcBef>
                          <a:spcPts val="0"/>
                        </a:spcBef>
                        <a:spcAft>
                          <a:spcPts val="0"/>
                        </a:spcAft>
                        <a:buNone/>
                      </a:pPr>
                      <a:r>
                        <a:rPr lang="en-US" sz="2000" u="none" strike="noStrike" cap="none">
                          <a:latin typeface="Times New Roman"/>
                          <a:ea typeface="Times New Roman"/>
                          <a:cs typeface="Times New Roman"/>
                          <a:sym typeface="Times New Roman"/>
                        </a:rPr>
                        <a:t> </a:t>
                      </a:r>
                      <a:endParaRPr/>
                    </a:p>
                    <a:p>
                      <a:pPr marL="0" marR="0" lvl="0" indent="0" algn="ctr" rtl="0">
                        <a:lnSpc>
                          <a:spcPct val="107000"/>
                        </a:lnSpc>
                        <a:spcBef>
                          <a:spcPts val="0"/>
                        </a:spcBef>
                        <a:spcAft>
                          <a:spcPts val="0"/>
                        </a:spcAft>
                        <a:buNone/>
                      </a:pPr>
                      <a:r>
                        <a:rPr lang="en-US" sz="2000" u="none" strike="noStrike" cap="none">
                          <a:latin typeface="Times New Roman"/>
                          <a:ea typeface="Times New Roman"/>
                          <a:cs typeface="Times New Roman"/>
                          <a:sym typeface="Times New Roman"/>
                        </a:rPr>
                        <a:t> </a:t>
                      </a:r>
                      <a:endParaRPr/>
                    </a:p>
                    <a:p>
                      <a:pPr marL="0" marR="0" lvl="0" indent="0" algn="ctr" rtl="0">
                        <a:lnSpc>
                          <a:spcPct val="107000"/>
                        </a:lnSpc>
                        <a:spcBef>
                          <a:spcPts val="0"/>
                        </a:spcBef>
                        <a:spcAft>
                          <a:spcPts val="0"/>
                        </a:spcAft>
                        <a:buNone/>
                      </a:pPr>
                      <a:r>
                        <a:rPr lang="en-US" sz="2000" u="none" strike="noStrike" cap="none">
                          <a:latin typeface="Times New Roman"/>
                          <a:ea typeface="Times New Roman"/>
                          <a:cs typeface="Times New Roman"/>
                          <a:sym typeface="Times New Roman"/>
                        </a:rPr>
                        <a:t> </a:t>
                      </a:r>
                      <a:endParaRPr/>
                    </a:p>
                    <a:p>
                      <a:pPr marL="0" marR="0" lvl="0" indent="0" algn="ctr" rtl="0">
                        <a:lnSpc>
                          <a:spcPct val="107000"/>
                        </a:lnSpc>
                        <a:spcBef>
                          <a:spcPts val="0"/>
                        </a:spcBef>
                        <a:spcAft>
                          <a:spcPts val="0"/>
                        </a:spcAft>
                        <a:buNone/>
                      </a:pPr>
                      <a:r>
                        <a:rPr lang="en-US" sz="2000" u="none" strike="noStrike" cap="none">
                          <a:latin typeface="Times New Roman"/>
                          <a:ea typeface="Times New Roman"/>
                          <a:cs typeface="Times New Roman"/>
                          <a:sym typeface="Times New Roman"/>
                        </a:rPr>
                        <a:t>CONTENT</a:t>
                      </a:r>
                      <a:endParaRPr/>
                    </a:p>
                    <a:p>
                      <a:pPr marL="0" marR="0" lvl="0" indent="0" algn="ctr" rtl="0">
                        <a:lnSpc>
                          <a:spcPct val="107000"/>
                        </a:lnSpc>
                        <a:spcBef>
                          <a:spcPts val="0"/>
                        </a:spcBef>
                        <a:spcAft>
                          <a:spcPts val="0"/>
                        </a:spcAft>
                        <a:buNone/>
                      </a:pPr>
                      <a:r>
                        <a:rPr lang="en-US" sz="2000" u="none" strike="noStrike" cap="none">
                          <a:latin typeface="Times New Roman"/>
                          <a:ea typeface="Times New Roman"/>
                          <a:cs typeface="Times New Roman"/>
                          <a:sym typeface="Times New Roman"/>
                        </a:rPr>
                        <a:t>QUALITY</a:t>
                      </a:r>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rowSpan="3">
                  <a:txBody>
                    <a:bodyPr/>
                    <a:lstStyle/>
                    <a:p>
                      <a:pPr marL="0" marR="0" lvl="0" indent="0" algn="l" rtl="0">
                        <a:lnSpc>
                          <a:spcPct val="107000"/>
                        </a:lnSpc>
                        <a:spcBef>
                          <a:spcPts val="0"/>
                        </a:spcBef>
                        <a:spcAft>
                          <a:spcPts val="0"/>
                        </a:spcAft>
                        <a:buNone/>
                      </a:pPr>
                      <a:r>
                        <a:rPr lang="en-US" sz="2000" b="1" u="none" strike="noStrike" cap="none">
                          <a:latin typeface="Times New Roman"/>
                          <a:ea typeface="Times New Roman"/>
                          <a:cs typeface="Times New Roman"/>
                          <a:sym typeface="Times New Roman"/>
                        </a:rPr>
                        <a:t>Introduction</a:t>
                      </a:r>
                      <a:endParaRPr sz="2000" u="none" strike="noStrike" cap="none">
                        <a:latin typeface="Times New Roman"/>
                        <a:ea typeface="Times New Roman"/>
                        <a:cs typeface="Times New Roman"/>
                        <a:sym typeface="Times New Roman"/>
                      </a:endParaRPr>
                    </a:p>
                    <a:p>
                      <a:pPr marL="0" marR="0" lvl="0" indent="0" algn="l" rtl="0">
                        <a:lnSpc>
                          <a:spcPct val="107000"/>
                        </a:lnSpc>
                        <a:spcBef>
                          <a:spcPts val="0"/>
                        </a:spcBef>
                        <a:spcAft>
                          <a:spcPts val="0"/>
                        </a:spcAft>
                        <a:buNone/>
                      </a:pPr>
                      <a:r>
                        <a:rPr lang="en-US" sz="2000" u="none" strike="noStrike" cap="none">
                          <a:latin typeface="Times New Roman"/>
                          <a:ea typeface="Times New Roman"/>
                          <a:cs typeface="Times New Roman"/>
                          <a:sym typeface="Times New Roman"/>
                        </a:rPr>
                        <a:t>Purpose statement</a:t>
                      </a:r>
                      <a:endParaRPr/>
                    </a:p>
                    <a:p>
                      <a:pPr marL="0" marR="0" lvl="0" indent="0" algn="l" rtl="0">
                        <a:lnSpc>
                          <a:spcPct val="107000"/>
                        </a:lnSpc>
                        <a:spcBef>
                          <a:spcPts val="0"/>
                        </a:spcBef>
                        <a:spcAft>
                          <a:spcPts val="0"/>
                        </a:spcAft>
                        <a:buNone/>
                      </a:pPr>
                      <a:r>
                        <a:rPr lang="en-US" sz="2000" b="1" u="none" strike="noStrike" cap="none">
                          <a:latin typeface="Times New Roman"/>
                          <a:ea typeface="Times New Roman"/>
                          <a:cs typeface="Times New Roman"/>
                          <a:sym typeface="Times New Roman"/>
                        </a:rPr>
                        <a:t>Main Body</a:t>
                      </a:r>
                      <a:endParaRPr sz="2000" u="none" strike="noStrike" cap="none">
                        <a:latin typeface="Times New Roman"/>
                        <a:ea typeface="Times New Roman"/>
                        <a:cs typeface="Times New Roman"/>
                        <a:sym typeface="Times New Roman"/>
                      </a:endParaRPr>
                    </a:p>
                    <a:p>
                      <a:pPr marL="0" marR="0" lvl="0" indent="0" algn="l" rtl="0">
                        <a:lnSpc>
                          <a:spcPct val="107000"/>
                        </a:lnSpc>
                        <a:spcBef>
                          <a:spcPts val="0"/>
                        </a:spcBef>
                        <a:spcAft>
                          <a:spcPts val="0"/>
                        </a:spcAft>
                        <a:buNone/>
                      </a:pPr>
                      <a:r>
                        <a:rPr lang="en-US" sz="2000" u="none" strike="noStrike" cap="none">
                          <a:latin typeface="Times New Roman"/>
                          <a:ea typeface="Times New Roman"/>
                          <a:cs typeface="Times New Roman"/>
                          <a:sym typeface="Times New Roman"/>
                        </a:rPr>
                        <a:t>Reasons</a:t>
                      </a:r>
                      <a:endParaRPr/>
                    </a:p>
                    <a:p>
                      <a:pPr marL="0" marR="0" lvl="0" indent="0" algn="l" rtl="0">
                        <a:lnSpc>
                          <a:spcPct val="107000"/>
                        </a:lnSpc>
                        <a:spcBef>
                          <a:spcPts val="0"/>
                        </a:spcBef>
                        <a:spcAft>
                          <a:spcPts val="0"/>
                        </a:spcAft>
                        <a:buNone/>
                      </a:pPr>
                      <a:r>
                        <a:rPr lang="en-US" sz="2000" u="none" strike="noStrike" cap="none">
                          <a:latin typeface="Times New Roman"/>
                          <a:ea typeface="Times New Roman"/>
                          <a:cs typeface="Times New Roman"/>
                          <a:sym typeface="Times New Roman"/>
                        </a:rPr>
                        <a:t>Factual details/ specific info.</a:t>
                      </a:r>
                      <a:endParaRPr/>
                    </a:p>
                    <a:p>
                      <a:pPr marL="0" marR="0" lvl="0" indent="0" algn="l" rtl="0">
                        <a:lnSpc>
                          <a:spcPct val="107000"/>
                        </a:lnSpc>
                        <a:spcBef>
                          <a:spcPts val="0"/>
                        </a:spcBef>
                        <a:spcAft>
                          <a:spcPts val="0"/>
                        </a:spcAft>
                        <a:buClr>
                          <a:schemeClr val="dk1"/>
                        </a:buClr>
                        <a:buSzPts val="2000"/>
                        <a:buFont typeface="Times New Roman"/>
                        <a:buNone/>
                      </a:pPr>
                      <a:r>
                        <a:rPr lang="en-US" sz="2000" u="none" strike="noStrike" cap="none">
                          <a:latin typeface="Times New Roman"/>
                          <a:ea typeface="Times New Roman"/>
                          <a:cs typeface="Times New Roman"/>
                          <a:sym typeface="Times New Roman"/>
                        </a:rPr>
                        <a:t>Call for action (Suggested Action)</a:t>
                      </a:r>
                      <a:endParaRPr/>
                    </a:p>
                    <a:p>
                      <a:pPr marL="0" marR="0" lvl="0" indent="0" algn="l" rtl="0">
                        <a:lnSpc>
                          <a:spcPct val="107000"/>
                        </a:lnSpc>
                        <a:spcBef>
                          <a:spcPts val="0"/>
                        </a:spcBef>
                        <a:spcAft>
                          <a:spcPts val="0"/>
                        </a:spcAft>
                        <a:buNone/>
                      </a:pPr>
                      <a:r>
                        <a:rPr lang="en-US" sz="2000" b="1" u="none" strike="noStrike" cap="none">
                          <a:latin typeface="Times New Roman"/>
                          <a:ea typeface="Times New Roman"/>
                          <a:cs typeface="Times New Roman"/>
                          <a:sym typeface="Times New Roman"/>
                        </a:rPr>
                        <a:t>Conclusion</a:t>
                      </a:r>
                      <a:endParaRPr/>
                    </a:p>
                    <a:p>
                      <a:pPr marL="0" marR="0" lvl="0" indent="0" algn="l" rtl="0">
                        <a:lnSpc>
                          <a:spcPct val="107000"/>
                        </a:lnSpc>
                        <a:spcBef>
                          <a:spcPts val="0"/>
                        </a:spcBef>
                        <a:spcAft>
                          <a:spcPts val="0"/>
                        </a:spcAft>
                        <a:buNone/>
                      </a:pPr>
                      <a:r>
                        <a:rPr lang="en-US" sz="2000" b="0" u="none" strike="noStrike" cap="none">
                          <a:latin typeface="Times New Roman"/>
                          <a:ea typeface="Times New Roman"/>
                          <a:cs typeface="Times New Roman"/>
                          <a:sym typeface="Times New Roman"/>
                        </a:rPr>
                        <a:t>Closing</a:t>
                      </a:r>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US" sz="2000" u="none" strike="noStrike" cap="none">
                          <a:latin typeface="Times New Roman"/>
                          <a:ea typeface="Times New Roman"/>
                          <a:cs typeface="Times New Roman"/>
                          <a:sym typeface="Times New Roman"/>
                        </a:rPr>
                        <a:t>1 – 2</a:t>
                      </a:r>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721925">
                <a:tc vMerge="1">
                  <a:txBody>
                    <a:bodyPr/>
                    <a:lstStyle/>
                    <a:p>
                      <a:endParaRPr lang="en-US"/>
                    </a:p>
                  </a:txBody>
                  <a:tcPr/>
                </a:tc>
                <a:tc vMerge="1">
                  <a:txBody>
                    <a:bodyPr/>
                    <a:lstStyle/>
                    <a:p>
                      <a:endParaRPr lang="en-US"/>
                    </a:p>
                  </a:txBody>
                  <a:tcPr/>
                </a:tc>
                <a:tc>
                  <a:txBody>
                    <a:bodyPr/>
                    <a:lstStyle/>
                    <a:p>
                      <a:pPr marL="0" marR="0" lvl="0" indent="0" algn="ctr" rtl="0">
                        <a:lnSpc>
                          <a:spcPct val="107000"/>
                        </a:lnSpc>
                        <a:spcBef>
                          <a:spcPts val="0"/>
                        </a:spcBef>
                        <a:spcAft>
                          <a:spcPts val="0"/>
                        </a:spcAft>
                        <a:buNone/>
                      </a:pPr>
                      <a:r>
                        <a:rPr lang="en-US" sz="2000" u="none" strike="noStrike" cap="none">
                          <a:latin typeface="Times New Roman"/>
                          <a:ea typeface="Times New Roman"/>
                          <a:cs typeface="Times New Roman"/>
                          <a:sym typeface="Times New Roman"/>
                        </a:rPr>
                        <a:t>1 – 2</a:t>
                      </a:r>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008150">
                <a:tc vMerge="1">
                  <a:txBody>
                    <a:bodyPr/>
                    <a:lstStyle/>
                    <a:p>
                      <a:endParaRPr lang="en-US"/>
                    </a:p>
                  </a:txBody>
                  <a:tcPr/>
                </a:tc>
                <a:tc vMerge="1">
                  <a:txBody>
                    <a:bodyPr/>
                    <a:lstStyle/>
                    <a:p>
                      <a:endParaRPr lang="en-US"/>
                    </a:p>
                  </a:txBody>
                  <a:tcPr/>
                </a:tc>
                <a:tc>
                  <a:txBody>
                    <a:bodyPr/>
                    <a:lstStyle/>
                    <a:p>
                      <a:pPr marL="0" marR="0" lvl="0" indent="0" algn="ctr" rtl="0">
                        <a:lnSpc>
                          <a:spcPct val="107000"/>
                        </a:lnSpc>
                        <a:spcBef>
                          <a:spcPts val="0"/>
                        </a:spcBef>
                        <a:spcAft>
                          <a:spcPts val="0"/>
                        </a:spcAft>
                        <a:buNone/>
                      </a:pPr>
                      <a:r>
                        <a:rPr lang="en-US" sz="2000" u="none" strike="noStrike" cap="none">
                          <a:latin typeface="Times New Roman"/>
                          <a:ea typeface="Times New Roman"/>
                          <a:cs typeface="Times New Roman"/>
                          <a:sym typeface="Times New Roman"/>
                        </a:rPr>
                        <a:t>1 – 2</a:t>
                      </a:r>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2082875">
                <a:tc>
                  <a:txBody>
                    <a:bodyPr/>
                    <a:lstStyle/>
                    <a:p>
                      <a:pPr marL="0" marR="0" lvl="0" indent="0" algn="ctr" rtl="0">
                        <a:lnSpc>
                          <a:spcPct val="107000"/>
                        </a:lnSpc>
                        <a:spcBef>
                          <a:spcPts val="0"/>
                        </a:spcBef>
                        <a:spcAft>
                          <a:spcPts val="0"/>
                        </a:spcAft>
                        <a:buNone/>
                      </a:pPr>
                      <a:r>
                        <a:rPr lang="en-US" sz="2000" u="none" strike="noStrike" cap="none">
                          <a:latin typeface="Times New Roman"/>
                          <a:ea typeface="Times New Roman"/>
                          <a:cs typeface="Times New Roman"/>
                          <a:sym typeface="Times New Roman"/>
                        </a:rPr>
                        <a:t> </a:t>
                      </a:r>
                      <a:endParaRPr/>
                    </a:p>
                    <a:p>
                      <a:pPr marL="0" marR="0" lvl="0" indent="0" algn="ctr" rtl="0">
                        <a:lnSpc>
                          <a:spcPct val="107000"/>
                        </a:lnSpc>
                        <a:spcBef>
                          <a:spcPts val="0"/>
                        </a:spcBef>
                        <a:spcAft>
                          <a:spcPts val="0"/>
                        </a:spcAft>
                        <a:buNone/>
                      </a:pPr>
                      <a:r>
                        <a:rPr lang="en-US" sz="2000" u="none" strike="noStrike" cap="none">
                          <a:latin typeface="Times New Roman"/>
                          <a:ea typeface="Times New Roman"/>
                          <a:cs typeface="Times New Roman"/>
                          <a:sym typeface="Times New Roman"/>
                        </a:rPr>
                        <a:t>LANGUAGE</a:t>
                      </a:r>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None/>
                      </a:pPr>
                      <a:r>
                        <a:rPr lang="en-US" sz="2000" u="none" strike="noStrike" cap="none">
                          <a:latin typeface="Times New Roman"/>
                          <a:ea typeface="Times New Roman"/>
                          <a:cs typeface="Times New Roman"/>
                          <a:sym typeface="Times New Roman"/>
                        </a:rPr>
                        <a:t>Tone</a:t>
                      </a:r>
                      <a:endParaRPr/>
                    </a:p>
                    <a:p>
                      <a:pPr marL="0" marR="0" lvl="0" indent="0" algn="l" rtl="0">
                        <a:lnSpc>
                          <a:spcPct val="107000"/>
                        </a:lnSpc>
                        <a:spcBef>
                          <a:spcPts val="0"/>
                        </a:spcBef>
                        <a:spcAft>
                          <a:spcPts val="0"/>
                        </a:spcAft>
                        <a:buNone/>
                      </a:pPr>
                      <a:r>
                        <a:rPr lang="en-US" sz="2000" u="none" strike="noStrike" cap="none">
                          <a:latin typeface="Times New Roman"/>
                          <a:ea typeface="Times New Roman"/>
                          <a:cs typeface="Times New Roman"/>
                          <a:sym typeface="Times New Roman"/>
                        </a:rPr>
                        <a:t>Style</a:t>
                      </a:r>
                      <a:endParaRPr/>
                    </a:p>
                    <a:p>
                      <a:pPr marL="0" marR="0" lvl="0" indent="0" algn="l" rtl="0">
                        <a:lnSpc>
                          <a:spcPct val="107000"/>
                        </a:lnSpc>
                        <a:spcBef>
                          <a:spcPts val="0"/>
                        </a:spcBef>
                        <a:spcAft>
                          <a:spcPts val="0"/>
                        </a:spcAft>
                        <a:buNone/>
                      </a:pPr>
                      <a:r>
                        <a:rPr lang="en-US" sz="2000" u="none" strike="noStrike" cap="none">
                          <a:latin typeface="Times New Roman"/>
                          <a:ea typeface="Times New Roman"/>
                          <a:cs typeface="Times New Roman"/>
                          <a:sym typeface="Times New Roman"/>
                        </a:rPr>
                        <a:t>Grammar/Sentence structure</a:t>
                      </a:r>
                      <a:endParaRPr/>
                    </a:p>
                    <a:p>
                      <a:pPr marL="0" marR="0" lvl="0" indent="0" algn="l" rtl="0">
                        <a:lnSpc>
                          <a:spcPct val="107000"/>
                        </a:lnSpc>
                        <a:spcBef>
                          <a:spcPts val="0"/>
                        </a:spcBef>
                        <a:spcAft>
                          <a:spcPts val="0"/>
                        </a:spcAft>
                        <a:buNone/>
                      </a:pPr>
                      <a:r>
                        <a:rPr lang="en-US" sz="2000" u="none" strike="noStrike" cap="none">
                          <a:latin typeface="Times New Roman"/>
                          <a:ea typeface="Times New Roman"/>
                          <a:cs typeface="Times New Roman"/>
                          <a:sym typeface="Times New Roman"/>
                        </a:rPr>
                        <a:t>Spellings/Vocabulary</a:t>
                      </a:r>
                      <a:endParaRPr/>
                    </a:p>
                    <a:p>
                      <a:pPr marL="0" marR="0" lvl="0" indent="0" algn="l" rtl="0">
                        <a:lnSpc>
                          <a:spcPct val="107000"/>
                        </a:lnSpc>
                        <a:spcBef>
                          <a:spcPts val="0"/>
                        </a:spcBef>
                        <a:spcAft>
                          <a:spcPts val="0"/>
                        </a:spcAft>
                        <a:buNone/>
                      </a:pPr>
                      <a:r>
                        <a:rPr lang="en-US" sz="2000" u="none" strike="noStrike" cap="none">
                          <a:latin typeface="Times New Roman"/>
                          <a:ea typeface="Times New Roman"/>
                          <a:cs typeface="Times New Roman"/>
                          <a:sym typeface="Times New Roman"/>
                        </a:rPr>
                        <a:t>Punctuation</a:t>
                      </a:r>
                      <a:endParaRPr/>
                    </a:p>
                    <a:p>
                      <a:pPr marL="0" marR="0" lvl="0" indent="0" algn="l" rtl="0">
                        <a:lnSpc>
                          <a:spcPct val="107000"/>
                        </a:lnSpc>
                        <a:spcBef>
                          <a:spcPts val="0"/>
                        </a:spcBef>
                        <a:spcAft>
                          <a:spcPts val="0"/>
                        </a:spcAft>
                        <a:buNone/>
                      </a:pPr>
                      <a:r>
                        <a:rPr lang="en-US" sz="2000" u="none" strike="noStrike" cap="none">
                          <a:latin typeface="Times New Roman"/>
                          <a:ea typeface="Times New Roman"/>
                          <a:cs typeface="Times New Roman"/>
                          <a:sym typeface="Times New Roman"/>
                        </a:rPr>
                        <a:t>Spacing</a:t>
                      </a:r>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US" sz="2000" u="none" strike="noStrike" cap="none">
                          <a:latin typeface="Times New Roman"/>
                          <a:ea typeface="Times New Roman"/>
                          <a:cs typeface="Times New Roman"/>
                          <a:sym typeface="Times New Roman"/>
                        </a:rPr>
                        <a:t>1-6</a:t>
                      </a:r>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347150">
                <a:tc>
                  <a:txBody>
                    <a:bodyPr/>
                    <a:lstStyle/>
                    <a:p>
                      <a:pPr marL="0" marR="0" lvl="0" indent="0" algn="l" rtl="0">
                        <a:lnSpc>
                          <a:spcPct val="107000"/>
                        </a:lnSpc>
                        <a:spcBef>
                          <a:spcPts val="0"/>
                        </a:spcBef>
                        <a:spcAft>
                          <a:spcPts val="0"/>
                        </a:spcAft>
                        <a:buNone/>
                      </a:pPr>
                      <a:r>
                        <a:rPr lang="en-US" sz="2000" u="none" strike="noStrike" cap="none">
                          <a:latin typeface="Times New Roman"/>
                          <a:ea typeface="Times New Roman"/>
                          <a:cs typeface="Times New Roman"/>
                          <a:sym typeface="Times New Roman"/>
                        </a:rPr>
                        <a:t>Total</a:t>
                      </a:r>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7000"/>
                        </a:lnSpc>
                        <a:spcBef>
                          <a:spcPts val="0"/>
                        </a:spcBef>
                        <a:spcAft>
                          <a:spcPts val="0"/>
                        </a:spcAft>
                        <a:buNone/>
                      </a:pPr>
                      <a:r>
                        <a:rPr lang="en-US" sz="2000" u="none" strike="noStrike" cap="none">
                          <a:latin typeface="Times New Roman"/>
                          <a:ea typeface="Times New Roman"/>
                          <a:cs typeface="Times New Roman"/>
                          <a:sym typeface="Times New Roman"/>
                        </a:rPr>
                        <a:t> </a:t>
                      </a:r>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US" sz="2000" u="none" strike="noStrike" cap="none">
                          <a:latin typeface="Times New Roman"/>
                          <a:ea typeface="Times New Roman"/>
                          <a:cs typeface="Times New Roman"/>
                          <a:sym typeface="Times New Roman"/>
                        </a:rPr>
                        <a:t>15</a:t>
                      </a:r>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13535338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TotalTime>
  <Words>557</Words>
  <Application>Microsoft Office PowerPoint</Application>
  <PresentationFormat>Widescreen</PresentationFormat>
  <Paragraphs>119</Paragraphs>
  <Slides>7</Slides>
  <Notes>7</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7</vt:i4>
      </vt:variant>
    </vt:vector>
  </HeadingPairs>
  <TitlesOfParts>
    <vt:vector size="12" baseType="lpstr">
      <vt:lpstr>Arial</vt:lpstr>
      <vt:lpstr>Times New Roman</vt:lpstr>
      <vt:lpstr>Calibri</vt:lpstr>
      <vt:lpstr>Office Theme</vt:lpstr>
      <vt:lpstr>1_Office Theme</vt:lpstr>
      <vt:lpstr>Application Writing</vt:lpstr>
      <vt:lpstr>Purpose?  Am I writing primarily to create a record or provide information, to request or to persuade?</vt:lpstr>
      <vt:lpstr>PowerPoint Presentation</vt:lpstr>
      <vt:lpstr>Rubric</vt:lpstr>
      <vt:lpstr>Email Writing</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dc:title>
  <dc:creator>Nokhaiz Zahra</dc:creator>
  <cp:lastModifiedBy>Rubab</cp:lastModifiedBy>
  <cp:revision>12</cp:revision>
  <dcterms:created xsi:type="dcterms:W3CDTF">2024-01-23T05:45:02Z</dcterms:created>
  <dcterms:modified xsi:type="dcterms:W3CDTF">2025-12-11T07:58:20Z</dcterms:modified>
</cp:coreProperties>
</file>