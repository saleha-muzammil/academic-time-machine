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9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9F6B-19F2-4FAC-8436-835A36B723E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C4BE1-D084-4D2B-8BB5-E99F5342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7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6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4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2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8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0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EE227 – Digital Logic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15</a:t>
            </a:r>
          </a:p>
        </p:txBody>
      </p:sp>
    </p:spTree>
    <p:extLst>
      <p:ext uri="{BB962C8B-B14F-4D97-AF65-F5344CB8AC3E}">
        <p14:creationId xmlns:p14="http://schemas.microsoft.com/office/powerpoint/2010/main" val="3048268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Decimal Adder</a:t>
            </a:r>
          </a:p>
          <a:p>
            <a:pPr lvl="1"/>
            <a:r>
              <a:rPr lang="en-US" dirty="0"/>
              <a:t>BCD Adder</a:t>
            </a:r>
          </a:p>
          <a:p>
            <a:r>
              <a:rPr lang="en-US" dirty="0"/>
              <a:t>Magnitude Comparator</a:t>
            </a:r>
          </a:p>
          <a:p>
            <a:r>
              <a:rPr lang="en-US" dirty="0"/>
              <a:t>Decoder</a:t>
            </a:r>
          </a:p>
          <a:p>
            <a:pPr lvl="1"/>
            <a:r>
              <a:rPr lang="en-US" dirty="0"/>
              <a:t>3 to 8 line decoder</a:t>
            </a:r>
          </a:p>
          <a:p>
            <a:pPr lvl="1"/>
            <a:r>
              <a:rPr lang="en-US" dirty="0"/>
              <a:t>2 to 4 line decoder with NAND gates</a:t>
            </a:r>
          </a:p>
          <a:p>
            <a:pPr lvl="1"/>
            <a:r>
              <a:rPr lang="en-US" dirty="0"/>
              <a:t>4 to 16 line decoder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2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Computers or calculators that perform arithmetic operations directly in the decimal number system represent decimal numbers in binary coded form</a:t>
            </a:r>
          </a:p>
          <a:p>
            <a:r>
              <a:rPr lang="en-US" dirty="0"/>
              <a:t>An adder for such a computer must employ arithmetic circuits that accept coded decimal numbers and present results in the same code</a:t>
            </a:r>
          </a:p>
          <a:p>
            <a:r>
              <a:rPr lang="pt-BR" dirty="0"/>
              <a:t>A decimal adder requires a </a:t>
            </a:r>
            <a:r>
              <a:rPr lang="en-US" dirty="0"/>
              <a:t>minimum of nine inputs and five outputs</a:t>
            </a:r>
          </a:p>
          <a:p>
            <a:r>
              <a:rPr lang="en-US" dirty="0"/>
              <a:t>Here we will discuss BCD adder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9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Adder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Consider the arithmetic addition of two decimal digits in BCD, together with an input carry from a previous stage</a:t>
            </a:r>
          </a:p>
          <a:p>
            <a:r>
              <a:rPr lang="en-US" dirty="0"/>
              <a:t>Since each input digit does not exceed 9, the output sum cannot be greater than 9 + 9 + 1 = 19</a:t>
            </a:r>
          </a:p>
          <a:p>
            <a:r>
              <a:rPr lang="en-US" dirty="0"/>
              <a:t>When the binary sum is equal to or less than 1001, the corresponding BCD number is identical and no correction is required</a:t>
            </a:r>
          </a:p>
          <a:p>
            <a:r>
              <a:rPr lang="en-US" dirty="0"/>
              <a:t>When the binary sum is greater than 1001, we obtain an invalid BCD representation</a:t>
            </a:r>
          </a:p>
          <a:p>
            <a:r>
              <a:rPr lang="en-US" dirty="0"/>
              <a:t>The addition of binary 6 (0110) to the binary sum converts it to the correct BCD representation and also produces an output carry as required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9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BCD Adder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43600"/>
            <a:ext cx="8229600" cy="5334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C = </a:t>
            </a:r>
            <a:r>
              <a:rPr lang="en-GB" dirty="0"/>
              <a:t>C</a:t>
            </a:r>
            <a:r>
              <a:rPr lang="en-GB" sz="2300" dirty="0"/>
              <a:t>* </a:t>
            </a:r>
            <a:r>
              <a:rPr lang="en-US" dirty="0"/>
              <a:t>+ </a:t>
            </a:r>
            <a:r>
              <a:rPr lang="en-GB" dirty="0"/>
              <a:t>S3* S1*</a:t>
            </a:r>
            <a:r>
              <a:rPr lang="en-US" dirty="0"/>
              <a:t> + </a:t>
            </a:r>
            <a:r>
              <a:rPr lang="en-GB" dirty="0"/>
              <a:t>S3* S2*</a:t>
            </a:r>
            <a:endParaRPr lang="en-US" baseline="-25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5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81050"/>
            <a:ext cx="6772275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781050"/>
            <a:ext cx="7848600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Alternative Process 6">
            <a:extLst>
              <a:ext uri="{FF2B5EF4-FFF2-40B4-BE49-F238E27FC236}">
                <a16:creationId xmlns:a16="http://schemas.microsoft.com/office/drawing/2014/main" id="{1A358C05-D257-5E13-2C5F-A3DC98A69FF4}"/>
              </a:ext>
            </a:extLst>
          </p:cNvPr>
          <p:cNvSpPr/>
          <p:nvPr/>
        </p:nvSpPr>
        <p:spPr>
          <a:xfrm>
            <a:off x="2470285" y="5031504"/>
            <a:ext cx="394035" cy="912096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0" name="Alternative Process 9">
            <a:extLst>
              <a:ext uri="{FF2B5EF4-FFF2-40B4-BE49-F238E27FC236}">
                <a16:creationId xmlns:a16="http://schemas.microsoft.com/office/drawing/2014/main" id="{EDB9FCBD-C75B-3E36-F403-AA7138CEC1C2}"/>
              </a:ext>
            </a:extLst>
          </p:cNvPr>
          <p:cNvSpPr/>
          <p:nvPr/>
        </p:nvSpPr>
        <p:spPr>
          <a:xfrm>
            <a:off x="2927182" y="4123348"/>
            <a:ext cx="846445" cy="908156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001"/>
          </a:p>
        </p:txBody>
      </p:sp>
      <p:sp>
        <p:nvSpPr>
          <p:cNvPr id="13" name="Alternative Process 12">
            <a:extLst>
              <a:ext uri="{FF2B5EF4-FFF2-40B4-BE49-F238E27FC236}">
                <a16:creationId xmlns:a16="http://schemas.microsoft.com/office/drawing/2014/main" id="{3C4E28C2-3728-0ACE-973C-856807F83783}"/>
              </a:ext>
            </a:extLst>
          </p:cNvPr>
          <p:cNvSpPr/>
          <p:nvPr/>
        </p:nvSpPr>
        <p:spPr>
          <a:xfrm>
            <a:off x="3773627" y="3652115"/>
            <a:ext cx="524609" cy="47123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001"/>
          </a:p>
        </p:txBody>
      </p:sp>
      <p:sp>
        <p:nvSpPr>
          <p:cNvPr id="15" name="Alternative Process 14">
            <a:extLst>
              <a:ext uri="{FF2B5EF4-FFF2-40B4-BE49-F238E27FC236}">
                <a16:creationId xmlns:a16="http://schemas.microsoft.com/office/drawing/2014/main" id="{0FDE1662-6A40-2131-A410-DE6600A92C13}"/>
              </a:ext>
            </a:extLst>
          </p:cNvPr>
          <p:cNvSpPr/>
          <p:nvPr/>
        </p:nvSpPr>
        <p:spPr>
          <a:xfrm>
            <a:off x="2927182" y="3623806"/>
            <a:ext cx="428209" cy="499542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00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E89DE7-CF53-F90F-3CBD-09A27FD0137A}"/>
              </a:ext>
            </a:extLst>
          </p:cNvPr>
          <p:cNvSpPr txBox="1"/>
          <p:nvPr/>
        </p:nvSpPr>
        <p:spPr>
          <a:xfrm>
            <a:off x="2470287" y="1047172"/>
            <a:ext cx="24002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sz="1600" dirty="0"/>
              <a:t>C* | S3* | S2* | S1* | S0*</a:t>
            </a:r>
            <a:endParaRPr lang="en-001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46BCA5-91B0-FB93-3FE3-A4B67641B800}"/>
              </a:ext>
            </a:extLst>
          </p:cNvPr>
          <p:cNvSpPr txBox="1"/>
          <p:nvPr/>
        </p:nvSpPr>
        <p:spPr>
          <a:xfrm>
            <a:off x="5021331" y="1035634"/>
            <a:ext cx="220023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sz="1600" dirty="0"/>
              <a:t>C  |  S3  |  S2  |  S1  |  S0</a:t>
            </a:r>
            <a:endParaRPr lang="en-001" sz="1600" dirty="0"/>
          </a:p>
        </p:txBody>
      </p:sp>
    </p:spTree>
    <p:extLst>
      <p:ext uri="{BB962C8B-B14F-4D97-AF65-F5344CB8AC3E}">
        <p14:creationId xmlns:p14="http://schemas.microsoft.com/office/powerpoint/2010/main" val="72600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728788" y="2857501"/>
            <a:ext cx="5667375" cy="1143000"/>
          </a:xfrm>
        </p:spPr>
        <p:txBody>
          <a:bodyPr>
            <a:normAutofit/>
          </a:bodyPr>
          <a:lstStyle/>
          <a:p>
            <a:r>
              <a:rPr lang="en-US" dirty="0"/>
              <a:t>BCD Adder (3/3)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6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422" y="595312"/>
            <a:ext cx="5848350" cy="566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A80A1D-A540-8967-A2F2-A889D8207383}"/>
              </a:ext>
            </a:extLst>
          </p:cNvPr>
          <p:cNvSpPr txBox="1"/>
          <p:nvPr/>
        </p:nvSpPr>
        <p:spPr>
          <a:xfrm rot="10800000" flipV="1">
            <a:off x="5063128" y="1735399"/>
            <a:ext cx="191334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rtlCol="0">
            <a:spAutoFit/>
          </a:bodyPr>
          <a:lstStyle/>
          <a:p>
            <a:pPr algn="l"/>
            <a:r>
              <a:rPr lang="en-GB" dirty="0"/>
              <a:t>S3*  S2*  S1*  S0*</a:t>
            </a:r>
            <a:endParaRPr lang="en-00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B3A92-92DD-3267-CD59-43D10AFF00AA}"/>
              </a:ext>
            </a:extLst>
          </p:cNvPr>
          <p:cNvSpPr txBox="1"/>
          <p:nvPr/>
        </p:nvSpPr>
        <p:spPr>
          <a:xfrm>
            <a:off x="4572000" y="1457068"/>
            <a:ext cx="491128" cy="3693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C</a:t>
            </a:r>
            <a:r>
              <a:rPr lang="en-GB" sz="1100" dirty="0"/>
              <a:t>*</a:t>
            </a:r>
            <a:endParaRPr lang="en-001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D73152-372A-AC2A-FC65-3AF264B88DDE}"/>
              </a:ext>
            </a:extLst>
          </p:cNvPr>
          <p:cNvSpPr txBox="1"/>
          <p:nvPr/>
        </p:nvSpPr>
        <p:spPr>
          <a:xfrm>
            <a:off x="5202711" y="5970965"/>
            <a:ext cx="195514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sz="1600" dirty="0"/>
              <a:t>S3    S2    S1    S0</a:t>
            </a:r>
            <a:endParaRPr lang="en-001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89FE1-AD66-027F-0269-7D783F9E477D}"/>
              </a:ext>
            </a:extLst>
          </p:cNvPr>
          <p:cNvSpPr txBox="1"/>
          <p:nvPr/>
        </p:nvSpPr>
        <p:spPr>
          <a:xfrm>
            <a:off x="4633113" y="2407231"/>
            <a:ext cx="1828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000" dirty="0"/>
              <a:t>S3* S2*</a:t>
            </a:r>
            <a:endParaRPr lang="en-001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015256-9EE6-E29C-987F-A76EC0DBB4E7}"/>
              </a:ext>
            </a:extLst>
          </p:cNvPr>
          <p:cNvSpPr txBox="1"/>
          <p:nvPr/>
        </p:nvSpPr>
        <p:spPr>
          <a:xfrm>
            <a:off x="4607612" y="3557792"/>
            <a:ext cx="1828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000" dirty="0"/>
              <a:t>S3* S1*</a:t>
            </a:r>
            <a:endParaRPr lang="en-001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8AB4FB-6DAE-F994-8268-FC7AEF40E35B}"/>
              </a:ext>
            </a:extLst>
          </p:cNvPr>
          <p:cNvSpPr txBox="1"/>
          <p:nvPr/>
        </p:nvSpPr>
        <p:spPr>
          <a:xfrm>
            <a:off x="3998935" y="2709731"/>
            <a:ext cx="1828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000" dirty="0"/>
              <a:t>C*</a:t>
            </a:r>
            <a:endParaRPr lang="en-001" sz="1000" dirty="0"/>
          </a:p>
        </p:txBody>
      </p:sp>
    </p:spTree>
    <p:extLst>
      <p:ext uri="{BB962C8B-B14F-4D97-AF65-F5344CB8AC3E}">
        <p14:creationId xmlns:p14="http://schemas.microsoft.com/office/powerpoint/2010/main" val="283140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Magnitude Comparator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comparison of two numbers is an operation that determines whether one number is greater than, less than, or equal to the other number</a:t>
            </a:r>
          </a:p>
          <a:p>
            <a:r>
              <a:rPr lang="en-US" dirty="0"/>
              <a:t>A magnitude comparator is a combinational circuit that compares two numbers A and B and determines their relative magnitudes</a:t>
            </a:r>
          </a:p>
          <a:p>
            <a:r>
              <a:rPr lang="en-US" dirty="0"/>
              <a:t>The outcome of the comparison is specified by three binary variables that indicate whether A &lt; B, A = B, or A &gt; B</a:t>
            </a:r>
          </a:p>
          <a:p>
            <a:r>
              <a:rPr lang="en-US" dirty="0"/>
              <a:t>With conventional method, the circuit for comparing two </a:t>
            </a:r>
            <a:r>
              <a:rPr lang="en-US" i="1" dirty="0"/>
              <a:t>n </a:t>
            </a:r>
            <a:r>
              <a:rPr lang="en-US" dirty="0"/>
              <a:t>bit numbers has 2</a:t>
            </a:r>
            <a:r>
              <a:rPr lang="en-US" baseline="30000" dirty="0"/>
              <a:t>2</a:t>
            </a:r>
            <a:r>
              <a:rPr lang="en-US" i="1" baseline="30000" dirty="0"/>
              <a:t>n</a:t>
            </a:r>
            <a:r>
              <a:rPr lang="en-US" i="1" dirty="0"/>
              <a:t> </a:t>
            </a:r>
            <a:r>
              <a:rPr lang="en-US" dirty="0"/>
              <a:t>entries in the truth table and becomes too cumbersome, even with </a:t>
            </a:r>
            <a:r>
              <a:rPr lang="en-US" i="1" dirty="0"/>
              <a:t>n </a:t>
            </a:r>
            <a:r>
              <a:rPr lang="en-US" dirty="0"/>
              <a:t>= 3</a:t>
            </a:r>
          </a:p>
          <a:p>
            <a:r>
              <a:rPr lang="en-US" dirty="0"/>
              <a:t>We will use another algorithm that will simplify the design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5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Magnitude Comparator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Consider two numbers, A and B , with four digits each</a:t>
            </a:r>
          </a:p>
          <a:p>
            <a:r>
              <a:rPr lang="en-US" dirty="0"/>
              <a:t>Write the coefficients of the numbers in descending order of significance:</a:t>
            </a:r>
          </a:p>
          <a:p>
            <a:pPr marL="0" indent="0" algn="ctr">
              <a:buNone/>
            </a:pPr>
            <a:r>
              <a:rPr lang="en-US" dirty="0"/>
              <a:t>A = A</a:t>
            </a:r>
            <a:r>
              <a:rPr lang="en-US" baseline="-25000" dirty="0"/>
              <a:t>3</a:t>
            </a:r>
            <a:r>
              <a:rPr lang="en-US" dirty="0"/>
              <a:t> A</a:t>
            </a:r>
            <a:r>
              <a:rPr lang="en-US" baseline="-25000" dirty="0"/>
              <a:t>2</a:t>
            </a:r>
            <a:r>
              <a:rPr lang="en-US" dirty="0"/>
              <a:t> A</a:t>
            </a:r>
            <a:r>
              <a:rPr lang="en-US" baseline="-25000" dirty="0"/>
              <a:t>1</a:t>
            </a:r>
            <a:r>
              <a:rPr lang="en-US" dirty="0"/>
              <a:t> A</a:t>
            </a:r>
            <a:r>
              <a:rPr lang="en-US" baseline="-25000" dirty="0"/>
              <a:t>0</a:t>
            </a:r>
            <a:r>
              <a:rPr lang="en-US" dirty="0"/>
              <a:t>	B = B</a:t>
            </a:r>
            <a:r>
              <a:rPr lang="en-US" baseline="-25000" dirty="0"/>
              <a:t>3</a:t>
            </a:r>
            <a:r>
              <a:rPr lang="en-US" dirty="0"/>
              <a:t> B</a:t>
            </a:r>
            <a:r>
              <a:rPr lang="en-US" baseline="-25000" dirty="0"/>
              <a:t>2</a:t>
            </a:r>
            <a:r>
              <a:rPr lang="en-US" dirty="0"/>
              <a:t> B</a:t>
            </a:r>
            <a:r>
              <a:rPr lang="en-US" baseline="-25000" dirty="0"/>
              <a:t>1</a:t>
            </a:r>
            <a:r>
              <a:rPr lang="en-US" dirty="0"/>
              <a:t> B</a:t>
            </a:r>
            <a:r>
              <a:rPr lang="en-US" baseline="-25000" dirty="0"/>
              <a:t>0</a:t>
            </a:r>
          </a:p>
          <a:p>
            <a:r>
              <a:rPr lang="en-US" dirty="0"/>
              <a:t>The two numbers are equal if all pairs of significant digits are equal</a:t>
            </a:r>
          </a:p>
          <a:p>
            <a:r>
              <a:rPr lang="en-US" dirty="0"/>
              <a:t>It can be checked with XNOR operation</a:t>
            </a:r>
          </a:p>
          <a:p>
            <a:pPr marL="0" indent="0" algn="ctr">
              <a:buNone/>
            </a:pPr>
            <a:r>
              <a:rPr lang="nn-NO" dirty="0"/>
              <a:t>x</a:t>
            </a:r>
            <a:r>
              <a:rPr lang="nn-NO" baseline="-25000" dirty="0"/>
              <a:t>i</a:t>
            </a:r>
            <a:r>
              <a:rPr lang="nn-NO" dirty="0"/>
              <a:t> = A</a:t>
            </a:r>
            <a:r>
              <a:rPr lang="nn-NO" baseline="-25000" dirty="0"/>
              <a:t>i</a:t>
            </a:r>
            <a:r>
              <a:rPr lang="nn-NO" dirty="0"/>
              <a:t>B</a:t>
            </a:r>
            <a:r>
              <a:rPr lang="nn-NO" baseline="-25000" dirty="0"/>
              <a:t>i</a:t>
            </a:r>
            <a:r>
              <a:rPr lang="nn-NO" dirty="0"/>
              <a:t> + A’</a:t>
            </a:r>
            <a:r>
              <a:rPr lang="nn-NO" baseline="-25000" dirty="0"/>
              <a:t>i</a:t>
            </a:r>
            <a:r>
              <a:rPr lang="nn-NO" dirty="0"/>
              <a:t> B’</a:t>
            </a:r>
            <a:r>
              <a:rPr lang="nn-NO" baseline="-25000" dirty="0"/>
              <a:t>i</a:t>
            </a:r>
            <a:r>
              <a:rPr lang="nn-NO" dirty="0"/>
              <a:t> 	for i = 0, 1, 2, 3</a:t>
            </a:r>
          </a:p>
          <a:p>
            <a:r>
              <a:rPr lang="en-US" dirty="0"/>
              <a:t>The binary output variable (A = B) is equal to 1 only if all pairs of digits of the two numbers are equal</a:t>
            </a:r>
          </a:p>
          <a:p>
            <a:pPr marL="0" indent="0" algn="ctr">
              <a:buNone/>
            </a:pPr>
            <a:r>
              <a:rPr lang="en-US" dirty="0"/>
              <a:t>(A = B) = x</a:t>
            </a:r>
            <a:r>
              <a:rPr lang="en-US" baseline="-25000" dirty="0"/>
              <a:t>3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2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Magnitude Comparator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To determine whether A is greater or less than B , we inspect the relative magnitudes of pairs of significant digits, starting from the most significant position</a:t>
            </a:r>
          </a:p>
          <a:p>
            <a:r>
              <a:rPr lang="en-US" dirty="0"/>
              <a:t>If the two digits of a pair are equal, we compare the next lower significant pair of digits</a:t>
            </a:r>
          </a:p>
          <a:p>
            <a:r>
              <a:rPr lang="en-US" dirty="0"/>
              <a:t>The comparison continues until a pair of unequal digits is reached</a:t>
            </a:r>
          </a:p>
          <a:p>
            <a:r>
              <a:rPr lang="en-US" dirty="0"/>
              <a:t>If the corresponding digit of A is 1 and that of B is 0, we conclude that A &gt; B</a:t>
            </a:r>
          </a:p>
          <a:p>
            <a:r>
              <a:rPr lang="en-US" dirty="0"/>
              <a:t>If the corresponding digit of A is 0 and that of B is 1, we have A &lt; B</a:t>
            </a:r>
          </a:p>
          <a:p>
            <a:pPr marL="0" indent="0" algn="ctr">
              <a:buNone/>
            </a:pPr>
            <a:r>
              <a:rPr lang="pt-BR" dirty="0"/>
              <a:t>(A &gt; B) = A</a:t>
            </a:r>
            <a:r>
              <a:rPr lang="pt-BR" baseline="-25000" dirty="0"/>
              <a:t>3</a:t>
            </a:r>
            <a:r>
              <a:rPr lang="pt-BR" dirty="0"/>
              <a:t>B’</a:t>
            </a:r>
            <a:r>
              <a:rPr lang="pt-BR" baseline="-25000" dirty="0"/>
              <a:t>3</a:t>
            </a:r>
            <a:r>
              <a:rPr lang="pt-BR" dirty="0"/>
              <a:t> + x</a:t>
            </a:r>
            <a:r>
              <a:rPr lang="pt-BR" baseline="-25000" dirty="0"/>
              <a:t>3</a:t>
            </a:r>
            <a:r>
              <a:rPr lang="pt-BR" dirty="0"/>
              <a:t>A</a:t>
            </a:r>
            <a:r>
              <a:rPr lang="pt-BR" baseline="-25000" dirty="0"/>
              <a:t>2</a:t>
            </a:r>
            <a:r>
              <a:rPr lang="pt-BR" dirty="0"/>
              <a:t>B’</a:t>
            </a:r>
            <a:r>
              <a:rPr lang="pt-BR" baseline="-25000" dirty="0"/>
              <a:t>2</a:t>
            </a:r>
            <a:r>
              <a:rPr lang="pt-BR" dirty="0"/>
              <a:t> + x</a:t>
            </a:r>
            <a:r>
              <a:rPr lang="pt-BR" baseline="-25000" dirty="0"/>
              <a:t>3</a:t>
            </a:r>
            <a:r>
              <a:rPr lang="pt-BR" dirty="0"/>
              <a:t>x</a:t>
            </a:r>
            <a:r>
              <a:rPr lang="pt-BR" baseline="-25000" dirty="0"/>
              <a:t>2</a:t>
            </a:r>
            <a:r>
              <a:rPr lang="pt-BR" dirty="0"/>
              <a:t>A</a:t>
            </a:r>
            <a:r>
              <a:rPr lang="pt-BR" baseline="-25000" dirty="0"/>
              <a:t>1</a:t>
            </a:r>
            <a:r>
              <a:rPr lang="pt-BR" dirty="0"/>
              <a:t>B’</a:t>
            </a:r>
            <a:r>
              <a:rPr lang="pt-BR" baseline="-25000" dirty="0"/>
              <a:t>1</a:t>
            </a:r>
            <a:r>
              <a:rPr lang="pt-BR" dirty="0"/>
              <a:t> + x</a:t>
            </a:r>
            <a:r>
              <a:rPr lang="pt-BR" baseline="-25000" dirty="0"/>
              <a:t>3</a:t>
            </a:r>
            <a:r>
              <a:rPr lang="pt-BR" dirty="0"/>
              <a:t>x</a:t>
            </a:r>
            <a:r>
              <a:rPr lang="pt-BR" baseline="-25000" dirty="0"/>
              <a:t>2</a:t>
            </a: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A</a:t>
            </a:r>
            <a:r>
              <a:rPr lang="pt-BR" baseline="-25000" dirty="0"/>
              <a:t>0</a:t>
            </a:r>
            <a:r>
              <a:rPr lang="pt-BR" dirty="0"/>
              <a:t>B’</a:t>
            </a:r>
            <a:r>
              <a:rPr lang="pt-BR" baseline="-25000" dirty="0"/>
              <a:t>0</a:t>
            </a:r>
          </a:p>
          <a:p>
            <a:pPr marL="0" indent="0" algn="ctr">
              <a:buNone/>
            </a:pPr>
            <a:r>
              <a:rPr lang="pt-BR" dirty="0"/>
              <a:t>(A &lt; B) = A’</a:t>
            </a:r>
            <a:r>
              <a:rPr lang="pt-BR" baseline="-25000" dirty="0"/>
              <a:t>3</a:t>
            </a:r>
            <a:r>
              <a:rPr lang="pt-BR" dirty="0"/>
              <a:t>B</a:t>
            </a:r>
            <a:r>
              <a:rPr lang="pt-BR" baseline="-25000" dirty="0"/>
              <a:t>3</a:t>
            </a:r>
            <a:r>
              <a:rPr lang="pt-BR" dirty="0"/>
              <a:t> + x</a:t>
            </a:r>
            <a:r>
              <a:rPr lang="pt-BR" baseline="-25000" dirty="0"/>
              <a:t>3</a:t>
            </a:r>
            <a:r>
              <a:rPr lang="pt-BR" dirty="0"/>
              <a:t>A’</a:t>
            </a:r>
            <a:r>
              <a:rPr lang="pt-BR" baseline="-25000" dirty="0"/>
              <a:t>2</a:t>
            </a:r>
            <a:r>
              <a:rPr lang="pt-BR" dirty="0"/>
              <a:t>B</a:t>
            </a:r>
            <a:r>
              <a:rPr lang="pt-BR" baseline="-25000" dirty="0"/>
              <a:t>2</a:t>
            </a:r>
            <a:r>
              <a:rPr lang="pt-BR" dirty="0"/>
              <a:t> + x</a:t>
            </a:r>
            <a:r>
              <a:rPr lang="pt-BR" baseline="-25000" dirty="0"/>
              <a:t>3</a:t>
            </a:r>
            <a:r>
              <a:rPr lang="pt-BR" dirty="0"/>
              <a:t>x</a:t>
            </a:r>
            <a:r>
              <a:rPr lang="pt-BR" baseline="-25000" dirty="0"/>
              <a:t>2</a:t>
            </a:r>
            <a:r>
              <a:rPr lang="pt-BR" dirty="0"/>
              <a:t>A’</a:t>
            </a:r>
            <a:r>
              <a:rPr lang="pt-BR" baseline="-25000" dirty="0"/>
              <a:t>1</a:t>
            </a:r>
            <a:r>
              <a:rPr lang="pt-BR" dirty="0"/>
              <a:t>B</a:t>
            </a:r>
            <a:r>
              <a:rPr lang="pt-BR" baseline="-25000" dirty="0"/>
              <a:t>1</a:t>
            </a:r>
            <a:r>
              <a:rPr lang="pt-BR" dirty="0"/>
              <a:t> + x</a:t>
            </a:r>
            <a:r>
              <a:rPr lang="pt-BR" baseline="-25000" dirty="0"/>
              <a:t>3</a:t>
            </a:r>
            <a:r>
              <a:rPr lang="pt-BR" dirty="0"/>
              <a:t>x</a:t>
            </a:r>
            <a:r>
              <a:rPr lang="pt-BR" baseline="-25000" dirty="0"/>
              <a:t>2</a:t>
            </a:r>
            <a:r>
              <a:rPr lang="pt-BR" dirty="0"/>
              <a:t>x</a:t>
            </a:r>
            <a:r>
              <a:rPr lang="pt-BR" baseline="-25000" dirty="0"/>
              <a:t>1</a:t>
            </a:r>
            <a:r>
              <a:rPr lang="pt-BR" dirty="0"/>
              <a:t>A’</a:t>
            </a:r>
            <a:r>
              <a:rPr lang="pt-BR" baseline="-25000" dirty="0"/>
              <a:t>0</a:t>
            </a:r>
            <a:r>
              <a:rPr lang="pt-BR" dirty="0"/>
              <a:t>B</a:t>
            </a:r>
            <a:r>
              <a:rPr lang="pt-BR" baseline="-25000" dirty="0"/>
              <a:t>0</a:t>
            </a:r>
            <a:endParaRPr lang="en-US" baseline="-25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3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88121E-BCD7-D9F9-BEE4-FAEB1C566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36961" y="540165"/>
            <a:ext cx="8870078" cy="48311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A6405-952E-DB42-101B-30A2FDEF9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EF7CE-CE54-DBBF-4424-C5F3AEF79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Waqar Baig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165D9-ACDC-D689-4A44-1B56B89ED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22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/>
              <a:t>Magnitude Comparator (4/4)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990600"/>
            <a:ext cx="5267325" cy="539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45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Discrete quantities of information are represented in digital systems by binary codes</a:t>
            </a:r>
          </a:p>
          <a:p>
            <a:r>
              <a:rPr lang="en-US" dirty="0"/>
              <a:t>A binary code of n bits is capable of representing up to 2</a:t>
            </a:r>
            <a:r>
              <a:rPr lang="en-US" baseline="30000" dirty="0"/>
              <a:t>n</a:t>
            </a:r>
            <a:r>
              <a:rPr lang="en-US" dirty="0"/>
              <a:t> distinct elements of coded information</a:t>
            </a:r>
          </a:p>
          <a:p>
            <a:r>
              <a:rPr lang="en-US" dirty="0"/>
              <a:t>A decoder is a combinational circuit that converts binary information from n input lines to a maximum of 2</a:t>
            </a:r>
            <a:r>
              <a:rPr lang="en-US" baseline="30000" dirty="0"/>
              <a:t>n</a:t>
            </a:r>
            <a:r>
              <a:rPr lang="en-US" dirty="0"/>
              <a:t> unique output lines</a:t>
            </a:r>
          </a:p>
          <a:p>
            <a:r>
              <a:rPr lang="en-US" dirty="0"/>
              <a:t>If the n bit coded information has unused combinations, the decoder may have fewer than 2</a:t>
            </a:r>
            <a:r>
              <a:rPr lang="en-US" baseline="30000" dirty="0"/>
              <a:t>n</a:t>
            </a:r>
            <a:r>
              <a:rPr lang="en-US" dirty="0"/>
              <a:t> outputs</a:t>
            </a:r>
          </a:p>
          <a:p>
            <a:r>
              <a:rPr lang="en-US" dirty="0"/>
              <a:t>The decoders presented here are called n to m line decoders, where m ≤ 2</a:t>
            </a:r>
            <a:r>
              <a:rPr lang="en-US" baseline="30000" dirty="0"/>
              <a:t>n</a:t>
            </a:r>
          </a:p>
          <a:p>
            <a:r>
              <a:rPr lang="en-US" dirty="0"/>
              <a:t>Their purpose is to generate the 2</a:t>
            </a:r>
            <a:r>
              <a:rPr lang="en-US" baseline="30000" dirty="0"/>
              <a:t>n</a:t>
            </a:r>
            <a:r>
              <a:rPr lang="en-US" dirty="0"/>
              <a:t> (or fewer) </a:t>
            </a:r>
            <a:r>
              <a:rPr lang="en-US" dirty="0" err="1"/>
              <a:t>minterms</a:t>
            </a:r>
            <a:r>
              <a:rPr lang="en-US" dirty="0"/>
              <a:t> of n input variables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4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to 8 Line Decoder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124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3 to 8 line decoder the three inputs are decoded into eight outputs, each representing one of the </a:t>
            </a:r>
            <a:r>
              <a:rPr lang="en-US" dirty="0" err="1"/>
              <a:t>minterms</a:t>
            </a:r>
            <a:r>
              <a:rPr lang="en-US" dirty="0"/>
              <a:t> of the three input variables</a:t>
            </a:r>
          </a:p>
          <a:p>
            <a:r>
              <a:rPr lang="en-US" dirty="0"/>
              <a:t>A particular application of this decoder is binary-to-octal conversion</a:t>
            </a:r>
          </a:p>
          <a:p>
            <a:r>
              <a:rPr lang="en-US" dirty="0"/>
              <a:t>However, a three-to-eight-line decoder can be used for decoding any three-bit code to provide eight outputs, one for each element of the code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745" y="4343400"/>
            <a:ext cx="5934075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442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2187"/>
          </a:xfrm>
        </p:spPr>
        <p:txBody>
          <a:bodyPr/>
          <a:lstStyle/>
          <a:p>
            <a:r>
              <a:rPr lang="en-US" dirty="0"/>
              <a:t>3 to 8 Line Decoder (2/2)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266825"/>
            <a:ext cx="4905375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3240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Decoders with NAND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Some decoders are constructed with NAND gates</a:t>
            </a:r>
          </a:p>
          <a:p>
            <a:r>
              <a:rPr lang="en-US" dirty="0"/>
              <a:t>Since a NAND gate produces the AND operation with an inverted output, it becomes more economical to generate the decoder </a:t>
            </a:r>
            <a:r>
              <a:rPr lang="en-US" dirty="0" err="1"/>
              <a:t>minterms</a:t>
            </a:r>
            <a:r>
              <a:rPr lang="en-US" dirty="0"/>
              <a:t> in their complemented form</a:t>
            </a:r>
          </a:p>
          <a:p>
            <a:r>
              <a:rPr lang="en-US" dirty="0"/>
              <a:t>Furthermore, decoders include one or more enable (E) inputs to control the circuit operation</a:t>
            </a:r>
          </a:p>
          <a:p>
            <a:r>
              <a:rPr lang="en-US" dirty="0"/>
              <a:t>The decoder is enabled when E is equal to 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to 4 Line Decoder with NAND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5143500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5" y="2695574"/>
            <a:ext cx="3133725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170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 with Enable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a decoder may operate with complemented or un-complemented outputs</a:t>
            </a:r>
          </a:p>
          <a:p>
            <a:r>
              <a:rPr lang="en-US" dirty="0"/>
              <a:t>The enable input may be activated with a 0 or with a 1 signal</a:t>
            </a:r>
          </a:p>
          <a:p>
            <a:r>
              <a:rPr lang="en-US" dirty="0"/>
              <a:t>Some decoders have two or more enable inputs that must satisfy a given logic condition in order to enable the circuit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7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4 to 16 Line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4343400" cy="5105400"/>
          </a:xfrm>
        </p:spPr>
        <p:txBody>
          <a:bodyPr>
            <a:noAutofit/>
          </a:bodyPr>
          <a:lstStyle/>
          <a:p>
            <a:r>
              <a:rPr lang="en-US" sz="2200" dirty="0"/>
              <a:t>Two 3-to-8-line decoders with enable inputs connected to form a 4-to-16-line decoder</a:t>
            </a:r>
          </a:p>
          <a:p>
            <a:r>
              <a:rPr lang="en-US" sz="2200" dirty="0"/>
              <a:t>When w = 0, the top decoder is enabled and the other is disabled</a:t>
            </a:r>
          </a:p>
          <a:p>
            <a:r>
              <a:rPr lang="en-US" sz="2200" dirty="0"/>
              <a:t>The bottom decoder outputs are all 0’s, and the top eight outputs generate </a:t>
            </a:r>
            <a:r>
              <a:rPr lang="en-US" sz="2200" dirty="0" err="1"/>
              <a:t>minterms</a:t>
            </a:r>
            <a:r>
              <a:rPr lang="en-US" sz="2200" dirty="0"/>
              <a:t> 0000 to 0111</a:t>
            </a:r>
          </a:p>
          <a:p>
            <a:r>
              <a:rPr lang="en-US" sz="2200" dirty="0"/>
              <a:t>When w = 1, the enable conditions are reversed, the bottom decoder outputs generate </a:t>
            </a:r>
            <a:r>
              <a:rPr lang="en-US" sz="2200" dirty="0" err="1"/>
              <a:t>minterms</a:t>
            </a:r>
            <a:r>
              <a:rPr lang="en-US" sz="2200" dirty="0"/>
              <a:t> 1000 to 1111, while the outputs of the top decoder are all 0’s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18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133600"/>
            <a:ext cx="3924300" cy="317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267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9873</TotalTime>
  <Words>1096</Words>
  <Application>Microsoft Office PowerPoint</Application>
  <PresentationFormat>On-screen Show (4:3)</PresentationFormat>
  <Paragraphs>123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EE227 – Digital Logic Design</vt:lpstr>
      <vt:lpstr>Outline</vt:lpstr>
      <vt:lpstr>Decimal Adder</vt:lpstr>
      <vt:lpstr>BCD Adder (1/3)</vt:lpstr>
      <vt:lpstr>BCD Adder (2/3)</vt:lpstr>
      <vt:lpstr>BCD Adder (3/3)</vt:lpstr>
      <vt:lpstr>Magnitude Comparator (1/4)</vt:lpstr>
      <vt:lpstr>Magnitude Comparator (2/4)</vt:lpstr>
      <vt:lpstr>Magnitude Comparator (3/4)</vt:lpstr>
      <vt:lpstr>PowerPoint Presentation</vt:lpstr>
      <vt:lpstr>Magnitude Comparator (4/4)</vt:lpstr>
      <vt:lpstr>Decoders</vt:lpstr>
      <vt:lpstr>3 to 8 Line Decoder (1/2)</vt:lpstr>
      <vt:lpstr>3 to 8 Line Decoder (2/2)</vt:lpstr>
      <vt:lpstr>Decoders with NAND Gates</vt:lpstr>
      <vt:lpstr>2 to 4 Line Decoder with NAND </vt:lpstr>
      <vt:lpstr>Decoder with Enable Input</vt:lpstr>
      <vt:lpstr>4 to 16 Line Decoder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EE227 – Digital Logic Design</dc:title>
  <dc:creator>sAjid</dc:creator>
  <cp:lastModifiedBy>l250681 Muhammad Zaid Mehmood</cp:lastModifiedBy>
  <cp:revision>248</cp:revision>
  <dcterms:created xsi:type="dcterms:W3CDTF">2018-01-21T13:37:44Z</dcterms:created>
  <dcterms:modified xsi:type="dcterms:W3CDTF">2026-03-10T17:36:27Z</dcterms:modified>
</cp:coreProperties>
</file>