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72" r:id="rId12"/>
    <p:sldId id="266" r:id="rId13"/>
    <p:sldId id="267" r:id="rId14"/>
    <p:sldId id="268" r:id="rId15"/>
    <p:sldId id="273" r:id="rId16"/>
    <p:sldId id="274" r:id="rId17"/>
    <p:sldId id="270" r:id="rId18"/>
    <p:sldId id="271" r:id="rId19"/>
    <p:sldId id="26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2F9F6B-19F2-4FAC-8436-835A36B723E4}" type="datetimeFigureOut">
              <a:rPr lang="en-US" smtClean="0"/>
              <a:t>3/5/26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6C4BE1-D084-4D2B-8BB5-E99F53429E0A}" type="slidenum">
              <a:rPr lang="en-US" smtClean="0"/>
              <a:t>‹#›</a:t>
            </a:fld>
            <a:endParaRPr lang="en-US"/>
          </a:p>
        </p:txBody>
      </p:sp>
    </p:spTree>
    <p:extLst>
      <p:ext uri="{BB962C8B-B14F-4D97-AF65-F5344CB8AC3E}">
        <p14:creationId xmlns:p14="http://schemas.microsoft.com/office/powerpoint/2010/main" val="16199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70836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4016524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35581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11696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EE227 - DLD</a:t>
            </a:r>
          </a:p>
        </p:txBody>
      </p:sp>
      <p:sp>
        <p:nvSpPr>
          <p:cNvPr id="8" name="Footer Placeholder 7"/>
          <p:cNvSpPr>
            <a:spLocks noGrp="1"/>
          </p:cNvSpPr>
          <p:nvPr>
            <p:ph type="ftr" sz="quarter" idx="11"/>
          </p:nvPr>
        </p:nvSpPr>
        <p:spPr/>
        <p:txBody>
          <a:bodyPr/>
          <a:lstStyle/>
          <a:p>
            <a:r>
              <a:rPr lang="en-US" dirty="0"/>
              <a:t>Course Instructor Waqar Baig</a:t>
            </a:r>
          </a:p>
        </p:txBody>
      </p:sp>
      <p:sp>
        <p:nvSpPr>
          <p:cNvPr id="9" name="Slide Number Placeholder 8"/>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99952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Waqar Baig</a:t>
            </a:r>
          </a:p>
        </p:txBody>
      </p:sp>
      <p:sp>
        <p:nvSpPr>
          <p:cNvPr id="5" name="Slide Number Placeholder 4"/>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6651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EE227 - DLD</a:t>
            </a:r>
          </a:p>
        </p:txBody>
      </p:sp>
      <p:sp>
        <p:nvSpPr>
          <p:cNvPr id="3" name="Footer Placeholder 2"/>
          <p:cNvSpPr>
            <a:spLocks noGrp="1"/>
          </p:cNvSpPr>
          <p:nvPr>
            <p:ph type="ftr" sz="quarter" idx="11"/>
          </p:nvPr>
        </p:nvSpPr>
        <p:spPr/>
        <p:txBody>
          <a:bodyPr/>
          <a:lstStyle/>
          <a:p>
            <a:r>
              <a:rPr lang="en-US" dirty="0"/>
              <a:t>Course Instructor Waqar Baig</a:t>
            </a:r>
          </a:p>
        </p:txBody>
      </p:sp>
      <p:sp>
        <p:nvSpPr>
          <p:cNvPr id="4" name="Slide Number Placeholder 3"/>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80198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99575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91588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22437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0352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EE227 - DLD</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Instructor Waqar Baig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402E-3189-41C4-BB36-EE6F934C63A5}" type="slidenum">
              <a:rPr lang="en-US" smtClean="0"/>
              <a:t>‹#›</a:t>
            </a:fld>
            <a:endParaRPr lang="en-US"/>
          </a:p>
        </p:txBody>
      </p:sp>
    </p:spTree>
    <p:extLst>
      <p:ext uri="{BB962C8B-B14F-4D97-AF65-F5344CB8AC3E}">
        <p14:creationId xmlns:p14="http://schemas.microsoft.com/office/powerpoint/2010/main" val="53080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EE227 – Digital Logic Design</a:t>
            </a:r>
          </a:p>
        </p:txBody>
      </p:sp>
      <p:sp>
        <p:nvSpPr>
          <p:cNvPr id="3" name="Subtitle 2"/>
          <p:cNvSpPr>
            <a:spLocks noGrp="1"/>
          </p:cNvSpPr>
          <p:nvPr>
            <p:ph type="subTitle" idx="1"/>
          </p:nvPr>
        </p:nvSpPr>
        <p:spPr/>
        <p:txBody>
          <a:bodyPr/>
          <a:lstStyle/>
          <a:p>
            <a:r>
              <a:rPr lang="en-US" dirty="0"/>
              <a:t>Lecture 14</a:t>
            </a:r>
          </a:p>
        </p:txBody>
      </p:sp>
    </p:spTree>
    <p:extLst>
      <p:ext uri="{BB962C8B-B14F-4D97-AF65-F5344CB8AC3E}">
        <p14:creationId xmlns:p14="http://schemas.microsoft.com/office/powerpoint/2010/main" val="304826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Binary Adder</a:t>
            </a:r>
          </a:p>
          <a:p>
            <a:pPr lvl="1"/>
            <a:r>
              <a:rPr lang="en-US" dirty="0"/>
              <a:t>4 Bit Binary Adder</a:t>
            </a:r>
          </a:p>
          <a:p>
            <a:r>
              <a:rPr lang="en-US" dirty="0"/>
              <a:t>Carry Propagation</a:t>
            </a:r>
          </a:p>
          <a:p>
            <a:r>
              <a:rPr lang="en-US" dirty="0"/>
              <a:t>Carry </a:t>
            </a:r>
            <a:r>
              <a:rPr lang="en-US" dirty="0" err="1"/>
              <a:t>Lookahead</a:t>
            </a:r>
            <a:r>
              <a:rPr lang="en-US" dirty="0"/>
              <a:t> Generator</a:t>
            </a:r>
          </a:p>
          <a:p>
            <a:r>
              <a:rPr lang="en-US" dirty="0"/>
              <a:t>Binary </a:t>
            </a:r>
            <a:r>
              <a:rPr lang="en-US" dirty="0" err="1"/>
              <a:t>Subtractor</a:t>
            </a:r>
            <a:endParaRPr lang="en-US" dirty="0"/>
          </a:p>
          <a:p>
            <a:r>
              <a:rPr lang="en-US" dirty="0"/>
              <a:t>Overflow</a:t>
            </a:r>
          </a:p>
          <a:p>
            <a:r>
              <a:rPr lang="en-US" dirty="0"/>
              <a:t>4 – Bit Binary Adder – </a:t>
            </a:r>
            <a:r>
              <a:rPr lang="en-US" dirty="0" err="1"/>
              <a:t>Subtractor</a:t>
            </a:r>
            <a:r>
              <a:rPr lang="en-US" dirty="0"/>
              <a:t> with Overflow Detection</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a:t>
            </a:fld>
            <a:endParaRPr lang="en-US"/>
          </a:p>
        </p:txBody>
      </p:sp>
    </p:spTree>
    <p:extLst>
      <p:ext uri="{BB962C8B-B14F-4D97-AF65-F5344CB8AC3E}">
        <p14:creationId xmlns:p14="http://schemas.microsoft.com/office/powerpoint/2010/main" val="183132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Adder</a:t>
            </a:r>
          </a:p>
        </p:txBody>
      </p:sp>
      <p:sp>
        <p:nvSpPr>
          <p:cNvPr id="3" name="Content Placeholder 2"/>
          <p:cNvSpPr>
            <a:spLocks noGrp="1"/>
          </p:cNvSpPr>
          <p:nvPr>
            <p:ph idx="1"/>
          </p:nvPr>
        </p:nvSpPr>
        <p:spPr/>
        <p:txBody>
          <a:bodyPr>
            <a:normAutofit fontScale="77500" lnSpcReduction="20000"/>
          </a:bodyPr>
          <a:lstStyle/>
          <a:p>
            <a:r>
              <a:rPr lang="en-US" dirty="0"/>
              <a:t>2 bits can be added with a half adder</a:t>
            </a:r>
          </a:p>
          <a:p>
            <a:r>
              <a:rPr lang="en-US" dirty="0"/>
              <a:t>3 bits can be added with a full adder</a:t>
            </a:r>
          </a:p>
          <a:p>
            <a:r>
              <a:rPr lang="en-US" dirty="0"/>
              <a:t>We can construct a full adder with 2 half adders</a:t>
            </a:r>
          </a:p>
          <a:p>
            <a:r>
              <a:rPr lang="en-US" dirty="0"/>
              <a:t>A binary adder is a digital circuit that produces the arithmetic sum of two binary numbers</a:t>
            </a:r>
          </a:p>
          <a:p>
            <a:r>
              <a:rPr lang="en-US" dirty="0"/>
              <a:t>It can be constructed with full adders connected in cascade, with the output carry from each full adder connected to the input carry of the next full adder in the chain</a:t>
            </a:r>
          </a:p>
          <a:p>
            <a:r>
              <a:rPr lang="en-US" dirty="0"/>
              <a:t>Generally if we want to add n bits we will need</a:t>
            </a:r>
          </a:p>
          <a:p>
            <a:pPr lvl="1"/>
            <a:r>
              <a:rPr lang="en-US" dirty="0"/>
              <a:t>n full adders</a:t>
            </a:r>
          </a:p>
          <a:p>
            <a:pPr marL="457200" lvl="1" indent="0">
              <a:buNone/>
            </a:pPr>
            <a:r>
              <a:rPr lang="en-US" dirty="0"/>
              <a:t>	    OR</a:t>
            </a:r>
          </a:p>
          <a:p>
            <a:pPr lvl="1"/>
            <a:r>
              <a:rPr lang="en-US" dirty="0"/>
              <a:t>1 half adder and (n – 1) full adders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a:t>
            </a:fld>
            <a:endParaRPr lang="en-US"/>
          </a:p>
        </p:txBody>
      </p:sp>
    </p:spTree>
    <p:extLst>
      <p:ext uri="{BB962C8B-B14F-4D97-AF65-F5344CB8AC3E}">
        <p14:creationId xmlns:p14="http://schemas.microsoft.com/office/powerpoint/2010/main" val="134597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 Bit Binary Adder</a:t>
            </a:r>
          </a:p>
        </p:txBody>
      </p:sp>
      <p:sp>
        <p:nvSpPr>
          <p:cNvPr id="3" name="Content Placeholder 2"/>
          <p:cNvSpPr>
            <a:spLocks noGrp="1"/>
          </p:cNvSpPr>
          <p:nvPr>
            <p:ph idx="1"/>
          </p:nvPr>
        </p:nvSpPr>
        <p:spPr/>
        <p:txBody>
          <a:bodyPr>
            <a:normAutofit fontScale="77500" lnSpcReduction="20000"/>
          </a:bodyPr>
          <a:lstStyle/>
          <a:p>
            <a:r>
              <a:rPr lang="en-US" dirty="0"/>
              <a:t>A typical approach of design will require 9 inputs and truth table will contain 2</a:t>
            </a:r>
            <a:r>
              <a:rPr lang="en-US" baseline="30000" dirty="0"/>
              <a:t>9</a:t>
            </a:r>
            <a:r>
              <a:rPr lang="en-US" dirty="0"/>
              <a:t> = 512 entries</a:t>
            </a:r>
          </a:p>
          <a:p>
            <a:r>
              <a:rPr lang="en-US" dirty="0"/>
              <a:t>But with the help of an iterative cascading method the design can be simplified</a:t>
            </a:r>
          </a:p>
          <a:p>
            <a:r>
              <a:rPr lang="en-US" dirty="0"/>
              <a:t>A 4 bit binary adder can be constructed by cascading 4 full adders</a:t>
            </a:r>
          </a:p>
          <a:p>
            <a:r>
              <a:rPr lang="en-US" dirty="0"/>
              <a:t>The input carry of first full adder is fixed to 0</a:t>
            </a:r>
          </a:p>
          <a:p>
            <a:r>
              <a:rPr lang="en-US" dirty="0"/>
              <a:t>The bits are added with full adders, starting from the least significant position</a:t>
            </a:r>
          </a:p>
          <a:p>
            <a:r>
              <a:rPr lang="en-US" dirty="0"/>
              <a:t>The output carry of a stage is connected to the input carry of next stage</a:t>
            </a:r>
          </a:p>
          <a:p>
            <a:r>
              <a:rPr lang="en-US" dirty="0"/>
              <a:t>As the carry is propagating from one stage to another, it is also called a </a:t>
            </a:r>
            <a:r>
              <a:rPr lang="en-US" b="1" dirty="0"/>
              <a:t>Ripple Carry Adder</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a:t>
            </a:fld>
            <a:endParaRPr lang="en-US"/>
          </a:p>
        </p:txBody>
      </p:sp>
    </p:spTree>
    <p:extLst>
      <p:ext uri="{BB962C8B-B14F-4D97-AF65-F5344CB8AC3E}">
        <p14:creationId xmlns:p14="http://schemas.microsoft.com/office/powerpoint/2010/main" val="346539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 Bit Binary Ripple Carry Adder</a:t>
            </a:r>
          </a:p>
        </p:txBody>
      </p:sp>
      <p:sp>
        <p:nvSpPr>
          <p:cNvPr id="3" name="Content Placeholder 2"/>
          <p:cNvSpPr>
            <a:spLocks noGrp="1"/>
          </p:cNvSpPr>
          <p:nvPr>
            <p:ph idx="1"/>
          </p:nvPr>
        </p:nvSpPr>
        <p:spPr>
          <a:xfrm>
            <a:off x="457200" y="1600201"/>
            <a:ext cx="4343400" cy="2057400"/>
          </a:xfrm>
        </p:spPr>
        <p:txBody>
          <a:bodyPr>
            <a:normAutofit lnSpcReduction="10000"/>
          </a:bodyPr>
          <a:lstStyle/>
          <a:p>
            <a:r>
              <a:rPr lang="en-US" dirty="0"/>
              <a:t>A = 1011 and B = 0011</a:t>
            </a:r>
          </a:p>
          <a:p>
            <a:r>
              <a:rPr lang="en-US" dirty="0"/>
              <a:t>Their sum S = 1110 is formed with the four-bit adder as follows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3950" y="1685925"/>
            <a:ext cx="39052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657600"/>
            <a:ext cx="8019259"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126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Carry Propagation (1/3)</a:t>
            </a:r>
          </a:p>
        </p:txBody>
      </p:sp>
      <p:sp>
        <p:nvSpPr>
          <p:cNvPr id="3" name="Content Placeholder 2"/>
          <p:cNvSpPr>
            <a:spLocks noGrp="1"/>
          </p:cNvSpPr>
          <p:nvPr>
            <p:ph idx="1"/>
          </p:nvPr>
        </p:nvSpPr>
        <p:spPr/>
        <p:txBody>
          <a:bodyPr>
            <a:normAutofit fontScale="92500" lnSpcReduction="20000"/>
          </a:bodyPr>
          <a:lstStyle/>
          <a:p>
            <a:r>
              <a:rPr lang="en-US" dirty="0"/>
              <a:t>The binary numbers are available to adders in parallel but carries are not</a:t>
            </a:r>
          </a:p>
          <a:p>
            <a:r>
              <a:rPr lang="en-US" dirty="0"/>
              <a:t>The carry is propagating in ripple carry adder from one stage to other</a:t>
            </a:r>
          </a:p>
          <a:p>
            <a:r>
              <a:rPr lang="en-US" dirty="0"/>
              <a:t>It will cause a delay in the computation of sum bits</a:t>
            </a:r>
          </a:p>
          <a:p>
            <a:r>
              <a:rPr lang="en-US" dirty="0"/>
              <a:t>The longest propagation delay time in an adder is the time it takes the carry to propagate through the full adders</a:t>
            </a:r>
          </a:p>
          <a:p>
            <a:r>
              <a:rPr lang="en-US" dirty="0"/>
              <a:t>The carry propagation time is found in terms of gate levels</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a:t>
            </a:fld>
            <a:endParaRPr lang="en-US"/>
          </a:p>
        </p:txBody>
      </p:sp>
    </p:spTree>
    <p:extLst>
      <p:ext uri="{BB962C8B-B14F-4D97-AF65-F5344CB8AC3E}">
        <p14:creationId xmlns:p14="http://schemas.microsoft.com/office/powerpoint/2010/main" val="288037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a:t>Carry Propagation (2/3)</a:t>
            </a:r>
          </a:p>
        </p:txBody>
      </p:sp>
      <p:sp>
        <p:nvSpPr>
          <p:cNvPr id="3" name="Content Placeholder 2"/>
          <p:cNvSpPr>
            <a:spLocks noGrp="1"/>
          </p:cNvSpPr>
          <p:nvPr>
            <p:ph idx="1"/>
          </p:nvPr>
        </p:nvSpPr>
        <p:spPr>
          <a:xfrm>
            <a:off x="457200" y="914400"/>
            <a:ext cx="8229600" cy="5410200"/>
          </a:xfrm>
        </p:spPr>
        <p:txBody>
          <a:bodyPr>
            <a:normAutofit fontScale="77500" lnSpcReduction="20000"/>
          </a:bodyPr>
          <a:lstStyle/>
          <a:p>
            <a:r>
              <a:rPr lang="en-US" dirty="0"/>
              <a:t>The number of gate levels for the carry propagation can be found from the circuit of the full adder</a:t>
            </a:r>
          </a:p>
          <a:p>
            <a:endParaRPr lang="en-US" dirty="0"/>
          </a:p>
          <a:p>
            <a:endParaRPr lang="en-US" dirty="0"/>
          </a:p>
          <a:p>
            <a:endParaRPr lang="en-US" dirty="0"/>
          </a:p>
          <a:p>
            <a:endParaRPr lang="en-US" dirty="0"/>
          </a:p>
          <a:p>
            <a:endParaRPr lang="en-US" dirty="0"/>
          </a:p>
          <a:p>
            <a:endParaRPr lang="en-US" dirty="0"/>
          </a:p>
          <a:p>
            <a:r>
              <a:rPr lang="en-US" dirty="0"/>
              <a:t>The signal from the input carry </a:t>
            </a:r>
            <a:r>
              <a:rPr lang="en-US" dirty="0" err="1"/>
              <a:t>C</a:t>
            </a:r>
            <a:r>
              <a:rPr lang="en-US" baseline="-25000" dirty="0" err="1"/>
              <a:t>i</a:t>
            </a:r>
            <a:r>
              <a:rPr lang="en-US" dirty="0"/>
              <a:t> to the output carry C</a:t>
            </a:r>
            <a:r>
              <a:rPr lang="en-US" baseline="-25000" dirty="0"/>
              <a:t>i+1</a:t>
            </a:r>
            <a:r>
              <a:rPr lang="en-US" dirty="0"/>
              <a:t> propagates through an AND gate and an OR gate, which constitute two gate levels</a:t>
            </a:r>
          </a:p>
          <a:p>
            <a:r>
              <a:rPr lang="en-US" dirty="0"/>
              <a:t>If there are four full adders in the adder, the output carry C</a:t>
            </a:r>
            <a:r>
              <a:rPr lang="en-US" baseline="-25000" dirty="0"/>
              <a:t>4</a:t>
            </a:r>
            <a:r>
              <a:rPr lang="en-US" dirty="0"/>
              <a:t> would have 2 x 4 = 8 gate levels from C</a:t>
            </a:r>
            <a:r>
              <a:rPr lang="en-US" baseline="-25000" dirty="0"/>
              <a:t>0</a:t>
            </a:r>
            <a:r>
              <a:rPr lang="en-US" dirty="0"/>
              <a:t> to C</a:t>
            </a:r>
            <a:r>
              <a:rPr lang="en-US" baseline="-25000" dirty="0"/>
              <a:t>4</a:t>
            </a:r>
          </a:p>
          <a:p>
            <a:r>
              <a:rPr lang="en-US" dirty="0"/>
              <a:t>For an n -bit adder, there are 2n gate levels for the carry to propagate from input to output</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15440"/>
            <a:ext cx="6136327"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939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Carry Propagation (3/3)</a:t>
            </a:r>
          </a:p>
        </p:txBody>
      </p:sp>
      <p:sp>
        <p:nvSpPr>
          <p:cNvPr id="3" name="Content Placeholder 2"/>
          <p:cNvSpPr>
            <a:spLocks noGrp="1"/>
          </p:cNvSpPr>
          <p:nvPr>
            <p:ph idx="1"/>
          </p:nvPr>
        </p:nvSpPr>
        <p:spPr>
          <a:xfrm>
            <a:off x="457200" y="1295400"/>
            <a:ext cx="8229600" cy="4876800"/>
          </a:xfrm>
        </p:spPr>
        <p:txBody>
          <a:bodyPr>
            <a:normAutofit fontScale="77500" lnSpcReduction="20000"/>
          </a:bodyPr>
          <a:lstStyle/>
          <a:p>
            <a:r>
              <a:rPr lang="en-US" dirty="0"/>
              <a:t>The carry propagation time is an important attribute of the adder because it limits the speed with which two numbers are added</a:t>
            </a:r>
          </a:p>
          <a:p>
            <a:r>
              <a:rPr lang="en-US" dirty="0"/>
              <a:t>Since all other arithmetic operations are implemented by successive additions, the time consumed during the addition process is critical</a:t>
            </a:r>
          </a:p>
          <a:p>
            <a:r>
              <a:rPr lang="en-US" dirty="0"/>
              <a:t>An obvious solution for reducing the carry propagation delay time is to employ faster gates with reduced delays</a:t>
            </a:r>
          </a:p>
          <a:p>
            <a:pPr lvl="1"/>
            <a:r>
              <a:rPr lang="en-US" dirty="0"/>
              <a:t>However, physical circuits have a limit to their capability</a:t>
            </a:r>
          </a:p>
          <a:p>
            <a:r>
              <a:rPr lang="en-US" dirty="0"/>
              <a:t>Another solution is to increase the complexity of the equipment in such a way that the carry delay time is reduced</a:t>
            </a:r>
          </a:p>
          <a:p>
            <a:pPr lvl="1"/>
            <a:r>
              <a:rPr lang="en-US" dirty="0"/>
              <a:t>The most widely used technique employs the principle of </a:t>
            </a:r>
            <a:r>
              <a:rPr lang="en-US" b="1" dirty="0"/>
              <a:t>carry </a:t>
            </a:r>
            <a:r>
              <a:rPr lang="en-US" b="1" dirty="0" err="1"/>
              <a:t>lookahead</a:t>
            </a:r>
            <a:r>
              <a:rPr lang="en-US" dirty="0"/>
              <a:t> logic</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8</a:t>
            </a:fld>
            <a:endParaRPr lang="en-US"/>
          </a:p>
        </p:txBody>
      </p:sp>
    </p:spTree>
    <p:extLst>
      <p:ext uri="{BB962C8B-B14F-4D97-AF65-F5344CB8AC3E}">
        <p14:creationId xmlns:p14="http://schemas.microsoft.com/office/powerpoint/2010/main" val="95724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Carry </a:t>
            </a:r>
            <a:r>
              <a:rPr lang="en-US" dirty="0" err="1"/>
              <a:t>Lookahead</a:t>
            </a:r>
            <a:r>
              <a:rPr lang="en-US" dirty="0"/>
              <a:t> Generator (1/4)</a:t>
            </a:r>
          </a:p>
        </p:txBody>
      </p:sp>
      <p:sp>
        <p:nvSpPr>
          <p:cNvPr id="3" name="Content Placeholder 2"/>
          <p:cNvSpPr>
            <a:spLocks noGrp="1"/>
          </p:cNvSpPr>
          <p:nvPr>
            <p:ph idx="1"/>
          </p:nvPr>
        </p:nvSpPr>
        <p:spPr>
          <a:xfrm>
            <a:off x="457200" y="3581400"/>
            <a:ext cx="8229600" cy="2773363"/>
          </a:xfrm>
        </p:spPr>
        <p:txBody>
          <a:bodyPr>
            <a:normAutofit fontScale="77500" lnSpcReduction="20000"/>
          </a:bodyPr>
          <a:lstStyle/>
          <a:p>
            <a:r>
              <a:rPr lang="en-US" dirty="0"/>
              <a:t>From the circuit</a:t>
            </a:r>
          </a:p>
          <a:p>
            <a:pPr marL="0" indent="0" algn="ctr">
              <a:buNone/>
            </a:pPr>
            <a:r>
              <a:rPr lang="en-US" dirty="0">
                <a:highlight>
                  <a:srgbClr val="00FFFF"/>
                </a:highlight>
              </a:rPr>
              <a:t>P</a:t>
            </a:r>
            <a:r>
              <a:rPr lang="en-US" baseline="-25000" dirty="0">
                <a:highlight>
                  <a:srgbClr val="00FFFF"/>
                </a:highlight>
              </a:rPr>
              <a:t>i</a:t>
            </a:r>
            <a:r>
              <a:rPr lang="en-US" dirty="0">
                <a:highlight>
                  <a:srgbClr val="00FFFF"/>
                </a:highlight>
              </a:rPr>
              <a:t> = A</a:t>
            </a:r>
            <a:r>
              <a:rPr lang="en-US" baseline="-25000" dirty="0">
                <a:highlight>
                  <a:srgbClr val="00FFFF"/>
                </a:highlight>
              </a:rPr>
              <a:t>i</a:t>
            </a:r>
            <a:r>
              <a:rPr lang="en-US" dirty="0">
                <a:highlight>
                  <a:srgbClr val="00FFFF"/>
                </a:highlight>
              </a:rPr>
              <a:t> </a:t>
            </a:r>
            <a:r>
              <a:rPr lang="en-US" dirty="0">
                <a:highlight>
                  <a:srgbClr val="00FFFF"/>
                </a:highlight>
                <a:sym typeface="Symbol"/>
              </a:rPr>
              <a:t> B</a:t>
            </a:r>
            <a:r>
              <a:rPr lang="en-US" baseline="-25000" dirty="0">
                <a:highlight>
                  <a:srgbClr val="00FFFF"/>
                </a:highlight>
                <a:sym typeface="Symbol"/>
              </a:rPr>
              <a:t>i</a:t>
            </a:r>
            <a:r>
              <a:rPr lang="en-US" dirty="0">
                <a:sym typeface="Symbol"/>
              </a:rPr>
              <a:t>		</a:t>
            </a:r>
            <a:r>
              <a:rPr lang="en-US" dirty="0" err="1">
                <a:highlight>
                  <a:srgbClr val="00FFFF"/>
                </a:highlight>
                <a:sym typeface="Symbol"/>
              </a:rPr>
              <a:t>G</a:t>
            </a:r>
            <a:r>
              <a:rPr lang="en-US" baseline="-25000" dirty="0" err="1">
                <a:highlight>
                  <a:srgbClr val="00FFFF"/>
                </a:highlight>
                <a:sym typeface="Symbol"/>
              </a:rPr>
              <a:t>i</a:t>
            </a:r>
            <a:r>
              <a:rPr lang="en-US" dirty="0">
                <a:highlight>
                  <a:srgbClr val="00FFFF"/>
                </a:highlight>
                <a:sym typeface="Symbol"/>
              </a:rPr>
              <a:t> = </a:t>
            </a:r>
            <a:r>
              <a:rPr lang="en-US" dirty="0" err="1">
                <a:highlight>
                  <a:srgbClr val="00FFFF"/>
                </a:highlight>
                <a:sym typeface="Symbol"/>
              </a:rPr>
              <a:t>A</a:t>
            </a:r>
            <a:r>
              <a:rPr lang="en-US" baseline="-25000" dirty="0" err="1">
                <a:highlight>
                  <a:srgbClr val="00FFFF"/>
                </a:highlight>
                <a:sym typeface="Symbol"/>
              </a:rPr>
              <a:t>i</a:t>
            </a:r>
            <a:r>
              <a:rPr lang="en-US" dirty="0" err="1">
                <a:highlight>
                  <a:srgbClr val="00FFFF"/>
                </a:highlight>
                <a:sym typeface="Symbol"/>
              </a:rPr>
              <a:t>B</a:t>
            </a:r>
            <a:r>
              <a:rPr lang="en-US" baseline="-25000" dirty="0" err="1">
                <a:highlight>
                  <a:srgbClr val="00FFFF"/>
                </a:highlight>
                <a:sym typeface="Symbol"/>
              </a:rPr>
              <a:t>i</a:t>
            </a:r>
            <a:endParaRPr lang="en-US" baseline="-25000" dirty="0">
              <a:highlight>
                <a:srgbClr val="00FFFF"/>
              </a:highlight>
              <a:sym typeface="Symbol"/>
            </a:endParaRPr>
          </a:p>
          <a:p>
            <a:r>
              <a:rPr lang="en-US" dirty="0">
                <a:sym typeface="Symbol"/>
              </a:rPr>
              <a:t>The output sum and carry are</a:t>
            </a:r>
          </a:p>
          <a:p>
            <a:pPr marL="0" indent="0" algn="ctr">
              <a:buNone/>
            </a:pPr>
            <a:r>
              <a:rPr lang="en-US" dirty="0">
                <a:highlight>
                  <a:srgbClr val="00FFFF"/>
                </a:highlight>
                <a:sym typeface="Symbol"/>
              </a:rPr>
              <a:t>S</a:t>
            </a:r>
            <a:r>
              <a:rPr lang="en-US" baseline="-25000" dirty="0">
                <a:highlight>
                  <a:srgbClr val="00FFFF"/>
                </a:highlight>
                <a:sym typeface="Symbol"/>
              </a:rPr>
              <a:t>i</a:t>
            </a:r>
            <a:r>
              <a:rPr lang="en-US" dirty="0">
                <a:highlight>
                  <a:srgbClr val="00FFFF"/>
                </a:highlight>
                <a:sym typeface="Symbol"/>
              </a:rPr>
              <a:t> = P</a:t>
            </a:r>
            <a:r>
              <a:rPr lang="en-US" baseline="-25000" dirty="0">
                <a:highlight>
                  <a:srgbClr val="00FFFF"/>
                </a:highlight>
                <a:sym typeface="Symbol"/>
              </a:rPr>
              <a:t>i</a:t>
            </a:r>
            <a:r>
              <a:rPr lang="en-US" dirty="0">
                <a:highlight>
                  <a:srgbClr val="00FFFF"/>
                </a:highlight>
                <a:sym typeface="Symbol"/>
              </a:rPr>
              <a:t>  </a:t>
            </a:r>
            <a:r>
              <a:rPr lang="en-US" dirty="0" err="1">
                <a:highlight>
                  <a:srgbClr val="00FFFF"/>
                </a:highlight>
                <a:sym typeface="Symbol"/>
              </a:rPr>
              <a:t>C</a:t>
            </a:r>
            <a:r>
              <a:rPr lang="en-US" baseline="-25000" dirty="0" err="1">
                <a:highlight>
                  <a:srgbClr val="00FFFF"/>
                </a:highlight>
                <a:sym typeface="Symbol"/>
              </a:rPr>
              <a:t>i</a:t>
            </a:r>
            <a:r>
              <a:rPr lang="en-US" dirty="0">
                <a:sym typeface="Symbol"/>
              </a:rPr>
              <a:t>		</a:t>
            </a:r>
            <a:r>
              <a:rPr lang="en-US" dirty="0">
                <a:highlight>
                  <a:srgbClr val="00FFFF"/>
                </a:highlight>
                <a:sym typeface="Symbol"/>
              </a:rPr>
              <a:t>C</a:t>
            </a:r>
            <a:r>
              <a:rPr lang="en-US" baseline="-25000" dirty="0">
                <a:highlight>
                  <a:srgbClr val="00FFFF"/>
                </a:highlight>
                <a:sym typeface="Symbol"/>
              </a:rPr>
              <a:t>i+1</a:t>
            </a:r>
            <a:r>
              <a:rPr lang="en-US" dirty="0">
                <a:highlight>
                  <a:srgbClr val="00FFFF"/>
                </a:highlight>
                <a:sym typeface="Symbol"/>
              </a:rPr>
              <a:t> = </a:t>
            </a:r>
            <a:r>
              <a:rPr lang="en-US" dirty="0" err="1">
                <a:highlight>
                  <a:srgbClr val="00FFFF"/>
                </a:highlight>
                <a:sym typeface="Symbol"/>
              </a:rPr>
              <a:t>G</a:t>
            </a:r>
            <a:r>
              <a:rPr lang="en-US" baseline="-25000" dirty="0" err="1">
                <a:highlight>
                  <a:srgbClr val="00FFFF"/>
                </a:highlight>
                <a:sym typeface="Symbol"/>
              </a:rPr>
              <a:t>i</a:t>
            </a:r>
            <a:r>
              <a:rPr lang="en-US" dirty="0">
                <a:highlight>
                  <a:srgbClr val="00FFFF"/>
                </a:highlight>
                <a:sym typeface="Symbol"/>
              </a:rPr>
              <a:t> + </a:t>
            </a:r>
            <a:r>
              <a:rPr lang="en-US" dirty="0" err="1">
                <a:highlight>
                  <a:srgbClr val="00FFFF"/>
                </a:highlight>
                <a:sym typeface="Symbol"/>
              </a:rPr>
              <a:t>P</a:t>
            </a:r>
            <a:r>
              <a:rPr lang="en-US" baseline="-25000" dirty="0" err="1">
                <a:highlight>
                  <a:srgbClr val="00FFFF"/>
                </a:highlight>
                <a:sym typeface="Symbol"/>
              </a:rPr>
              <a:t>i</a:t>
            </a:r>
            <a:r>
              <a:rPr lang="en-US" dirty="0" err="1">
                <a:highlight>
                  <a:srgbClr val="00FFFF"/>
                </a:highlight>
                <a:sym typeface="Symbol"/>
              </a:rPr>
              <a:t>C</a:t>
            </a:r>
            <a:r>
              <a:rPr lang="en-US" baseline="-25000" dirty="0" err="1">
                <a:highlight>
                  <a:srgbClr val="00FFFF"/>
                </a:highlight>
                <a:sym typeface="Symbol"/>
              </a:rPr>
              <a:t>i</a:t>
            </a:r>
            <a:endParaRPr lang="en-US" baseline="-25000" dirty="0">
              <a:highlight>
                <a:srgbClr val="00FFFF"/>
              </a:highlight>
              <a:sym typeface="Symbol"/>
            </a:endParaRPr>
          </a:p>
          <a:p>
            <a:r>
              <a:rPr lang="en-US" dirty="0" err="1">
                <a:sym typeface="Symbol"/>
              </a:rPr>
              <a:t>G</a:t>
            </a:r>
            <a:r>
              <a:rPr lang="en-US" baseline="-25000" dirty="0" err="1">
                <a:sym typeface="Symbol"/>
              </a:rPr>
              <a:t>i</a:t>
            </a:r>
            <a:r>
              <a:rPr lang="en-US" dirty="0">
                <a:sym typeface="Symbol"/>
              </a:rPr>
              <a:t> is called a </a:t>
            </a:r>
            <a:r>
              <a:rPr lang="en-US" b="1" dirty="0">
                <a:sym typeface="Symbol"/>
              </a:rPr>
              <a:t>carry generate</a:t>
            </a:r>
            <a:r>
              <a:rPr lang="en-US" dirty="0">
                <a:sym typeface="Symbol"/>
              </a:rPr>
              <a:t> , and it produces a carry of 1 when both A</a:t>
            </a:r>
            <a:r>
              <a:rPr lang="en-US" baseline="-25000" dirty="0">
                <a:sym typeface="Symbol"/>
              </a:rPr>
              <a:t>i</a:t>
            </a:r>
            <a:r>
              <a:rPr lang="en-US" dirty="0">
                <a:sym typeface="Symbol"/>
              </a:rPr>
              <a:t> and B</a:t>
            </a:r>
            <a:r>
              <a:rPr lang="en-US" baseline="-25000" dirty="0">
                <a:sym typeface="Symbol"/>
              </a:rPr>
              <a:t>i</a:t>
            </a:r>
            <a:r>
              <a:rPr lang="en-US" dirty="0">
                <a:sym typeface="Symbol"/>
              </a:rPr>
              <a:t> are 1 regardless of the input carry </a:t>
            </a:r>
            <a:r>
              <a:rPr lang="en-US" dirty="0" err="1">
                <a:sym typeface="Symbol"/>
              </a:rPr>
              <a:t>C</a:t>
            </a:r>
            <a:r>
              <a:rPr lang="en-US" baseline="-25000" dirty="0" err="1">
                <a:sym typeface="Symbol"/>
              </a:rPr>
              <a:t>i</a:t>
            </a:r>
            <a:r>
              <a:rPr lang="en-US" dirty="0">
                <a:sym typeface="Symbol"/>
              </a:rPr>
              <a:t> </a:t>
            </a:r>
          </a:p>
          <a:p>
            <a:r>
              <a:rPr lang="en-US" dirty="0">
                <a:sym typeface="Symbol"/>
              </a:rPr>
              <a:t>P</a:t>
            </a:r>
            <a:r>
              <a:rPr lang="en-US" baseline="-25000" dirty="0">
                <a:sym typeface="Symbol"/>
              </a:rPr>
              <a:t>i</a:t>
            </a:r>
            <a:r>
              <a:rPr lang="en-US" dirty="0">
                <a:sym typeface="Symbol"/>
              </a:rPr>
              <a:t> is called a </a:t>
            </a:r>
            <a:r>
              <a:rPr lang="en-US" b="1" dirty="0">
                <a:sym typeface="Symbol"/>
              </a:rPr>
              <a:t>carry propagate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9</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95400"/>
            <a:ext cx="6392008"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366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Carry </a:t>
            </a:r>
            <a:r>
              <a:rPr lang="en-US" dirty="0" err="1"/>
              <a:t>Lookahead</a:t>
            </a:r>
            <a:r>
              <a:rPr lang="en-US" dirty="0"/>
              <a:t> Generator (2/4)</a:t>
            </a:r>
          </a:p>
        </p:txBody>
      </p:sp>
      <p:sp>
        <p:nvSpPr>
          <p:cNvPr id="3" name="Content Placeholder 2"/>
          <p:cNvSpPr>
            <a:spLocks noGrp="1"/>
          </p:cNvSpPr>
          <p:nvPr>
            <p:ph idx="1"/>
          </p:nvPr>
        </p:nvSpPr>
        <p:spPr/>
        <p:txBody>
          <a:bodyPr>
            <a:normAutofit fontScale="92500" lnSpcReduction="10000"/>
          </a:bodyPr>
          <a:lstStyle/>
          <a:p>
            <a:pPr marL="0" indent="0" algn="ctr">
              <a:buNone/>
            </a:pPr>
            <a:r>
              <a:rPr lang="en-US" dirty="0">
                <a:highlight>
                  <a:srgbClr val="808080"/>
                </a:highlight>
                <a:sym typeface="Symbol"/>
              </a:rPr>
              <a:t>C</a:t>
            </a:r>
            <a:r>
              <a:rPr lang="en-US" baseline="-25000" dirty="0">
                <a:highlight>
                  <a:srgbClr val="808080"/>
                </a:highlight>
                <a:sym typeface="Symbol"/>
              </a:rPr>
              <a:t>i+1</a:t>
            </a:r>
            <a:r>
              <a:rPr lang="en-US" dirty="0">
                <a:highlight>
                  <a:srgbClr val="808080"/>
                </a:highlight>
                <a:sym typeface="Symbol"/>
              </a:rPr>
              <a:t> = </a:t>
            </a:r>
            <a:r>
              <a:rPr lang="en-US" dirty="0" err="1">
                <a:highlight>
                  <a:srgbClr val="808080"/>
                </a:highlight>
                <a:sym typeface="Symbol"/>
              </a:rPr>
              <a:t>G</a:t>
            </a:r>
            <a:r>
              <a:rPr lang="en-US" baseline="-25000" dirty="0" err="1">
                <a:highlight>
                  <a:srgbClr val="808080"/>
                </a:highlight>
                <a:sym typeface="Symbol"/>
              </a:rPr>
              <a:t>i</a:t>
            </a:r>
            <a:r>
              <a:rPr lang="en-US" dirty="0">
                <a:highlight>
                  <a:srgbClr val="808080"/>
                </a:highlight>
                <a:sym typeface="Symbol"/>
              </a:rPr>
              <a:t> + </a:t>
            </a:r>
            <a:r>
              <a:rPr lang="en-US" dirty="0" err="1">
                <a:highlight>
                  <a:srgbClr val="808080"/>
                </a:highlight>
                <a:sym typeface="Symbol"/>
              </a:rPr>
              <a:t>P</a:t>
            </a:r>
            <a:r>
              <a:rPr lang="en-US" baseline="-25000" dirty="0" err="1">
                <a:highlight>
                  <a:srgbClr val="808080"/>
                </a:highlight>
                <a:sym typeface="Symbol"/>
              </a:rPr>
              <a:t>i</a:t>
            </a:r>
            <a:r>
              <a:rPr lang="en-US" dirty="0" err="1">
                <a:highlight>
                  <a:srgbClr val="808080"/>
                </a:highlight>
                <a:sym typeface="Symbol"/>
              </a:rPr>
              <a:t>C</a:t>
            </a:r>
            <a:r>
              <a:rPr lang="en-US" baseline="-25000" dirty="0" err="1">
                <a:highlight>
                  <a:srgbClr val="808080"/>
                </a:highlight>
                <a:sym typeface="Symbol"/>
              </a:rPr>
              <a:t>i</a:t>
            </a:r>
            <a:endParaRPr lang="en-US" dirty="0">
              <a:highlight>
                <a:srgbClr val="808080"/>
              </a:highlight>
            </a:endParaRPr>
          </a:p>
          <a:p>
            <a:r>
              <a:rPr lang="en-US" dirty="0"/>
              <a:t>We can write the expressions of output carries</a:t>
            </a:r>
          </a:p>
          <a:p>
            <a:pPr marL="800100" lvl="2" indent="0">
              <a:buNone/>
            </a:pPr>
            <a:r>
              <a:rPr lang="en-US" dirty="0"/>
              <a:t>C</a:t>
            </a:r>
            <a:r>
              <a:rPr lang="en-US" baseline="-25000" dirty="0"/>
              <a:t>0</a:t>
            </a:r>
            <a:r>
              <a:rPr lang="en-US" dirty="0"/>
              <a:t> = input carry</a:t>
            </a:r>
          </a:p>
          <a:p>
            <a:pPr marL="800100" lvl="2" indent="0">
              <a:buNone/>
            </a:pPr>
            <a:r>
              <a:rPr lang="en-US" b="1" dirty="0"/>
              <a:t>C</a:t>
            </a:r>
            <a:r>
              <a:rPr lang="en-US" b="1" baseline="-25000" dirty="0"/>
              <a:t>1</a:t>
            </a:r>
            <a:r>
              <a:rPr lang="en-US" b="1" dirty="0"/>
              <a:t> = G</a:t>
            </a:r>
            <a:r>
              <a:rPr lang="en-US" b="1" baseline="-25000" dirty="0"/>
              <a:t>0</a:t>
            </a:r>
            <a:r>
              <a:rPr lang="en-US" b="1" dirty="0"/>
              <a:t> + P</a:t>
            </a:r>
            <a:r>
              <a:rPr lang="en-US" b="1" baseline="-25000" dirty="0"/>
              <a:t>0</a:t>
            </a:r>
            <a:r>
              <a:rPr lang="en-US" b="1" dirty="0"/>
              <a:t>C</a:t>
            </a:r>
            <a:r>
              <a:rPr lang="en-US" b="1" baseline="-25000" dirty="0"/>
              <a:t>0</a:t>
            </a:r>
          </a:p>
          <a:p>
            <a:pPr marL="800100" lvl="2" indent="0">
              <a:buNone/>
            </a:pPr>
            <a:r>
              <a:rPr lang="en-US" dirty="0"/>
              <a:t>C</a:t>
            </a:r>
            <a:r>
              <a:rPr lang="en-US" baseline="-25000" dirty="0"/>
              <a:t>2</a:t>
            </a:r>
            <a:r>
              <a:rPr lang="en-US" dirty="0"/>
              <a:t> = G</a:t>
            </a:r>
            <a:r>
              <a:rPr lang="en-US" baseline="-25000" dirty="0"/>
              <a:t>1</a:t>
            </a:r>
            <a:r>
              <a:rPr lang="en-US" dirty="0"/>
              <a:t> + P</a:t>
            </a:r>
            <a:r>
              <a:rPr lang="en-US" baseline="-25000" dirty="0"/>
              <a:t>1</a:t>
            </a:r>
            <a:r>
              <a:rPr lang="en-US" dirty="0"/>
              <a:t>C</a:t>
            </a:r>
            <a:r>
              <a:rPr lang="en-US" baseline="-25000" dirty="0"/>
              <a:t>1</a:t>
            </a:r>
            <a:endParaRPr lang="en-US" dirty="0"/>
          </a:p>
          <a:p>
            <a:pPr marL="800100" lvl="2" indent="0">
              <a:buNone/>
            </a:pPr>
            <a:r>
              <a:rPr lang="en-US" dirty="0"/>
              <a:t>C</a:t>
            </a:r>
            <a:r>
              <a:rPr lang="en-US" baseline="-25000" dirty="0"/>
              <a:t>2</a:t>
            </a:r>
            <a:r>
              <a:rPr lang="en-US" dirty="0"/>
              <a:t> = G</a:t>
            </a:r>
            <a:r>
              <a:rPr lang="en-US" baseline="-25000" dirty="0"/>
              <a:t>1</a:t>
            </a:r>
            <a:r>
              <a:rPr lang="en-US" dirty="0"/>
              <a:t> + P1(G</a:t>
            </a:r>
            <a:r>
              <a:rPr lang="en-US" baseline="-25000" dirty="0"/>
              <a:t>0</a:t>
            </a:r>
            <a:r>
              <a:rPr lang="en-US" dirty="0"/>
              <a:t> + P</a:t>
            </a:r>
            <a:r>
              <a:rPr lang="en-US" baseline="-25000" dirty="0"/>
              <a:t>0</a:t>
            </a:r>
            <a:r>
              <a:rPr lang="en-US" dirty="0"/>
              <a:t>C</a:t>
            </a:r>
            <a:r>
              <a:rPr lang="en-US" baseline="-25000" dirty="0"/>
              <a:t>0</a:t>
            </a:r>
            <a:r>
              <a:rPr lang="en-US" dirty="0"/>
              <a:t>) </a:t>
            </a:r>
          </a:p>
          <a:p>
            <a:pPr marL="800100" lvl="2" indent="0">
              <a:buNone/>
            </a:pPr>
            <a:r>
              <a:rPr lang="en-US" b="1" dirty="0"/>
              <a:t>C</a:t>
            </a:r>
            <a:r>
              <a:rPr lang="en-US" b="1" baseline="-25000" dirty="0"/>
              <a:t>2</a:t>
            </a:r>
            <a:r>
              <a:rPr lang="en-US" b="1" dirty="0"/>
              <a:t> = G</a:t>
            </a:r>
            <a:r>
              <a:rPr lang="en-US" b="1" baseline="-25000" dirty="0"/>
              <a:t>1</a:t>
            </a:r>
            <a:r>
              <a:rPr lang="en-US" b="1" dirty="0"/>
              <a:t> + P</a:t>
            </a:r>
            <a:r>
              <a:rPr lang="en-US" b="1" baseline="-25000" dirty="0"/>
              <a:t>1</a:t>
            </a:r>
            <a:r>
              <a:rPr lang="en-US" b="1" dirty="0"/>
              <a:t>G</a:t>
            </a:r>
            <a:r>
              <a:rPr lang="en-US" b="1" baseline="-25000" dirty="0"/>
              <a:t>0</a:t>
            </a:r>
            <a:r>
              <a:rPr lang="en-US" b="1" dirty="0"/>
              <a:t> + P</a:t>
            </a:r>
            <a:r>
              <a:rPr lang="en-US" b="1" baseline="-25000" dirty="0"/>
              <a:t>1</a:t>
            </a:r>
            <a:r>
              <a:rPr lang="en-US" b="1" dirty="0"/>
              <a:t>P</a:t>
            </a:r>
            <a:r>
              <a:rPr lang="en-US" b="1" baseline="-25000" dirty="0"/>
              <a:t>0</a:t>
            </a:r>
            <a:r>
              <a:rPr lang="en-US" b="1" dirty="0"/>
              <a:t>C</a:t>
            </a:r>
            <a:r>
              <a:rPr lang="en-US" b="1" baseline="-25000" dirty="0"/>
              <a:t>0</a:t>
            </a:r>
          </a:p>
          <a:p>
            <a:pPr marL="800100" lvl="2" indent="0">
              <a:buNone/>
            </a:pPr>
            <a:r>
              <a:rPr lang="en-US" dirty="0"/>
              <a:t>C</a:t>
            </a:r>
            <a:r>
              <a:rPr lang="en-US" baseline="-25000" dirty="0"/>
              <a:t>3</a:t>
            </a:r>
            <a:r>
              <a:rPr lang="en-US" dirty="0"/>
              <a:t> = G</a:t>
            </a:r>
            <a:r>
              <a:rPr lang="en-US" baseline="-25000" dirty="0"/>
              <a:t>2</a:t>
            </a:r>
            <a:r>
              <a:rPr lang="en-US" dirty="0"/>
              <a:t> + P</a:t>
            </a:r>
            <a:r>
              <a:rPr lang="en-US" baseline="-25000" dirty="0"/>
              <a:t>2</a:t>
            </a:r>
            <a:r>
              <a:rPr lang="en-US" dirty="0"/>
              <a:t>C</a:t>
            </a:r>
            <a:r>
              <a:rPr lang="en-US" baseline="-25000" dirty="0"/>
              <a:t>2</a:t>
            </a:r>
            <a:r>
              <a:rPr lang="en-US" dirty="0"/>
              <a:t> </a:t>
            </a:r>
          </a:p>
          <a:p>
            <a:pPr marL="800100" lvl="2" indent="0">
              <a:buNone/>
            </a:pPr>
            <a:r>
              <a:rPr lang="en-US" b="1" dirty="0"/>
              <a:t>C</a:t>
            </a:r>
            <a:r>
              <a:rPr lang="en-US" b="1" baseline="-25000" dirty="0"/>
              <a:t>3</a:t>
            </a:r>
            <a:r>
              <a:rPr lang="en-US" b="1" dirty="0"/>
              <a:t> = G</a:t>
            </a:r>
            <a:r>
              <a:rPr lang="en-US" b="1" baseline="-25000" dirty="0"/>
              <a:t>2</a:t>
            </a:r>
            <a:r>
              <a:rPr lang="en-US" b="1" dirty="0"/>
              <a:t> + P</a:t>
            </a:r>
            <a:r>
              <a:rPr lang="en-US" b="1" baseline="-25000" dirty="0"/>
              <a:t>2</a:t>
            </a:r>
            <a:r>
              <a:rPr lang="en-US" b="1" dirty="0"/>
              <a:t>G</a:t>
            </a:r>
            <a:r>
              <a:rPr lang="en-US" b="1" baseline="-25000" dirty="0"/>
              <a:t>1</a:t>
            </a:r>
            <a:r>
              <a:rPr lang="en-US" b="1" dirty="0"/>
              <a:t> + P</a:t>
            </a:r>
            <a:r>
              <a:rPr lang="en-US" b="1" baseline="-25000" dirty="0"/>
              <a:t>2</a:t>
            </a:r>
            <a:r>
              <a:rPr lang="en-US" b="1" dirty="0"/>
              <a:t>P</a:t>
            </a:r>
            <a:r>
              <a:rPr lang="en-US" b="1" baseline="-25000" dirty="0"/>
              <a:t>1</a:t>
            </a:r>
            <a:r>
              <a:rPr lang="en-US" b="1" dirty="0"/>
              <a:t>G</a:t>
            </a:r>
            <a:r>
              <a:rPr lang="en-US" b="1" baseline="-25000" dirty="0"/>
              <a:t>0</a:t>
            </a:r>
            <a:r>
              <a:rPr lang="en-US" b="1" dirty="0"/>
              <a:t> + P</a:t>
            </a:r>
            <a:r>
              <a:rPr lang="en-US" b="1" baseline="-25000" dirty="0"/>
              <a:t>2</a:t>
            </a:r>
            <a:r>
              <a:rPr lang="en-US" b="1" dirty="0"/>
              <a:t>P</a:t>
            </a:r>
            <a:r>
              <a:rPr lang="en-US" b="1" baseline="-25000" dirty="0"/>
              <a:t>1</a:t>
            </a:r>
            <a:r>
              <a:rPr lang="en-US" b="1" dirty="0"/>
              <a:t>P</a:t>
            </a:r>
            <a:r>
              <a:rPr lang="en-US" b="1" baseline="-25000" dirty="0"/>
              <a:t>0</a:t>
            </a:r>
            <a:r>
              <a:rPr lang="en-US" b="1" dirty="0"/>
              <a:t>C</a:t>
            </a:r>
            <a:r>
              <a:rPr lang="en-US" b="1" baseline="-25000" dirty="0"/>
              <a:t>0</a:t>
            </a:r>
          </a:p>
          <a:p>
            <a:pPr marL="457200" indent="-457200"/>
            <a:r>
              <a:rPr lang="en-US" dirty="0"/>
              <a:t>Now a two level implementation of output carries is possible which is shown in next slide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10</a:t>
            </a:fld>
            <a:endParaRPr lang="en-US"/>
          </a:p>
        </p:txBody>
      </p:sp>
    </p:spTree>
    <p:extLst>
      <p:ext uri="{BB962C8B-B14F-4D97-AF65-F5344CB8AC3E}">
        <p14:creationId xmlns:p14="http://schemas.microsoft.com/office/powerpoint/2010/main" val="44555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1"/>
            <a:ext cx="8229600" cy="762000"/>
          </a:xfrm>
        </p:spPr>
        <p:txBody>
          <a:bodyPr>
            <a:normAutofit/>
          </a:bodyPr>
          <a:lstStyle/>
          <a:p>
            <a:r>
              <a:rPr lang="en-US" dirty="0"/>
              <a:t>Carry </a:t>
            </a:r>
            <a:r>
              <a:rPr lang="en-US" dirty="0" err="1"/>
              <a:t>Lookahead</a:t>
            </a:r>
            <a:r>
              <a:rPr lang="en-US" dirty="0"/>
              <a:t> Generator (3/4)</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11</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914400"/>
            <a:ext cx="561022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8461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Carry </a:t>
            </a:r>
            <a:r>
              <a:rPr lang="en-US" dirty="0" err="1"/>
              <a:t>Lookahead</a:t>
            </a:r>
            <a:r>
              <a:rPr lang="en-US" dirty="0"/>
              <a:t> Generator (4/4)</a:t>
            </a:r>
          </a:p>
        </p:txBody>
      </p:sp>
      <p:sp>
        <p:nvSpPr>
          <p:cNvPr id="3" name="Content Placeholder 2"/>
          <p:cNvSpPr>
            <a:spLocks noGrp="1"/>
          </p:cNvSpPr>
          <p:nvPr>
            <p:ph idx="1"/>
          </p:nvPr>
        </p:nvSpPr>
        <p:spPr/>
        <p:txBody>
          <a:bodyPr>
            <a:normAutofit fontScale="92500" lnSpcReduction="10000"/>
          </a:bodyPr>
          <a:lstStyle/>
          <a:p>
            <a:r>
              <a:rPr lang="en-US" dirty="0"/>
              <a:t>The circuit on previous slide can add in less time </a:t>
            </a:r>
          </a:p>
          <a:p>
            <a:r>
              <a:rPr lang="en-US" dirty="0"/>
              <a:t>Because C</a:t>
            </a:r>
            <a:r>
              <a:rPr lang="en-US" baseline="-25000" dirty="0"/>
              <a:t>3</a:t>
            </a:r>
            <a:r>
              <a:rPr lang="en-US" dirty="0"/>
              <a:t> does not have to wait for C</a:t>
            </a:r>
            <a:r>
              <a:rPr lang="en-US" baseline="-25000" dirty="0"/>
              <a:t>2</a:t>
            </a:r>
            <a:r>
              <a:rPr lang="en-US" dirty="0"/>
              <a:t> and C</a:t>
            </a:r>
            <a:r>
              <a:rPr lang="en-US" baseline="-25000" dirty="0"/>
              <a:t>1</a:t>
            </a:r>
            <a:r>
              <a:rPr lang="en-US" dirty="0"/>
              <a:t> to propagate</a:t>
            </a:r>
          </a:p>
          <a:p>
            <a:r>
              <a:rPr lang="en-US" dirty="0"/>
              <a:t>in fact, C</a:t>
            </a:r>
            <a:r>
              <a:rPr lang="en-US" baseline="-25000" dirty="0"/>
              <a:t>3 </a:t>
            </a:r>
            <a:r>
              <a:rPr lang="en-US" dirty="0"/>
              <a:t>is propagated at the same time as C</a:t>
            </a:r>
            <a:r>
              <a:rPr lang="en-US" baseline="-25000" dirty="0"/>
              <a:t>1</a:t>
            </a:r>
            <a:r>
              <a:rPr lang="en-US" dirty="0"/>
              <a:t> and C</a:t>
            </a:r>
            <a:r>
              <a:rPr lang="en-US" baseline="-25000" dirty="0"/>
              <a:t>2</a:t>
            </a:r>
            <a:r>
              <a:rPr lang="en-US" dirty="0"/>
              <a:t> </a:t>
            </a:r>
          </a:p>
          <a:p>
            <a:r>
              <a:rPr lang="en-US" dirty="0"/>
              <a:t>This gain in speed of operation is achieved at the expense of additional complexity (hardware)</a:t>
            </a:r>
          </a:p>
          <a:p>
            <a:r>
              <a:rPr lang="en-US" b="1" dirty="0"/>
              <a:t>All the carries are generated after a two level of gate delays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12</a:t>
            </a:fld>
            <a:endParaRPr lang="en-US"/>
          </a:p>
        </p:txBody>
      </p:sp>
    </p:spTree>
    <p:extLst>
      <p:ext uri="{BB962C8B-B14F-4D97-AF65-F5344CB8AC3E}">
        <p14:creationId xmlns:p14="http://schemas.microsoft.com/office/powerpoint/2010/main" val="268233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4238"/>
          </a:xfrm>
        </p:spPr>
        <p:txBody>
          <a:bodyPr>
            <a:noAutofit/>
          </a:bodyPr>
          <a:lstStyle/>
          <a:p>
            <a:r>
              <a:rPr lang="en-US" sz="3400" b="1" dirty="0"/>
              <a:t>4 bit Adder with Carry </a:t>
            </a:r>
            <a:r>
              <a:rPr lang="en-US" sz="3400" b="1" dirty="0" err="1"/>
              <a:t>Lookahead</a:t>
            </a:r>
            <a:r>
              <a:rPr lang="en-US" sz="3400" b="1" dirty="0"/>
              <a:t> Generator</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13</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847725"/>
            <a:ext cx="4953000"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6077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a:t>
            </a:r>
            <a:r>
              <a:rPr lang="en-US" dirty="0" err="1"/>
              <a:t>Subtractor</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subtraction of unsigned binary numbers can be done most conveniently by means of complements</a:t>
            </a:r>
          </a:p>
          <a:p>
            <a:r>
              <a:rPr lang="en-US" dirty="0"/>
              <a:t>The subtraction A – B can be done by taking the 2’s complement of B and adding it to A</a:t>
            </a:r>
          </a:p>
          <a:p>
            <a:r>
              <a:rPr lang="en-US" dirty="0"/>
              <a:t>The 2’s complement can be obtained by taking the 1’s complement and adding 1 to the least significant pair of bits</a:t>
            </a:r>
          </a:p>
          <a:p>
            <a:r>
              <a:rPr lang="en-US" dirty="0"/>
              <a:t>The 1’s complement can be implemented with inverters or XOR gate and a 1 can be added to the sum through the input carry</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14</a:t>
            </a:fld>
            <a:endParaRPr lang="en-US"/>
          </a:p>
        </p:txBody>
      </p:sp>
    </p:spTree>
    <p:extLst>
      <p:ext uri="{BB962C8B-B14F-4D97-AF65-F5344CB8AC3E}">
        <p14:creationId xmlns:p14="http://schemas.microsoft.com/office/powerpoint/2010/main" val="168817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 Bit Binary </a:t>
            </a:r>
            <a:r>
              <a:rPr lang="en-US" dirty="0" err="1"/>
              <a:t>Subtractor</a:t>
            </a:r>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15</a:t>
            </a:fld>
            <a:endParaRPr lang="en-US"/>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1333500"/>
            <a:ext cx="8543925"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0831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72689" y="3271925"/>
            <a:ext cx="5688917" cy="143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28D5ED68-160D-9846-2D38-1089FC20F007}"/>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spcAft>
                <a:spcPts val="600"/>
              </a:spcAft>
            </a:pPr>
            <a:r>
              <a:rPr lang="en-US">
                <a:solidFill>
                  <a:schemeClr val="tx1">
                    <a:lumMod val="50000"/>
                    <a:lumOff val="50000"/>
                  </a:schemeClr>
                </a:solidFill>
              </a:rPr>
              <a:t>EE227 - DLD</a:t>
            </a:r>
          </a:p>
        </p:txBody>
      </p:sp>
      <p:sp>
        <p:nvSpPr>
          <p:cNvPr id="5" name="Footer Placeholder 4">
            <a:extLst>
              <a:ext uri="{FF2B5EF4-FFF2-40B4-BE49-F238E27FC236}">
                <a16:creationId xmlns:a16="http://schemas.microsoft.com/office/drawing/2014/main" id="{54B64E00-339A-C965-EE3E-A7E75AE485BB}"/>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pPr>
            <a:r>
              <a:rPr lang="en-US" kern="1200" dirty="0">
                <a:solidFill>
                  <a:schemeClr val="tx1">
                    <a:lumMod val="50000"/>
                    <a:lumOff val="50000"/>
                  </a:schemeClr>
                </a:solidFill>
                <a:latin typeface="+mn-lt"/>
                <a:ea typeface="+mn-ea"/>
                <a:cs typeface="+mn-cs"/>
              </a:rPr>
              <a:t>Course Instructor Waqar Baig</a:t>
            </a:r>
          </a:p>
        </p:txBody>
      </p:sp>
      <p:sp>
        <p:nvSpPr>
          <p:cNvPr id="6" name="Slide Number Placeholder 5">
            <a:extLst>
              <a:ext uri="{FF2B5EF4-FFF2-40B4-BE49-F238E27FC236}">
                <a16:creationId xmlns:a16="http://schemas.microsoft.com/office/drawing/2014/main" id="{175F0174-B39A-DCBD-000A-C6ADBE813518}"/>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CBE6402E-3189-41C4-BB36-EE6F934C63A5}"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sp>
        <p:nvSpPr>
          <p:cNvPr id="10" name="Content Placeholder 9">
            <a:extLst>
              <a:ext uri="{FF2B5EF4-FFF2-40B4-BE49-F238E27FC236}">
                <a16:creationId xmlns:a16="http://schemas.microsoft.com/office/drawing/2014/main" id="{66EA500E-AF54-BA25-906C-136D889B2665}"/>
              </a:ext>
            </a:extLst>
          </p:cNvPr>
          <p:cNvSpPr>
            <a:spLocks noGrp="1"/>
          </p:cNvSpPr>
          <p:nvPr>
            <p:ph idx="1"/>
          </p:nvPr>
        </p:nvSpPr>
        <p:spPr/>
        <p:txBody>
          <a:bodyPr/>
          <a:lstStyle/>
          <a:p>
            <a:endParaRPr lang="en-PK"/>
          </a:p>
        </p:txBody>
      </p:sp>
      <p:pic>
        <p:nvPicPr>
          <p:cNvPr id="16" name="Picture 15">
            <a:extLst>
              <a:ext uri="{FF2B5EF4-FFF2-40B4-BE49-F238E27FC236}">
                <a16:creationId xmlns:a16="http://schemas.microsoft.com/office/drawing/2014/main" id="{182E18CB-420A-B02F-F49D-32D9E8CE1412}"/>
              </a:ext>
            </a:extLst>
          </p:cNvPr>
          <p:cNvPicPr>
            <a:picLocks noChangeAspect="1"/>
          </p:cNvPicPr>
          <p:nvPr/>
        </p:nvPicPr>
        <p:blipFill>
          <a:blip r:embed="rId2"/>
          <a:stretch>
            <a:fillRect/>
          </a:stretch>
        </p:blipFill>
        <p:spPr>
          <a:xfrm>
            <a:off x="150098" y="1265967"/>
            <a:ext cx="8851879" cy="4892675"/>
          </a:xfrm>
          <a:prstGeom prst="rect">
            <a:avLst/>
          </a:prstGeom>
        </p:spPr>
      </p:pic>
    </p:spTree>
    <p:extLst>
      <p:ext uri="{BB962C8B-B14F-4D97-AF65-F5344CB8AC3E}">
        <p14:creationId xmlns:p14="http://schemas.microsoft.com/office/powerpoint/2010/main" val="1968520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a:t>
            </a:r>
          </a:p>
        </p:txBody>
      </p:sp>
      <p:sp>
        <p:nvSpPr>
          <p:cNvPr id="3" name="Content Placeholder 2"/>
          <p:cNvSpPr>
            <a:spLocks noGrp="1"/>
          </p:cNvSpPr>
          <p:nvPr>
            <p:ph idx="1"/>
          </p:nvPr>
        </p:nvSpPr>
        <p:spPr/>
        <p:txBody>
          <a:bodyPr>
            <a:normAutofit fontScale="85000" lnSpcReduction="20000"/>
          </a:bodyPr>
          <a:lstStyle/>
          <a:p>
            <a:r>
              <a:rPr lang="en-US" dirty="0"/>
              <a:t>When two numbers with n digits each are added or subtracted and the result is a number occupying (n + 1) digits, we say that an overflow occurred</a:t>
            </a:r>
          </a:p>
          <a:p>
            <a:r>
              <a:rPr lang="en-US" dirty="0"/>
              <a:t>Detection of overflow is different for signed and unsigned numbers</a:t>
            </a:r>
          </a:p>
          <a:p>
            <a:r>
              <a:rPr lang="en-US" dirty="0"/>
              <a:t>For Unsigned Numbers</a:t>
            </a:r>
          </a:p>
          <a:p>
            <a:pPr lvl="1"/>
            <a:r>
              <a:rPr lang="en-US" dirty="0"/>
              <a:t>Overflow occurs</a:t>
            </a:r>
          </a:p>
          <a:p>
            <a:pPr lvl="2"/>
            <a:r>
              <a:rPr lang="en-US" dirty="0"/>
              <a:t>If there is an end carry out of most significant bit</a:t>
            </a:r>
          </a:p>
          <a:p>
            <a:r>
              <a:rPr lang="en-US" dirty="0"/>
              <a:t>For Signed Numbers</a:t>
            </a:r>
          </a:p>
          <a:p>
            <a:pPr lvl="1"/>
            <a:r>
              <a:rPr lang="en-US" dirty="0"/>
              <a:t>Overflow occurs</a:t>
            </a:r>
          </a:p>
          <a:p>
            <a:pPr lvl="2"/>
            <a:r>
              <a:rPr lang="en-US" dirty="0"/>
              <a:t>If two positive numbers are added and result is negative</a:t>
            </a:r>
          </a:p>
          <a:p>
            <a:pPr lvl="2"/>
            <a:r>
              <a:rPr lang="en-US" dirty="0"/>
              <a:t>If two negative numbers are added and result is positive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17</a:t>
            </a:fld>
            <a:endParaRPr lang="en-US"/>
          </a:p>
        </p:txBody>
      </p:sp>
    </p:spTree>
    <p:extLst>
      <p:ext uri="{BB962C8B-B14F-4D97-AF65-F5344CB8AC3E}">
        <p14:creationId xmlns:p14="http://schemas.microsoft.com/office/powerpoint/2010/main" val="298314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Overflow Examples</a:t>
            </a:r>
          </a:p>
        </p:txBody>
      </p:sp>
      <p:sp>
        <p:nvSpPr>
          <p:cNvPr id="3" name="Content Placeholder 2"/>
          <p:cNvSpPr>
            <a:spLocks noGrp="1"/>
          </p:cNvSpPr>
          <p:nvPr>
            <p:ph idx="1"/>
          </p:nvPr>
        </p:nvSpPr>
        <p:spPr>
          <a:xfrm>
            <a:off x="457200" y="1447800"/>
            <a:ext cx="8229600" cy="4876800"/>
          </a:xfrm>
        </p:spPr>
        <p:txBody>
          <a:bodyPr>
            <a:normAutofit fontScale="70000" lnSpcReduction="20000"/>
          </a:bodyPr>
          <a:lstStyle/>
          <a:p>
            <a:r>
              <a:rPr lang="en-US" dirty="0"/>
              <a:t>When two 8 bit unsigned numbers A = 144 and B = 112 are added:</a:t>
            </a:r>
          </a:p>
          <a:p>
            <a:pPr lvl="1"/>
            <a:r>
              <a:rPr lang="en-US" dirty="0"/>
              <a:t>The result will be 256, which cannot fit in an 8 bit register, so there will be an overflow</a:t>
            </a:r>
          </a:p>
          <a:p>
            <a:r>
              <a:rPr lang="en-US" dirty="0"/>
              <a:t>When two 8 bit signed numbers +70 and +80 are added:</a:t>
            </a:r>
          </a:p>
          <a:p>
            <a:pPr lvl="1"/>
            <a:r>
              <a:rPr lang="en-US" dirty="0"/>
              <a:t>The result is +150 which will not fit in an 8 bit register, so there will be an overflow</a:t>
            </a:r>
          </a:p>
          <a:p>
            <a:r>
              <a:rPr lang="en-US" dirty="0"/>
              <a:t>When two 8 bit signed numbers -70 and +80 are subtracted:</a:t>
            </a:r>
          </a:p>
          <a:p>
            <a:pPr lvl="1"/>
            <a:r>
              <a:rPr lang="en-US" dirty="0"/>
              <a:t>The result is -150 which will not fit in an 8 bit register, so there will be an overflow</a:t>
            </a:r>
          </a:p>
          <a:p>
            <a:r>
              <a:rPr lang="en-US" dirty="0">
                <a:solidFill>
                  <a:srgbClr val="FF0000"/>
                </a:solidFill>
              </a:rPr>
              <a:t>An overflow condition in signed numbers can be detected by observing the carry into the sign bit position and the carry out of the sign bit position. If these two carries are not equal, an overflow has occurred</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18</a:t>
            </a:fld>
            <a:endParaRPr lang="en-US"/>
          </a:p>
        </p:txBody>
      </p:sp>
    </p:spTree>
    <p:extLst>
      <p:ext uri="{BB962C8B-B14F-4D97-AF65-F5344CB8AC3E}">
        <p14:creationId xmlns:p14="http://schemas.microsoft.com/office/powerpoint/2010/main" val="169156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Bit Binary Adder/</a:t>
            </a:r>
            <a:r>
              <a:rPr lang="en-US" dirty="0" err="1"/>
              <a:t>Subtractor</a:t>
            </a:r>
            <a:r>
              <a:rPr lang="en-US" dirty="0"/>
              <a:t> with Overflow Detection</a:t>
            </a:r>
          </a:p>
        </p:txBody>
      </p:sp>
      <p:sp>
        <p:nvSpPr>
          <p:cNvPr id="3" name="Content Placeholder 2"/>
          <p:cNvSpPr>
            <a:spLocks noGrp="1"/>
          </p:cNvSpPr>
          <p:nvPr>
            <p:ph idx="1"/>
          </p:nvPr>
        </p:nvSpPr>
        <p:spPr>
          <a:xfrm>
            <a:off x="457200" y="1447800"/>
            <a:ext cx="8229600" cy="1752599"/>
          </a:xfrm>
        </p:spPr>
        <p:txBody>
          <a:bodyPr>
            <a:normAutofit fontScale="70000" lnSpcReduction="20000"/>
          </a:bodyPr>
          <a:lstStyle/>
          <a:p>
            <a:r>
              <a:rPr lang="en-US" dirty="0"/>
              <a:t>If M is 1, the circuit will act as a </a:t>
            </a:r>
            <a:r>
              <a:rPr lang="en-US" dirty="0" err="1"/>
              <a:t>subtractor</a:t>
            </a:r>
            <a:endParaRPr lang="en-US" dirty="0"/>
          </a:p>
          <a:p>
            <a:r>
              <a:rPr lang="en-US" dirty="0"/>
              <a:t>If M is 0, the circuit will act as an adder</a:t>
            </a:r>
          </a:p>
          <a:p>
            <a:r>
              <a:rPr lang="en-US" dirty="0"/>
              <a:t>C and V are used for detecting the overflow</a:t>
            </a:r>
          </a:p>
          <a:p>
            <a:pPr lvl="1"/>
            <a:r>
              <a:rPr lang="en-US" dirty="0"/>
              <a:t>For unsigned numbers if C = 1, it indicates an overflow</a:t>
            </a:r>
          </a:p>
          <a:p>
            <a:pPr lvl="1"/>
            <a:r>
              <a:rPr lang="en-US" dirty="0"/>
              <a:t>For signed numbers is V = 1, it indicates an overflow</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19</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675" y="3200400"/>
            <a:ext cx="722352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69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11216</TotalTime>
  <Words>1326</Words>
  <Application>Microsoft Office PowerPoint</Application>
  <PresentationFormat>On-screen Show (4:3)</PresentationFormat>
  <Paragraphs>165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EE227 – Digital Logic Design</vt:lpstr>
      <vt:lpstr>Outline</vt:lpstr>
      <vt:lpstr>Binary Adder</vt:lpstr>
      <vt:lpstr>4 – Bit Binary Adder</vt:lpstr>
      <vt:lpstr>4 – Bit Binary Ripple Carry Adder</vt:lpstr>
      <vt:lpstr>Carry Propagation (1/3)</vt:lpstr>
      <vt:lpstr>Carry Propagation (2/3)</vt:lpstr>
      <vt:lpstr>Carry Propagation (3/3)</vt:lpstr>
      <vt:lpstr>Carry Lookahead Generator (1/4)</vt:lpstr>
      <vt:lpstr>Carry Lookahead Generator (2/4)</vt:lpstr>
      <vt:lpstr>Carry Lookahead Generator (3/4)</vt:lpstr>
      <vt:lpstr>Carry Lookahead Generator (4/4)</vt:lpstr>
      <vt:lpstr>4 bit Adder with Carry Lookahead Generator</vt:lpstr>
      <vt:lpstr>Binary Subtractor</vt:lpstr>
      <vt:lpstr>4 – Bit Binary Subtractor</vt:lpstr>
      <vt:lpstr>PowerPoint Presentation</vt:lpstr>
      <vt:lpstr>Overflow</vt:lpstr>
      <vt:lpstr>Overflow Examples</vt:lpstr>
      <vt:lpstr>4 – Bit Binary Adder/Subtractor with Overflow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EE227 – Digital Logic Design</dc:title>
  <dc:creator>sAjid</dc:creator>
  <cp:lastModifiedBy>l250681 Muhammad Zaid Mehmood</cp:lastModifiedBy>
  <cp:revision>236</cp:revision>
  <dcterms:created xsi:type="dcterms:W3CDTF">2018-01-21T13:37:44Z</dcterms:created>
  <dcterms:modified xsi:type="dcterms:W3CDTF">2026-03-05T16:54:40Z</dcterms:modified>
</cp:coreProperties>
</file>